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chart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2050000"/>
            <a:ext cx="46000" cy="156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1000000" y="2000000"/>
            <a:ext cx="100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5600" b="1" dirty="0">
                <a:solidFill>
                  <a:srgbClr val="F2EFE9"/>
                </a:solidFill>
                <a:latin typeface="Trebuchet MS"/>
              </a:rPr>
              <a:t>NodeCoin</a:t>
            </a:r>
          </a:p>
        </p:txBody>
      </p:sp>
      <p:sp>
        <p:nvSpPr>
          <p:cNvPr id="4" name="tb4"/>
          <p:cNvSpPr txBox="1"/>
          <p:nvPr/>
        </p:nvSpPr>
        <p:spPr>
          <a:xfrm>
            <a:off x="1000000" y="2850000"/>
            <a:ext cx="100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800" b="1" dirty="0">
                <a:solidFill>
                  <a:srgbClr val="D9A441"/>
                </a:solidFill>
                <a:latin typeface="Trebuchet MS"/>
              </a:rPr>
              <a:t>SQLite</a:t>
            </a:r>
            <a:r>
              <a:rPr lang="it-IT" sz="2800" b="0" dirty="0">
                <a:solidFill>
                  <a:srgbClr val="6E6862"/>
                </a:solidFill>
                <a:latin typeface="Trebuchet MS"/>
              </a:rPr>
              <a:t>  vs  </a:t>
            </a:r>
            <a:r>
              <a:rPr lang="it-IT" sz="28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000000" y="3600000"/>
            <a:ext cx="1000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0" dirty="0">
                <a:solidFill>
                  <a:srgbClr val="A8A29A"/>
                </a:solidFill>
                <a:latin typeface="Trebuchet MS"/>
              </a:rPr>
              <a:t>Comparing a relational and a graph database</a:t>
            </a:r>
          </a:p>
        </p:txBody>
      </p:sp>
      <p:sp>
        <p:nvSpPr>
          <p:cNvPr id="6" name="tb6"/>
          <p:cNvSpPr txBox="1"/>
          <p:nvPr/>
        </p:nvSpPr>
        <p:spPr>
          <a:xfrm>
            <a:off x="1000000" y="402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0" dirty="0">
                <a:solidFill>
                  <a:srgbClr val="A8A29A"/>
                </a:solidFill>
                <a:latin typeface="Trebuchet MS"/>
              </a:rPr>
              <a:t>on real Bitcoin blockchain data</a:t>
            </a:r>
          </a:p>
        </p:txBody>
      </p:sp>
      <p:sp>
        <p:nvSpPr>
          <p:cNvPr id="7" name="rc7"/>
          <p:cNvSpPr/>
          <p:nvPr/>
        </p:nvSpPr>
        <p:spPr>
          <a:xfrm>
            <a:off x="1000000" y="4750000"/>
            <a:ext cx="3200000" cy="8000"/>
          </a:xfrm>
          <a:prstGeom prst="roundRect">
            <a:avLst>
              <a:gd name="adj" fmla="val 6000"/>
            </a:avLst>
          </a:prstGeom>
          <a:solidFill>
            <a:srgbClr val="34302B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1000000" y="495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500" b="1" dirty="0">
                <a:solidFill>
                  <a:srgbClr val="F2EFE9"/>
                </a:solidFill>
                <a:latin typeface="Trebuchet MS"/>
              </a:rPr>
              <a:t>Damiano Spadaccini</a:t>
            </a:r>
          </a:p>
        </p:txBody>
      </p:sp>
      <p:sp>
        <p:nvSpPr>
          <p:cNvPr id="9" name="tb9"/>
          <p:cNvSpPr txBox="1"/>
          <p:nvPr/>
        </p:nvSpPr>
        <p:spPr>
          <a:xfrm>
            <a:off x="1000000" y="533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1986173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1000000" y="582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6E6862"/>
                </a:solidFill>
                <a:latin typeface="Trebuchet MS"/>
              </a:rPr>
              <a:t>Data Management 2025/2026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OVERVIEW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this project is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2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80000"/>
            <a:ext cx="1080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750" b="1" dirty="0">
                <a:solidFill>
                  <a:srgbClr val="F2EFE9"/>
                </a:solidFill>
                <a:latin typeface="Trebuchet MS"/>
              </a:rPr>
              <a:t>Which queries, and at what scale, does a graph database handle better than a relational one?</a:t>
            </a:r>
          </a:p>
        </p:txBody>
      </p:sp>
      <p:sp>
        <p:nvSpPr>
          <p:cNvPr id="11" name="rc11"/>
          <p:cNvSpPr/>
          <p:nvPr/>
        </p:nvSpPr>
        <p:spPr>
          <a:xfrm>
            <a:off x="70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86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01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6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One dataset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86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977 real Bitcoin blocks, parsed once and loaded into both</a:t>
            </a:r>
          </a:p>
        </p:txBody>
      </p:sp>
      <p:sp>
        <p:nvSpPr>
          <p:cNvPr id="15" name="rc15"/>
          <p:cNvSpPr/>
          <p:nvPr/>
        </p:nvSpPr>
        <p:spPr>
          <a:xfrm>
            <a:off x="345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361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02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61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Two models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361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The same domain as 7 tables and as a graph of nodes and edges</a:t>
            </a:r>
          </a:p>
        </p:txBody>
      </p:sp>
      <p:sp>
        <p:nvSpPr>
          <p:cNvPr id="19" name="rc19"/>
          <p:cNvSpPr/>
          <p:nvPr/>
        </p:nvSpPr>
        <p:spPr>
          <a:xfrm>
            <a:off x="620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636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4FB59C"/>
                </a:solidFill>
                <a:latin typeface="Trebuchet MS"/>
              </a:rPr>
              <a:t>03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636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Eight queries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636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Written twice, in SQL and in Cypher, same numbering</a:t>
            </a:r>
          </a:p>
        </p:txBody>
      </p:sp>
      <p:sp>
        <p:nvSpPr>
          <p:cNvPr id="23" name="rc23"/>
          <p:cNvSpPr/>
          <p:nvPr/>
        </p:nvSpPr>
        <p:spPr>
          <a:xfrm>
            <a:off x="895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911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4FB59C"/>
                </a:solidFill>
                <a:latin typeface="Trebuchet MS"/>
              </a:rPr>
              <a:t>04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11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One protocol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911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Same measurement rules for both, over four dataset sizes</a:t>
            </a:r>
          </a:p>
        </p:txBody>
      </p:sp>
      <p:sp>
        <p:nvSpPr>
          <p:cNvPr id="30" name="rc30"/>
          <p:cNvSpPr/>
          <p:nvPr/>
        </p:nvSpPr>
        <p:spPr>
          <a:xfrm>
            <a:off x="700000" y="448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4FB59C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950000" y="4640000"/>
            <a:ext cx="103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6E6862"/>
                </a:solidFill>
                <a:latin typeface="Trebuchet MS"/>
              </a:rPr>
              <a:t>What I found: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neither model wins everywhere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 Neo4j leads on the broad aggregations, SQLite on the most local query, and one query breaks on both.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PIPELINE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How the data gets there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3</a:t>
            </a:r>
          </a:p>
        </p:txBody>
      </p:sp>
      <p:sp>
        <p:nvSpPr>
          <p:cNvPr id="10" name="sr10"/>
          <p:cNvSpPr/>
          <p:nvPr/>
        </p:nvSpPr>
        <p:spPr>
          <a:xfrm>
            <a:off x="70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76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1  PARSE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76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.blk binary
to JSONL</a:t>
            </a:r>
          </a:p>
        </p:txBody>
      </p:sp>
      <p:cxnSp>
        <p:nvCxnSpPr>
          <p:cNvPr id="13" name="ar13"/>
          <p:cNvCxnSpPr/>
          <p:nvPr/>
        </p:nvCxnSpPr>
        <p:spPr>
          <a:xfrm>
            <a:off x="253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14" name="sr14"/>
          <p:cNvSpPr/>
          <p:nvPr/>
        </p:nvSpPr>
        <p:spPr>
          <a:xfrm>
            <a:off x="285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291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2  LOAD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91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one file,
two loaders</a:t>
            </a:r>
          </a:p>
        </p:txBody>
      </p:sp>
      <p:cxnSp>
        <p:nvCxnSpPr>
          <p:cNvPr id="17" name="ar17"/>
          <p:cNvCxnSpPr/>
          <p:nvPr/>
        </p:nvCxnSpPr>
        <p:spPr>
          <a:xfrm>
            <a:off x="468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18" name="sr18"/>
          <p:cNvSpPr/>
          <p:nvPr/>
        </p:nvSpPr>
        <p:spPr>
          <a:xfrm>
            <a:off x="500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506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E9BA8"/>
                </a:solidFill>
                <a:latin typeface="Trebuchet MS"/>
              </a:rPr>
              <a:t>3  CHECK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506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16 metrics
must match</a:t>
            </a:r>
          </a:p>
        </p:txBody>
      </p:sp>
      <p:cxnSp>
        <p:nvCxnSpPr>
          <p:cNvPr id="21" name="ar21"/>
          <p:cNvCxnSpPr/>
          <p:nvPr/>
        </p:nvCxnSpPr>
        <p:spPr>
          <a:xfrm>
            <a:off x="683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22" name="sr22"/>
          <p:cNvSpPr/>
          <p:nvPr/>
        </p:nvSpPr>
        <p:spPr>
          <a:xfrm>
            <a:off x="715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23" name="tb23"/>
          <p:cNvSpPr txBox="1"/>
          <p:nvPr/>
        </p:nvSpPr>
        <p:spPr>
          <a:xfrm>
            <a:off x="721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4  CLUSTER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21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addresses
into wallets</a:t>
            </a:r>
          </a:p>
        </p:txBody>
      </p:sp>
      <p:cxnSp>
        <p:nvCxnSpPr>
          <p:cNvPr id="25" name="ar25"/>
          <p:cNvCxnSpPr/>
          <p:nvPr/>
        </p:nvCxnSpPr>
        <p:spPr>
          <a:xfrm>
            <a:off x="898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26" name="sr26"/>
          <p:cNvSpPr/>
          <p:nvPr/>
        </p:nvSpPr>
        <p:spPr>
          <a:xfrm>
            <a:off x="9300000" y="1800000"/>
            <a:ext cx="220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9360000" y="1900000"/>
            <a:ext cx="208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5  MEASURE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360000" y="2190000"/>
            <a:ext cx="208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8 queries,
both engines</a:t>
            </a:r>
          </a:p>
        </p:txBody>
      </p:sp>
      <p:sp>
        <p:nvSpPr>
          <p:cNvPr id="40" name="bl40"/>
          <p:cNvSpPr txBox="1"/>
          <p:nvPr/>
        </p:nvSpPr>
        <p:spPr>
          <a:xfrm>
            <a:off x="700000" y="2950000"/>
            <a:ext cx="6400000" cy="2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Parse.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A Go parser reads the native binary blocks and streams JSON lines.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Load.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same JSONL file feeds both loaders, so any difference later comes from the model and not from the input.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8E9BA8"/>
                </a:solidFill>
                <a:latin typeface="Trebuchet MS"/>
              </a:rPr>
              <a:t>Check.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Before trusting any timing, 16 counts and aggregates have to match on both sides.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Cluster.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Addresses are grouped into wallets. This step is what makes Q7 possible at all.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Measure.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8 queries run on both engines under the same rules.</a:t>
            </a:r>
          </a:p>
        </p:txBody>
      </p:sp>
      <p:sp>
        <p:nvSpPr>
          <p:cNvPr id="50" name="rc50"/>
          <p:cNvSpPr/>
          <p:nvPr/>
        </p:nvSpPr>
        <p:spPr>
          <a:xfrm>
            <a:off x="7350000" y="2950000"/>
            <a:ext cx="4150000" cy="220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51" name="tb51"/>
          <p:cNvSpPr txBox="1"/>
          <p:nvPr/>
        </p:nvSpPr>
        <p:spPr>
          <a:xfrm>
            <a:off x="7600000" y="3100000"/>
            <a:ext cx="36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THE DATASET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600000" y="3440000"/>
            <a:ext cx="365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F2EFE9"/>
                </a:solidFill>
                <a:latin typeface="Trebuchet MS"/>
              </a:rPr>
              <a:t>977 real Bitcoin blocks</a:t>
            </a:r>
          </a:p>
        </p:txBody>
      </p:sp>
      <p:sp>
        <p:nvSpPr>
          <p:cNvPr id="53" name="bl53"/>
          <p:cNvSpPr txBox="1"/>
          <p:nvPr/>
        </p:nvSpPr>
        <p:spPr>
          <a:xfrm>
            <a:off x="7600000" y="3930000"/>
            <a:ext cx="3650000" cy="115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13 to 20 May 2026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4,310,870 transactions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9,893,313 outputs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2,552,839 addresses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00000" y="535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F2EFE9"/>
                </a:solidFill>
                <a:latin typeface="Trebuchet MS"/>
              </a:rPr>
              <a:t>Fee, spent status and orphan blocks are never stored.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Both models compute them at query time, so the comparison is about the queries themselves.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MODELLING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Same domain, two grammars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4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560000"/>
            <a:ext cx="51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D9A441"/>
                </a:solidFill>
                <a:latin typeface="Trebuchet MS"/>
              </a:rPr>
              <a:t>SQLite, 7 tables</a:t>
            </a:r>
          </a:p>
        </p:txBody>
      </p:sp>
      <p:sp>
        <p:nvSpPr>
          <p:cNvPr id="11" name="sr11"/>
          <p:cNvSpPr/>
          <p:nvPr/>
        </p:nvSpPr>
        <p:spPr>
          <a:xfrm>
            <a:off x="70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76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blocks</a:t>
            </a:r>
          </a:p>
        </p:txBody>
      </p:sp>
      <p:sp>
        <p:nvSpPr>
          <p:cNvPr id="13" name="sr13"/>
          <p:cNvSpPr/>
          <p:nvPr/>
        </p:nvSpPr>
        <p:spPr>
          <a:xfrm>
            <a:off x="700000" y="2150000"/>
            <a:ext cx="1680000" cy="6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760000" y="218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hash       PK
prev_hash
timestamp</a:t>
            </a:r>
          </a:p>
        </p:txBody>
      </p:sp>
      <p:sp>
        <p:nvSpPr>
          <p:cNvPr id="15" name="sr15"/>
          <p:cNvSpPr/>
          <p:nvPr/>
        </p:nvSpPr>
        <p:spPr>
          <a:xfrm>
            <a:off x="700000" y="283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760000" y="28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addresses</a:t>
            </a:r>
          </a:p>
        </p:txBody>
      </p:sp>
      <p:sp>
        <p:nvSpPr>
          <p:cNvPr id="17" name="sr17"/>
          <p:cNvSpPr/>
          <p:nvPr/>
        </p:nvSpPr>
        <p:spPr>
          <a:xfrm>
            <a:off x="700000" y="3080000"/>
            <a:ext cx="1680000" cy="27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8" name="tb18"/>
          <p:cNvSpPr txBox="1"/>
          <p:nvPr/>
        </p:nvSpPr>
        <p:spPr>
          <a:xfrm>
            <a:off x="760000" y="3110000"/>
            <a:ext cx="156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address    PK</a:t>
            </a:r>
          </a:p>
        </p:txBody>
      </p:sp>
      <p:sp>
        <p:nvSpPr>
          <p:cNvPr id="19" name="sr19"/>
          <p:cNvSpPr/>
          <p:nvPr/>
        </p:nvSpPr>
        <p:spPr>
          <a:xfrm>
            <a:off x="700000" y="3430000"/>
            <a:ext cx="1680000" cy="250000"/>
          </a:xfrm>
          <a:prstGeom prst="rect">
            <a:avLst/>
          </a:prstGeom>
          <a:solidFill>
            <a:srgbClr val="8E9BA8">
              <a:alpha val="22000"/>
            </a:srgbClr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760000" y="34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Consolas"/>
              </a:rPr>
              <a:t>price_history</a:t>
            </a:r>
          </a:p>
        </p:txBody>
      </p:sp>
      <p:sp>
        <p:nvSpPr>
          <p:cNvPr id="21" name="sr21"/>
          <p:cNvSpPr/>
          <p:nvPr/>
        </p:nvSpPr>
        <p:spPr>
          <a:xfrm>
            <a:off x="700000" y="3680000"/>
            <a:ext cx="1680000" cy="4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760000" y="3710000"/>
            <a:ext cx="1560000" cy="4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date_unix  PK
price_usd</a:t>
            </a:r>
          </a:p>
        </p:txBody>
      </p:sp>
      <p:sp>
        <p:nvSpPr>
          <p:cNvPr id="23" name="sr23"/>
          <p:cNvSpPr/>
          <p:nvPr/>
        </p:nvSpPr>
        <p:spPr>
          <a:xfrm>
            <a:off x="245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251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transactions</a:t>
            </a:r>
          </a:p>
        </p:txBody>
      </p:sp>
      <p:sp>
        <p:nvSpPr>
          <p:cNvPr id="25" name="sr25"/>
          <p:cNvSpPr/>
          <p:nvPr/>
        </p:nvSpPr>
        <p:spPr>
          <a:xfrm>
            <a:off x="2450000" y="2150000"/>
            <a:ext cx="1680000" cy="6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2510000" y="218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block_hash FK
size</a:t>
            </a:r>
          </a:p>
        </p:txBody>
      </p:sp>
      <p:sp>
        <p:nvSpPr>
          <p:cNvPr id="27" name="sr27"/>
          <p:cNvSpPr/>
          <p:nvPr/>
        </p:nvSpPr>
        <p:spPr>
          <a:xfrm>
            <a:off x="2450000" y="283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2510000" y="28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tx_outputs</a:t>
            </a:r>
          </a:p>
        </p:txBody>
      </p:sp>
      <p:sp>
        <p:nvSpPr>
          <p:cNvPr id="29" name="sr29"/>
          <p:cNvSpPr/>
          <p:nvPr/>
        </p:nvSpPr>
        <p:spPr>
          <a:xfrm>
            <a:off x="2450000" y="3080000"/>
            <a:ext cx="1680000" cy="7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510000" y="311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output_idx PK
address    FK
value</a:t>
            </a:r>
          </a:p>
        </p:txBody>
      </p:sp>
      <p:sp>
        <p:nvSpPr>
          <p:cNvPr id="31" name="sr31"/>
          <p:cNvSpPr/>
          <p:nvPr/>
        </p:nvSpPr>
        <p:spPr>
          <a:xfrm>
            <a:off x="420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32" name="tb32"/>
          <p:cNvSpPr txBox="1"/>
          <p:nvPr/>
        </p:nvSpPr>
        <p:spPr>
          <a:xfrm>
            <a:off x="426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tx_inputs</a:t>
            </a:r>
          </a:p>
        </p:txBody>
      </p:sp>
      <p:sp>
        <p:nvSpPr>
          <p:cNvPr id="33" name="sr33"/>
          <p:cNvSpPr/>
          <p:nvPr/>
        </p:nvSpPr>
        <p:spPr>
          <a:xfrm>
            <a:off x="4200000" y="2150000"/>
            <a:ext cx="1680000" cy="7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260000" y="218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input_idx  PK
prev_txid
prev_out_idx</a:t>
            </a:r>
          </a:p>
        </p:txBody>
      </p:sp>
      <p:sp>
        <p:nvSpPr>
          <p:cNvPr id="35" name="sr35"/>
          <p:cNvSpPr/>
          <p:nvPr/>
        </p:nvSpPr>
        <p:spPr>
          <a:xfrm>
            <a:off x="4200000" y="3060000"/>
            <a:ext cx="1680000" cy="250000"/>
          </a:xfrm>
          <a:prstGeom prst="rect">
            <a:avLst/>
          </a:prstGeom>
          <a:solidFill>
            <a:srgbClr val="8E9BA8">
              <a:alpha val="22000"/>
            </a:srgbClr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36" name="tb36"/>
          <p:cNvSpPr txBox="1"/>
          <p:nvPr/>
        </p:nvSpPr>
        <p:spPr>
          <a:xfrm>
            <a:off x="4260000" y="308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750" b="1" dirty="0">
                <a:solidFill>
                  <a:srgbClr val="8E9BA8"/>
                </a:solidFill>
                <a:latin typeface="Consolas"/>
              </a:rPr>
              <a:t>address_clusters</a:t>
            </a:r>
          </a:p>
        </p:txBody>
      </p:sp>
      <p:sp>
        <p:nvSpPr>
          <p:cNvPr id="37" name="sr37"/>
          <p:cNvSpPr/>
          <p:nvPr/>
        </p:nvSpPr>
        <p:spPr>
          <a:xfrm>
            <a:off x="4200000" y="3310000"/>
            <a:ext cx="1680000" cy="4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8" name="tb38"/>
          <p:cNvSpPr txBox="1"/>
          <p:nvPr/>
        </p:nvSpPr>
        <p:spPr>
          <a:xfrm>
            <a:off x="4260000" y="3340000"/>
            <a:ext cx="1560000" cy="4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address    PK
cluster_id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700000" y="4250000"/>
            <a:ext cx="518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PK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 primary key, </a:t>
            </a: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FK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 foreign key. </a:t>
            </a:r>
            <a:r>
              <a:rPr lang="it-IT" sz="1050" b="1" dirty="0">
                <a:solidFill>
                  <a:srgbClr val="F2EFE9"/>
                </a:solidFill>
                <a:latin typeface="Trebuchet MS"/>
              </a:rPr>
              <a:t>prev_txid has no FK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: coinbase inputs have no predecessor.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00000" y="4620000"/>
            <a:ext cx="518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Relationships are foreign keys: </a:t>
            </a:r>
            <a:r>
              <a:rPr lang="it-IT" sz="1100" b="1" dirty="0">
                <a:solidFill>
                  <a:srgbClr val="F2EFE9"/>
                </a:solidFill>
                <a:latin typeface="Trebuchet MS"/>
              </a:rPr>
              <a:t>a JOIN rebuilds them at every query</a:t>
            </a: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.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6400000" y="1600000"/>
            <a:ext cx="5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4FB59C"/>
                </a:solidFill>
                <a:latin typeface="Trebuchet MS"/>
              </a:rPr>
              <a:t>Neo4j, 6 node types and 7 relationships</a:t>
            </a:r>
          </a:p>
        </p:txBody>
      </p:sp>
      <p:sp>
        <p:nvSpPr>
          <p:cNvPr id="51" name="el51"/>
          <p:cNvSpPr/>
          <p:nvPr/>
        </p:nvSpPr>
        <p:spPr>
          <a:xfrm>
            <a:off x="6400000" y="1960000"/>
            <a:ext cx="980000" cy="500000"/>
          </a:xfrm>
          <a:prstGeom prst="ellipse">
            <a:avLst/>
          </a:prstGeom>
          <a:solidFill>
            <a:srgbClr val="6E6862">
              <a:alpha val="18000"/>
            </a:srgbClr>
          </a:solidFill>
          <a:ln w="12700">
            <a:solidFill>
              <a:srgbClr val="6E6862"/>
            </a:solidFill>
          </a:ln>
        </p:spPr>
        <p:txBody>
          <a:bodyPr/>
          <a:lstStyle/>
          <a:p/>
        </p:txBody>
      </p:sp>
      <p:sp>
        <p:nvSpPr>
          <p:cNvPr id="52" name="tb52"/>
          <p:cNvSpPr txBox="1"/>
          <p:nvPr/>
        </p:nvSpPr>
        <p:spPr>
          <a:xfrm>
            <a:off x="6400000" y="211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A8A29A"/>
                </a:solidFill>
                <a:latin typeface="Trebuchet MS"/>
              </a:rPr>
              <a:t>Block</a:t>
            </a:r>
          </a:p>
        </p:txBody>
      </p:sp>
      <p:cxnSp>
        <p:nvCxnSpPr>
          <p:cNvPr id="53" name="ar53"/>
          <p:cNvCxnSpPr/>
          <p:nvPr/>
        </p:nvCxnSpPr>
        <p:spPr>
          <a:xfrm>
            <a:off x="7420000" y="2210000"/>
            <a:ext cx="480000" cy="0"/>
          </a:xfrm>
          <a:prstGeom prst="straightConnector1">
            <a:avLst/>
          </a:prstGeom>
          <a:ln w="12700">
            <a:solidFill>
              <a:srgbClr val="6E6862"/>
            </a:solidFill>
            <a:tailEnd type="triangle" w="med" len="med"/>
          </a:ln>
        </p:spPr>
      </p:cxnSp>
      <p:sp>
        <p:nvSpPr>
          <p:cNvPr id="54" name="tb54"/>
          <p:cNvSpPr txBox="1"/>
          <p:nvPr/>
        </p:nvSpPr>
        <p:spPr>
          <a:xfrm>
            <a:off x="7280000" y="1960000"/>
            <a:ext cx="8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PREV_BLOCK</a:t>
            </a:r>
          </a:p>
        </p:txBody>
      </p:sp>
      <p:sp>
        <p:nvSpPr>
          <p:cNvPr id="55" name="el55"/>
          <p:cNvSpPr/>
          <p:nvPr/>
        </p:nvSpPr>
        <p:spPr>
          <a:xfrm>
            <a:off x="7940000" y="1960000"/>
            <a:ext cx="980000" cy="500000"/>
          </a:xfrm>
          <a:prstGeom prst="ellipse">
            <a:avLst/>
          </a:prstGeom>
          <a:solidFill>
            <a:srgbClr val="6E6862">
              <a:alpha val="18000"/>
            </a:srgbClr>
          </a:solidFill>
          <a:ln w="12700">
            <a:solidFill>
              <a:srgbClr val="6E6862"/>
            </a:solidFill>
          </a:ln>
        </p:spPr>
        <p:txBody>
          <a:bodyPr/>
          <a:lstStyle/>
          <a:p/>
        </p:txBody>
      </p:sp>
      <p:sp>
        <p:nvSpPr>
          <p:cNvPr id="56" name="tb56"/>
          <p:cNvSpPr txBox="1"/>
          <p:nvPr/>
        </p:nvSpPr>
        <p:spPr>
          <a:xfrm>
            <a:off x="7940000" y="211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A8A29A"/>
                </a:solidFill>
                <a:latin typeface="Trebuchet MS"/>
              </a:rPr>
              <a:t>Block</a:t>
            </a:r>
          </a:p>
        </p:txBody>
      </p:sp>
      <p:cxnSp>
        <p:nvCxnSpPr>
          <p:cNvPr id="57" name="ar57"/>
          <p:cNvCxnSpPr/>
          <p:nvPr/>
        </p:nvCxnSpPr>
        <p:spPr>
          <a:xfrm>
            <a:off x="8430000" y="2470000"/>
            <a:ext cx="0" cy="420000"/>
          </a:xfrm>
          <a:prstGeom prst="straightConnector1">
            <a:avLst/>
          </a:prstGeom>
          <a:ln w="12700">
            <a:solidFill>
              <a:srgbClr val="6E6862"/>
            </a:solidFill>
            <a:tailEnd type="triangle" w="med" len="med"/>
          </a:ln>
        </p:spPr>
      </p:cxnSp>
      <p:sp>
        <p:nvSpPr>
          <p:cNvPr id="58" name="tb58"/>
          <p:cNvSpPr txBox="1"/>
          <p:nvPr/>
        </p:nvSpPr>
        <p:spPr>
          <a:xfrm>
            <a:off x="8510000" y="257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CONTAINS</a:t>
            </a:r>
          </a:p>
        </p:txBody>
      </p:sp>
      <p:sp>
        <p:nvSpPr>
          <p:cNvPr id="59" name="el59"/>
          <p:cNvSpPr/>
          <p:nvPr/>
        </p:nvSpPr>
        <p:spPr>
          <a:xfrm>
            <a:off x="7940000" y="2900000"/>
            <a:ext cx="980000" cy="500000"/>
          </a:xfrm>
          <a:prstGeom prst="ellipse">
            <a:avLst/>
          </a:prstGeom>
          <a:solidFill>
            <a:srgbClr val="4FB59C">
              <a:alpha val="18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60" name="tb60"/>
          <p:cNvSpPr txBox="1"/>
          <p:nvPr/>
        </p:nvSpPr>
        <p:spPr>
          <a:xfrm>
            <a:off x="7940000" y="305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4FB59C"/>
                </a:solidFill>
                <a:latin typeface="Trebuchet MS"/>
              </a:rPr>
              <a:t>Tx</a:t>
            </a:r>
          </a:p>
        </p:txBody>
      </p:sp>
      <p:cxnSp>
        <p:nvCxnSpPr>
          <p:cNvPr id="61" name="ar61"/>
          <p:cNvCxnSpPr/>
          <p:nvPr/>
        </p:nvCxnSpPr>
        <p:spPr>
          <a:xfrm flipH="1">
            <a:off x="7410000" y="3170000"/>
            <a:ext cx="520000" cy="0"/>
          </a:xfrm>
          <a:prstGeom prst="straightConnector1">
            <a:avLst/>
          </a:prstGeom>
          <a:ln w="19050">
            <a:solidFill>
              <a:srgbClr val="4FB59C"/>
            </a:solidFill>
            <a:tailEnd type="triangle" w="med" len="med"/>
          </a:ln>
        </p:spPr>
      </p:cxnSp>
      <p:sp>
        <p:nvSpPr>
          <p:cNvPr id="62" name="tb62"/>
          <p:cNvSpPr txBox="1"/>
          <p:nvPr/>
        </p:nvSpPr>
        <p:spPr>
          <a:xfrm>
            <a:off x="6950000" y="2940000"/>
            <a:ext cx="10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HAS_OUTPUT</a:t>
            </a:r>
          </a:p>
        </p:txBody>
      </p:sp>
      <p:sp>
        <p:nvSpPr>
          <p:cNvPr id="63" name="el63"/>
          <p:cNvSpPr/>
          <p:nvPr/>
        </p:nvSpPr>
        <p:spPr>
          <a:xfrm>
            <a:off x="6400000" y="2900000"/>
            <a:ext cx="1010000" cy="500000"/>
          </a:xfrm>
          <a:prstGeom prst="ellipse">
            <a:avLst/>
          </a:prstGeom>
          <a:solidFill>
            <a:srgbClr val="4FB59C">
              <a:alpha val="18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64" name="tb64"/>
          <p:cNvSpPr txBox="1"/>
          <p:nvPr/>
        </p:nvSpPr>
        <p:spPr>
          <a:xfrm>
            <a:off x="6400000" y="3050000"/>
            <a:ext cx="101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4FB59C"/>
                </a:solidFill>
                <a:latin typeface="Trebuchet MS"/>
              </a:rPr>
              <a:t>Output</a:t>
            </a:r>
          </a:p>
        </p:txBody>
      </p:sp>
      <p:cxnSp>
        <p:nvCxnSpPr>
          <p:cNvPr id="65" name="ar65"/>
          <p:cNvCxnSpPr/>
          <p:nvPr/>
        </p:nvCxnSpPr>
        <p:spPr>
          <a:xfrm>
            <a:off x="8920000" y="3170000"/>
            <a:ext cx="520000" cy="0"/>
          </a:xfrm>
          <a:prstGeom prst="straightConnector1">
            <a:avLst/>
          </a:prstGeom>
          <a:ln w="19050">
            <a:solidFill>
              <a:srgbClr val="D9A441"/>
            </a:solidFill>
            <a:tailEnd type="triangle" w="med" len="med"/>
          </a:ln>
        </p:spPr>
      </p:cxnSp>
      <p:sp>
        <p:nvSpPr>
          <p:cNvPr id="66" name="tb66"/>
          <p:cNvSpPr txBox="1"/>
          <p:nvPr/>
        </p:nvSpPr>
        <p:spPr>
          <a:xfrm>
            <a:off x="8890000" y="293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HAS_INPUT</a:t>
            </a:r>
          </a:p>
        </p:txBody>
      </p:sp>
      <p:sp>
        <p:nvSpPr>
          <p:cNvPr id="67" name="el67"/>
          <p:cNvSpPr/>
          <p:nvPr/>
        </p:nvSpPr>
        <p:spPr>
          <a:xfrm>
            <a:off x="9440000" y="2900000"/>
            <a:ext cx="980000" cy="500000"/>
          </a:xfrm>
          <a:prstGeom prst="ellipse">
            <a:avLst/>
          </a:prstGeom>
          <a:solidFill>
            <a:srgbClr val="D9A441">
              <a:alpha val="18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68" name="tb68"/>
          <p:cNvSpPr txBox="1"/>
          <p:nvPr/>
        </p:nvSpPr>
        <p:spPr>
          <a:xfrm>
            <a:off x="9440000" y="305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Trebuchet MS"/>
              </a:rPr>
              <a:t>Input</a:t>
            </a:r>
          </a:p>
        </p:txBody>
      </p:sp>
      <p:cxnSp>
        <p:nvCxnSpPr>
          <p:cNvPr id="69" name="ar69"/>
          <p:cNvCxnSpPr/>
          <p:nvPr/>
        </p:nvCxnSpPr>
        <p:spPr>
          <a:xfrm>
            <a:off x="9930000" y="3400000"/>
            <a:ext cx="0" cy="980000"/>
          </a:xfrm>
          <a:prstGeom prst="straightConnector1">
            <a:avLst/>
          </a:prstGeom>
          <a:ln w="12700">
            <a:solidFill>
              <a:srgbClr val="D9A441"/>
            </a:solidFill>
            <a:tailEnd type="triangle" w="med" len="med"/>
          </a:ln>
        </p:spPr>
      </p:cxnSp>
      <p:sp>
        <p:nvSpPr>
          <p:cNvPr id="70" name="sr70"/>
          <p:cNvSpPr/>
          <p:nvPr/>
        </p:nvSpPr>
        <p:spPr>
          <a:xfrm>
            <a:off x="6905000" y="4360000"/>
            <a:ext cx="3025000" cy="22000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cxnSp>
        <p:nvCxnSpPr>
          <p:cNvPr id="71" name="ar71"/>
          <p:cNvCxnSpPr/>
          <p:nvPr/>
        </p:nvCxnSpPr>
        <p:spPr>
          <a:xfrm flipV="1">
            <a:off x="6905000" y="4150000"/>
            <a:ext cx="0" cy="210000"/>
          </a:xfrm>
          <a:prstGeom prst="straightConnector1">
            <a:avLst/>
          </a:prstGeom>
          <a:ln w="12700">
            <a:solidFill>
              <a:srgbClr val="D9A441"/>
            </a:solidFill>
            <a:tailEnd type="triangle" w="med" len="med"/>
          </a:ln>
        </p:spPr>
      </p:cxnSp>
      <p:sp>
        <p:nvSpPr>
          <p:cNvPr id="72" name="tb72"/>
          <p:cNvSpPr txBox="1"/>
          <p:nvPr/>
        </p:nvSpPr>
        <p:spPr>
          <a:xfrm>
            <a:off x="8000000" y="439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D9A441"/>
                </a:solidFill>
                <a:latin typeface="Trebuchet MS"/>
              </a:rPr>
              <a:t>SPENDS</a:t>
            </a:r>
          </a:p>
        </p:txBody>
      </p:sp>
      <p:cxnSp>
        <p:nvCxnSpPr>
          <p:cNvPr id="85" name="ar85"/>
          <p:cNvCxnSpPr/>
          <p:nvPr/>
        </p:nvCxnSpPr>
        <p:spPr>
          <a:xfrm>
            <a:off x="7410000" y="3900000"/>
            <a:ext cx="480000" cy="0"/>
          </a:xfrm>
          <a:prstGeom prst="straightConnector1">
            <a:avLst/>
          </a:prstGeom>
          <a:ln w="19050">
            <a:solidFill>
              <a:srgbClr val="4FB59C"/>
            </a:solidFill>
            <a:tailEnd type="triangle" w="med" len="med"/>
          </a:ln>
        </p:spPr>
      </p:cxnSp>
      <p:sp>
        <p:nvSpPr>
          <p:cNvPr id="86" name="tb86"/>
          <p:cNvSpPr txBox="1"/>
          <p:nvPr/>
        </p:nvSpPr>
        <p:spPr>
          <a:xfrm>
            <a:off x="7290000" y="3660000"/>
            <a:ext cx="85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LOCKED_TO</a:t>
            </a:r>
          </a:p>
        </p:txBody>
      </p:sp>
      <p:sp>
        <p:nvSpPr>
          <p:cNvPr id="73" name="el73"/>
          <p:cNvSpPr/>
          <p:nvPr/>
        </p:nvSpPr>
        <p:spPr>
          <a:xfrm>
            <a:off x="6400000" y="3650000"/>
            <a:ext cx="1010000" cy="500000"/>
          </a:xfrm>
          <a:prstGeom prst="ellipse">
            <a:avLst/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74" name="tb74"/>
          <p:cNvSpPr txBox="1"/>
          <p:nvPr/>
        </p:nvSpPr>
        <p:spPr>
          <a:xfrm>
            <a:off x="6400000" y="3800000"/>
            <a:ext cx="101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0" dirty="0">
                <a:solidFill>
                  <a:srgbClr val="A8A29A"/>
                </a:solidFill>
                <a:latin typeface="Trebuchet MS"/>
              </a:rPr>
              <a:t>Output</a:t>
            </a:r>
          </a:p>
        </p:txBody>
      </p:sp>
      <p:sp>
        <p:nvSpPr>
          <p:cNvPr id="75" name="el75"/>
          <p:cNvSpPr/>
          <p:nvPr/>
        </p:nvSpPr>
        <p:spPr>
          <a:xfrm>
            <a:off x="7930000" y="3650000"/>
            <a:ext cx="1080000" cy="500000"/>
          </a:xfrm>
          <a:prstGeom prst="ellipse">
            <a:avLst/>
          </a:prstGeom>
          <a:solidFill>
            <a:srgbClr val="F2EFE9">
              <a:alpha val="14000"/>
            </a:srgbClr>
          </a:solidFill>
          <a:ln w="12700">
            <a:solidFill>
              <a:srgbClr val="F2EFE9"/>
            </a:solidFill>
          </a:ln>
        </p:spPr>
        <p:txBody>
          <a:bodyPr/>
          <a:lstStyle/>
          <a:p/>
        </p:txBody>
      </p:sp>
      <p:sp>
        <p:nvSpPr>
          <p:cNvPr id="76" name="tb76"/>
          <p:cNvSpPr txBox="1"/>
          <p:nvPr/>
        </p:nvSpPr>
        <p:spPr>
          <a:xfrm>
            <a:off x="7930000" y="3800000"/>
            <a:ext cx="10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F2EFE9"/>
                </a:solidFill>
                <a:latin typeface="Trebuchet MS"/>
              </a:rPr>
              <a:t>Address</a:t>
            </a:r>
          </a:p>
        </p:txBody>
      </p:sp>
      <p:cxnSp>
        <p:nvCxnSpPr>
          <p:cNvPr id="77" name="ar77"/>
          <p:cNvCxnSpPr/>
          <p:nvPr/>
        </p:nvCxnSpPr>
        <p:spPr>
          <a:xfrm>
            <a:off x="9020000" y="3900000"/>
            <a:ext cx="420000" cy="0"/>
          </a:xfrm>
          <a:prstGeom prst="straightConnector1">
            <a:avLst/>
          </a:prstGeom>
          <a:ln w="19050">
            <a:solidFill>
              <a:srgbClr val="8E9BA8"/>
            </a:solidFill>
            <a:tailEnd type="triangle" w="med" len="med"/>
          </a:ln>
        </p:spPr>
      </p:cxnSp>
      <p:sp>
        <p:nvSpPr>
          <p:cNvPr id="78" name="tb78"/>
          <p:cNvSpPr txBox="1"/>
          <p:nvPr/>
        </p:nvSpPr>
        <p:spPr>
          <a:xfrm>
            <a:off x="8950000" y="4130000"/>
            <a:ext cx="125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8E9BA8"/>
                </a:solidFill>
                <a:latin typeface="Trebuchet MS"/>
              </a:rPr>
              <a:t>COOWNED_WITH</a:t>
            </a:r>
          </a:p>
        </p:txBody>
      </p:sp>
      <p:sp>
        <p:nvSpPr>
          <p:cNvPr id="79" name="el79"/>
          <p:cNvSpPr/>
          <p:nvPr/>
        </p:nvSpPr>
        <p:spPr>
          <a:xfrm>
            <a:off x="9460000" y="3650000"/>
            <a:ext cx="1080000" cy="500000"/>
          </a:xfrm>
          <a:prstGeom prst="ellipse">
            <a:avLst/>
          </a:prstGeom>
          <a:solidFill>
            <a:srgbClr val="F2EFE9">
              <a:alpha val="10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80" name="tb80"/>
          <p:cNvSpPr txBox="1"/>
          <p:nvPr/>
        </p:nvSpPr>
        <p:spPr>
          <a:xfrm>
            <a:off x="9460000" y="3800000"/>
            <a:ext cx="10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0" dirty="0">
                <a:solidFill>
                  <a:srgbClr val="A8A29A"/>
                </a:solidFill>
                <a:latin typeface="Trebuchet MS"/>
              </a:rPr>
              <a:t>Address</a:t>
            </a:r>
          </a:p>
        </p:txBody>
      </p:sp>
      <p:sp>
        <p:nvSpPr>
          <p:cNvPr id="81" name="el81"/>
          <p:cNvSpPr/>
          <p:nvPr/>
        </p:nvSpPr>
        <p:spPr>
          <a:xfrm>
            <a:off x="10620000" y="2870000"/>
            <a:ext cx="1200000" cy="560000"/>
          </a:xfrm>
          <a:prstGeom prst="ellipse">
            <a:avLst/>
          </a:prstGeom>
          <a:solidFill>
            <a:srgbClr val="8E9BA8">
              <a:alpha val="14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82" name="tb82"/>
          <p:cNvSpPr txBox="1"/>
          <p:nvPr/>
        </p:nvSpPr>
        <p:spPr>
          <a:xfrm>
            <a:off x="10620000" y="2990000"/>
            <a:ext cx="120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Trebuchet MS"/>
              </a:rPr>
              <a:t>Price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10620000" y="3170000"/>
            <a:ext cx="120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Trebuchet MS"/>
              </a:rPr>
              <a:t>Snapshot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10620000" y="3470000"/>
            <a:ext cx="12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no edges</a:t>
            </a:r>
          </a:p>
        </p:txBody>
      </p:sp>
      <p:sp>
        <p:nvSpPr>
          <p:cNvPr id="90" name="tb90"/>
          <p:cNvSpPr txBox="1"/>
          <p:nvPr/>
        </p:nvSpPr>
        <p:spPr>
          <a:xfrm>
            <a:off x="6400000" y="4650000"/>
            <a:ext cx="5100000" cy="5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The same paths are already on disk as edges: </a:t>
            </a:r>
            <a:r>
              <a:rPr lang="it-IT" sz="1150" b="1" dirty="0">
                <a:solidFill>
                  <a:srgbClr val="F2EFE9"/>
                </a:solidFill>
                <a:latin typeface="Trebuchet MS"/>
              </a:rPr>
              <a:t>following one is a pointer hop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. COOWNED_WITH is derived by the clustering, not loaded.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00000" y="5480000"/>
            <a:ext cx="108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6E6862"/>
                </a:solidFill>
                <a:latin typeface="Trebuchet MS"/>
              </a:rPr>
              <a:t>One shortcut I avoided: </a:t>
            </a:r>
            <a:r>
              <a:rPr lang="it-IT" sz="1150" b="1" dirty="0">
                <a:solidFill>
                  <a:srgbClr val="F2EFE9"/>
                </a:solidFill>
                <a:latin typeface="Trebuchet MS"/>
              </a:rPr>
              <a:t>Output and Input are real nodes here, not one edge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. Many graph models draw Tx -&gt; Tx directly. That would make one hop of fund tracing 1 edge instead of 5, so Neo4j would look faster only because I gave it a shorter path to walk. The tables cannot take that shortcut, so neither does the graph.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RESULTS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Neither model wins across the board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5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1730000"/>
            <a:ext cx="26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QUERY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4600000" y="173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6700000" y="173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8900000" y="173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FASTER</a:t>
            </a:r>
          </a:p>
        </p:txBody>
      </p:sp>
      <p:sp>
        <p:nvSpPr>
          <p:cNvPr id="44" name="rc44"/>
          <p:cNvSpPr/>
          <p:nvPr/>
        </p:nvSpPr>
        <p:spPr>
          <a:xfrm>
            <a:off x="760000" y="2060000"/>
            <a:ext cx="10600000" cy="6000"/>
          </a:xfrm>
          <a:prstGeom prst="roundRect">
            <a:avLst>
              <a:gd name="adj" fmla="val 6000"/>
            </a:avLst>
          </a:prstGeom>
          <a:solidFill>
            <a:srgbClr val="34302B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b50"/>
          <p:cNvSpPr txBox="1"/>
          <p:nvPr/>
        </p:nvSpPr>
        <p:spPr>
          <a:xfrm>
            <a:off x="760000" y="219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560000" y="219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transaction fee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4600000" y="21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61.5 s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6700000" y="21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24.6 s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8900000" y="219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2.5x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760000" y="261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Q2</a:t>
            </a:r>
          </a:p>
        </p:txBody>
      </p:sp>
      <p:sp>
        <p:nvSpPr>
          <p:cNvPr id="56" name="tb56"/>
          <p:cNvSpPr txBox="1"/>
          <p:nvPr/>
        </p:nvSpPr>
        <p:spPr>
          <a:xfrm>
            <a:off x="1560000" y="261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unspent outputs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4600000" y="26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12.5 s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6700000" y="26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9.4 s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8900000" y="261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1.3x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304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Q3</a:t>
            </a:r>
          </a:p>
        </p:txBody>
      </p:sp>
      <p:sp>
        <p:nvSpPr>
          <p:cNvPr id="61" name="tb61"/>
          <p:cNvSpPr txBox="1"/>
          <p:nvPr/>
        </p:nvSpPr>
        <p:spPr>
          <a:xfrm>
            <a:off x="1560000" y="304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balance per address</a:t>
            </a:r>
          </a:p>
        </p:txBody>
      </p:sp>
      <p:sp>
        <p:nvSpPr>
          <p:cNvPr id="62" name="tb62"/>
          <p:cNvSpPr txBox="1"/>
          <p:nvPr/>
        </p:nvSpPr>
        <p:spPr>
          <a:xfrm>
            <a:off x="4600000" y="30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40.3 s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6700000" y="30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10.8 s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8900000" y="304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3.7x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760000" y="346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Q4</a:t>
            </a:r>
          </a:p>
        </p:txBody>
      </p:sp>
      <p:sp>
        <p:nvSpPr>
          <p:cNvPr id="66" name="tb66"/>
          <p:cNvSpPr txBox="1"/>
          <p:nvPr/>
        </p:nvSpPr>
        <p:spPr>
          <a:xfrm>
            <a:off x="1560000" y="346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fund tracing</a:t>
            </a:r>
          </a:p>
        </p:txBody>
      </p:sp>
      <p:sp>
        <p:nvSpPr>
          <p:cNvPr id="67" name="tb67"/>
          <p:cNvSpPr txBox="1"/>
          <p:nvPr/>
        </p:nvSpPr>
        <p:spPr>
          <a:xfrm>
            <a:off x="4600000" y="34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9.7 s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6700000" y="34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C85A4A"/>
                </a:solidFill>
                <a:latin typeface="Trebuchet MS"/>
              </a:rPr>
              <a:t>timeout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8900000" y="346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760000" y="389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Q5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1560000" y="389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hub detection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4600000" y="38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9.6 s</a:t>
            </a:r>
          </a:p>
        </p:txBody>
      </p:sp>
      <p:sp>
        <p:nvSpPr>
          <p:cNvPr id="73" name="tb73"/>
          <p:cNvSpPr txBox="1"/>
          <p:nvPr/>
        </p:nvSpPr>
        <p:spPr>
          <a:xfrm>
            <a:off x="6700000" y="38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9.0 s</a:t>
            </a:r>
          </a:p>
        </p:txBody>
      </p:sp>
      <p:sp>
        <p:nvSpPr>
          <p:cNvPr id="74" name="tb74"/>
          <p:cNvSpPr txBox="1"/>
          <p:nvPr/>
        </p:nvSpPr>
        <p:spPr>
          <a:xfrm>
            <a:off x="8900000" y="389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8E9BA8"/>
                </a:solidFill>
                <a:latin typeface="Trebuchet MS"/>
              </a:rPr>
              <a:t>tie</a:t>
            </a:r>
          </a:p>
        </p:txBody>
      </p:sp>
      <p:sp>
        <p:nvSpPr>
          <p:cNvPr id="75" name="tb75"/>
          <p:cNvSpPr txBox="1"/>
          <p:nvPr/>
        </p:nvSpPr>
        <p:spPr>
          <a:xfrm>
            <a:off x="760000" y="431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Q6</a:t>
            </a:r>
          </a:p>
        </p:txBody>
      </p:sp>
      <p:sp>
        <p:nvSpPr>
          <p:cNvPr id="76" name="tb76"/>
          <p:cNvSpPr txBox="1"/>
          <p:nvPr/>
        </p:nvSpPr>
        <p:spPr>
          <a:xfrm>
            <a:off x="1560000" y="431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main chain vs orphans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4600000" y="43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2.1 ms</a:t>
            </a:r>
          </a:p>
        </p:txBody>
      </p:sp>
      <p:sp>
        <p:nvSpPr>
          <p:cNvPr id="78" name="tb78"/>
          <p:cNvSpPr txBox="1"/>
          <p:nvPr/>
        </p:nvSpPr>
        <p:spPr>
          <a:xfrm>
            <a:off x="6700000" y="43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17.7 ms</a:t>
            </a:r>
          </a:p>
        </p:txBody>
      </p:sp>
      <p:sp>
        <p:nvSpPr>
          <p:cNvPr id="79" name="tb79"/>
          <p:cNvSpPr txBox="1"/>
          <p:nvPr/>
        </p:nvSpPr>
        <p:spPr>
          <a:xfrm>
            <a:off x="8900000" y="431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 8.4x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760000" y="474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Q7</a:t>
            </a:r>
          </a:p>
        </p:txBody>
      </p:sp>
      <p:sp>
        <p:nvSpPr>
          <p:cNvPr id="81" name="tb81"/>
          <p:cNvSpPr txBox="1"/>
          <p:nvPr/>
        </p:nvSpPr>
        <p:spPr>
          <a:xfrm>
            <a:off x="1560000" y="474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balance per wallet</a:t>
            </a:r>
          </a:p>
        </p:txBody>
      </p:sp>
      <p:sp>
        <p:nvSpPr>
          <p:cNvPr id="82" name="tb82"/>
          <p:cNvSpPr txBox="1"/>
          <p:nvPr/>
        </p:nvSpPr>
        <p:spPr>
          <a:xfrm>
            <a:off x="4600000" y="47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C85A4A"/>
                </a:solidFill>
                <a:latin typeface="Trebuchet MS"/>
              </a:rPr>
              <a:t>not available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6700000" y="47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12.3 s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8900000" y="474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only</a:t>
            </a:r>
          </a:p>
        </p:txBody>
      </p:sp>
      <p:sp>
        <p:nvSpPr>
          <p:cNvPr id="85" name="tb85"/>
          <p:cNvSpPr txBox="1"/>
          <p:nvPr/>
        </p:nvSpPr>
        <p:spPr>
          <a:xfrm>
            <a:off x="760000" y="516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Q8</a:t>
            </a:r>
          </a:p>
        </p:txBody>
      </p:sp>
      <p:sp>
        <p:nvSpPr>
          <p:cNvPr id="86" name="tb86"/>
          <p:cNvSpPr txBox="1"/>
          <p:nvPr/>
        </p:nvSpPr>
        <p:spPr>
          <a:xfrm>
            <a:off x="1560000" y="516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value in USD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4600000" y="51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16.7 s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6700000" y="51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12.4 s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8900000" y="516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1.3x</a:t>
            </a:r>
          </a:p>
        </p:txBody>
      </p:sp>
      <p:sp>
        <p:nvSpPr>
          <p:cNvPr id="99" name="tb99"/>
          <p:cNvSpPr txBox="1"/>
          <p:nvPr/>
        </p:nvSpPr>
        <p:spPr>
          <a:xfrm>
            <a:off x="700000" y="5800000"/>
            <a:ext cx="1080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Neo4j wins 5, SQLite 2, one is a tie. What changes is the kind of query, not the model.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METHOD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How I measured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6</a:t>
            </a:r>
          </a:p>
        </p:txBody>
      </p:sp>
      <p:sp>
        <p:nvSpPr>
          <p:cNvPr id="10" name="bl10"/>
          <p:cNvSpPr txBox="1"/>
          <p:nvPr/>
        </p:nvSpPr>
        <p:spPr>
          <a:xfrm>
            <a:off x="700000" y="1900000"/>
            <a:ext cx="10800000" cy="3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Warm-up discarded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: the first run only warms the caches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Median of 3 runs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: one unlucky run shifts a mean, not a median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Per-query timeout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of 120s on SQLite, 90s on Neo4j. Past that the query is unusable anyway, so I record «timeout» and move on: it says the model cannot answer at this size, which is itself a finding. No query lands between 90s and 120s, so the two thresholds never change a verdict.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Four dataset sizes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(50, 200, 500, 977 blocks). This is what separates «slow» from «collapses»</a:t>
            </a:r>
          </a:p>
        </p:txBody>
      </p:sp>
      <p:sp>
        <p:nvSpPr>
          <p:cNvPr id="20" name="rc20"/>
          <p:cNvSpPr/>
          <p:nvPr/>
        </p:nvSpPr>
        <p:spPr>
          <a:xfrm>
            <a:off x="700000" y="5250000"/>
            <a:ext cx="10800000" cy="900000"/>
          </a:xfrm>
          <a:prstGeom prst="roundRect">
            <a:avLst>
              <a:gd name="adj" fmla="val 6000"/>
            </a:avLst>
          </a:prstGeom>
          <a:solidFill>
            <a:srgbClr val="8E9BA8">
              <a:alpha val="14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950000" y="5400000"/>
            <a:ext cx="103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8E9BA8"/>
                </a:solidFill>
                <a:latin typeface="Trebuchet MS"/>
              </a:rPr>
              <a:t>Known limitation: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a laptop, 15 GiB of RAM, 8 of them Neo4j's heap.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ANALYSIS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Where the graph wins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7</a:t>
            </a:r>
          </a:p>
        </p:txBody>
      </p:sp>
      <p:sp>
        <p:nvSpPr>
          <p:cNvPr id="10" name="rc10"/>
          <p:cNvSpPr/>
          <p:nvPr/>
        </p:nvSpPr>
        <p:spPr>
          <a:xfrm>
            <a:off x="700000" y="185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4FB59C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50000" y="2030000"/>
            <a:ext cx="103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4FB59C"/>
                </a:solidFill>
                <a:latin typeface="Trebuchet MS"/>
              </a:rPr>
              <a:t>Q1, Q2, Q3, Q7, Q8</a:t>
            </a:r>
            <a:r>
              <a:rPr lang="it-IT" sz="1600" b="0" dirty="0">
                <a:solidFill>
                  <a:srgbClr val="A8A29A"/>
                </a:solidFill>
                <a:latin typeface="Trebuchet MS"/>
              </a:rPr>
              <a:t>, whenever the dominant cost is </a:t>
            </a:r>
            <a:r>
              <a:rPr lang="it-IT" sz="1600" b="1" dirty="0">
                <a:solidFill>
                  <a:srgbClr val="F2EFE9"/>
                </a:solidFill>
                <a:latin typeface="Trebuchet MS"/>
              </a:rPr>
              <a:t>rebuilding sparse relationships</a:t>
            </a:r>
            <a:r>
              <a:rPr lang="it-IT" sz="1600" b="0" dirty="0">
                <a:solidFill>
                  <a:srgbClr val="A8A29A"/>
                </a:solidFill>
                <a:latin typeface="Trebuchet MS"/>
              </a:rPr>
              <a:t> across the whole dataset.</a:t>
            </a:r>
          </a:p>
        </p:txBody>
      </p:sp>
      <p:sp>
        <p:nvSpPr>
          <p:cNvPr id="12" name="bl12"/>
          <p:cNvSpPr txBox="1"/>
          <p:nvPr/>
        </p:nvSpPr>
        <p:spPr>
          <a:xfrm>
            <a:off x="700000" y="3050000"/>
            <a:ext cx="10800000" cy="2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SQL rebuilds every relationship with a key JOIN, </a:t>
            </a: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every single time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, for every row.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Neo4j follows adjacency pointers that were </a:t>
            </a: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already materialised at load time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The widest gap is Q3 at 3.7x. 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A balance is «received minus spent». SQL computes those as two separate GROUP BY over millions of rows, then joins the two results back together. The graph asks each output «does a SPENDS edge point at me?», which is one lookup on that node, and adds it up as it goes. Same answer, but no second pass and no join.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ANALYSIS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Where the relational model wins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8</a:t>
            </a:r>
          </a:p>
        </p:txBody>
      </p:sp>
      <p:sp>
        <p:nvSpPr>
          <p:cNvPr id="10" name="rc10"/>
          <p:cNvSpPr/>
          <p:nvPr/>
        </p:nvSpPr>
        <p:spPr>
          <a:xfrm>
            <a:off x="700000" y="185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D9A441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50000" y="2030000"/>
            <a:ext cx="103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1" dirty="0">
                <a:solidFill>
                  <a:srgbClr val="D9A441"/>
                </a:solidFill>
                <a:latin typeface="Trebuchet MS"/>
              </a:rPr>
              <a:t>Q6: 2.1 ms against 17.7 ms, SQLite is 8.4x faster</a:t>
            </a:r>
          </a:p>
        </p:txBody>
      </p:sp>
      <p:sp>
        <p:nvSpPr>
          <p:cNvPr id="12" name="bl12"/>
          <p:cNvSpPr txBox="1"/>
          <p:nvPr/>
        </p:nvSpPr>
        <p:spPr>
          <a:xfrm>
            <a:off x="700000" y="3050000"/>
            <a:ext cx="10800000" cy="2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Small and local means: 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this query only touches the blocks table, 977 rows and not millions, and they all sit in one place with no relationships to follow. There is nothing for a traversal to be good at.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Reading 977 consecutive rows from one table is close to the fastest thing a database can do. Neo4j instead visits 977 nodes one at a time, each with its own pointer to chase: a tiny cost each, but paid 977 times.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Q5 ends in a tie: both engines have to touch every row, so neither model has a structural advantage.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SCALING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happens when the data grows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9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00" y="1650000"/>
            <a:ext cx="9900000" cy="3900000"/>
          </a:xfrm>
          <a:prstGeom prst="rect">
            <a:avLst/>
          </a:prstGeom>
        </p:spPr>
      </p:pic>
      <p:sp>
        <p:nvSpPr>
          <p:cNvPr id="11" name="tb11"/>
          <p:cNvSpPr txBox="1"/>
          <p:nvPr/>
        </p:nvSpPr>
        <p:spPr>
          <a:xfrm>
            <a:off x="700000" y="570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SQLite timings across the four sizes. The useful question is not «which is faster» but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which query degrades, and from what size on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TRADE-OFFS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The cost you don't see in query timings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10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00000"/>
            <a:ext cx="10800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1. Loading the data, paid once per database</a:t>
            </a:r>
          </a:p>
        </p:txBody>
      </p:sp>
      <p:sp>
        <p:nvSpPr>
          <p:cNvPr id="11" name="rc11"/>
          <p:cNvSpPr/>
          <p:nvPr/>
        </p:nvSpPr>
        <p:spPr>
          <a:xfrm>
            <a:off x="700000" y="2070000"/>
            <a:ext cx="5250000" cy="1150000"/>
          </a:xfrm>
          <a:prstGeom prst="roundRect">
            <a:avLst>
              <a:gd name="adj" fmla="val 6000"/>
            </a:avLst>
          </a:prstGeom>
          <a:solidFill>
            <a:srgbClr val="D9A441">
              <a:alpha val="10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950000" y="219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950000" y="2510000"/>
            <a:ext cx="475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9.4 min, 6.2 GB, no tuning at all</a:t>
            </a:r>
          </a:p>
        </p:txBody>
      </p:sp>
      <p:sp>
        <p:nvSpPr>
          <p:cNvPr id="14" name="rc14"/>
          <p:cNvSpPr/>
          <p:nvPr/>
        </p:nvSpPr>
        <p:spPr>
          <a:xfrm>
            <a:off x="6250000" y="2070000"/>
            <a:ext cx="5250000" cy="1150000"/>
          </a:xfrm>
          <a:prstGeom prst="roundRect">
            <a:avLst>
              <a:gd name="adj" fmla="val 6000"/>
            </a:avLst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6500000" y="219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6500000" y="2510000"/>
            <a:ext cx="475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40.2 min, 16.3 GB, 8 GB of heap required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00000" y="3270000"/>
            <a:ext cx="10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4.3x slower and 2.6x more disk, in exchange for the fast traversals seen earlier.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00000" y="3750000"/>
            <a:ext cx="10800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2. Q7 needs a step that comes before the query</a:t>
            </a:r>
          </a:p>
        </p:txBody>
      </p:sp>
      <p:sp>
        <p:nvSpPr>
          <p:cNvPr id="21" name="rc21"/>
          <p:cNvSpPr/>
          <p:nvPr/>
        </p:nvSpPr>
        <p:spPr>
          <a:xfrm>
            <a:off x="700000" y="4120000"/>
            <a:ext cx="10800000" cy="1420000"/>
          </a:xfrm>
          <a:prstGeom prst="roundRect">
            <a:avLst>
              <a:gd name="adj" fmla="val 6000"/>
            </a:avLst>
          </a:prstGeom>
          <a:solidFill>
            <a:srgbClr val="C85A4A">
              <a:alpha val="12000"/>
            </a:srgbClr>
          </a:solidFill>
          <a:ln w="12700">
            <a:solidFill>
              <a:srgbClr val="C85A4A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950000" y="4230000"/>
            <a:ext cx="103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Wallets do not exist in the blockchain: they have to be inferred by grouping addresses, which is a connected components problem.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950000" y="4580000"/>
            <a:ext cx="5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4FB59C"/>
                </a:solidFill>
                <a:latin typeface="Trebuchet MS"/>
              </a:rPr>
              <a:t>Neo4j: 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84 minutes with gds.wcc, then the query runs in 12.3 s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950000" y="4880000"/>
            <a:ext cx="10300000" cy="6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D9A441"/>
                </a:solidFill>
                <a:latin typeface="Trebuchet MS"/>
              </a:rPr>
              <a:t>SQLite: 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no time at all, because the grouping never finishes. It works in rounds, each one spreading a label to neighbouring addresses, and every round has to scan the entire co-ownership table again: 276 million rows, joined against itself. Neo4j loads that graph into memory once and walks it; SQLite rereads it from disk on every pass.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700000" y="562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F2EFE9"/>
                </a:solidFill>
                <a:latin typeface="Trebuchet MS"/>
              </a:rPr>
              <a:t>So Q7 is not a case of one engine being slower.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It is a query that only one of the two models can answer here, and only by paying 84 minutes up front, once, the way you would with a materialised view.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CONCLUSIONS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I take away from this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11</a:t>
            </a:r>
          </a:p>
        </p:txBody>
      </p:sp>
      <p:sp>
        <p:nvSpPr>
          <p:cNvPr id="10" name="bl10"/>
          <p:cNvSpPr txBox="1"/>
          <p:nvPr/>
        </p:nvSpPr>
        <p:spPr>
          <a:xfrm>
            <a:off x="700000" y="1850000"/>
            <a:ext cx="108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You pay either up front or at query time.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The graph materialises relationships while loading and sells them back as speed when you query. Whether that trade is worth it depends on how often you query.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Measuring changed my conclusions.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I had assumed the graph would win everywhere. It does not, and the exceptions turned out to be the interesting part.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00000" y="542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6E6862"/>
                </a:solidFill>
                <a:latin typeface="Trebuchet MS"/>
              </a:rPr>
              <a:t>Stated limits: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one machine, a 977-block window chosen for practicality, and clustering is a heuristic, not a certainty.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5 MINUTES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Live demo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12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60000"/>
            <a:ext cx="1080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A 50-transaction slice of the same data, small enough to read on screen. It loads into Neo4j in 2 seconds instead of 40 minutes.</a:t>
            </a:r>
          </a:p>
        </p:txBody>
      </p:sp>
      <p:sp>
        <p:nvSpPr>
          <p:cNvPr id="20" name="rc20"/>
          <p:cNvSpPr/>
          <p:nvPr/>
        </p:nvSpPr>
        <p:spPr>
          <a:xfrm>
            <a:off x="700000" y="2320000"/>
            <a:ext cx="5250000" cy="2400000"/>
          </a:xfrm>
          <a:prstGeom prst="roundRect">
            <a:avLst>
              <a:gd name="adj" fmla="val 6000"/>
            </a:avLst>
          </a:prstGeom>
          <a:solidFill>
            <a:srgbClr val="D9A441">
              <a:alpha val="10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950000" y="2460000"/>
            <a:ext cx="47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5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950000" y="288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F2EFE9"/>
                </a:solidFill>
                <a:latin typeface="Consolas"/>
              </a:rPr>
              <a:t>python3 demo/serve_sqlite.py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950000" y="317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Consolas"/>
              </a:rPr>
              <a:t>127.0.0.1:8000</a:t>
            </a:r>
          </a:p>
        </p:txBody>
      </p:sp>
      <p:sp>
        <p:nvSpPr>
          <p:cNvPr id="24" name="bl24"/>
          <p:cNvSpPr txBox="1"/>
          <p:nvPr/>
        </p:nvSpPr>
        <p:spPr>
          <a:xfrm>
            <a:off x="950000" y="3500000"/>
            <a:ext cx="475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Browse the tables with real rows in them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Run Q1 to Q8 with one click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Free SQL editor for questions on the spot</a:t>
            </a:r>
          </a:p>
        </p:txBody>
      </p:sp>
      <p:sp>
        <p:nvSpPr>
          <p:cNvPr id="30" name="rc30"/>
          <p:cNvSpPr/>
          <p:nvPr/>
        </p:nvSpPr>
        <p:spPr>
          <a:xfrm>
            <a:off x="6250000" y="2320000"/>
            <a:ext cx="5250000" cy="2400000"/>
          </a:xfrm>
          <a:prstGeom prst="roundRect">
            <a:avLst>
              <a:gd name="adj" fmla="val 6000"/>
            </a:avLst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6500000" y="2460000"/>
            <a:ext cx="47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50" b="1" dirty="0">
                <a:solidFill>
                  <a:srgbClr val="4FB59C"/>
                </a:solidFill>
                <a:latin typeface="Trebuchet MS"/>
              </a:rPr>
              <a:t>Neo4j Browser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6500000" y="288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F2EFE9"/>
                </a:solidFill>
                <a:latin typeface="Consolas"/>
              </a:rPr>
              <a:t>docker start nodecoin-neo4j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6500000" y="317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Consolas"/>
              </a:rPr>
              <a:t>localhost:7474</a:t>
            </a:r>
          </a:p>
        </p:txBody>
      </p:sp>
      <p:sp>
        <p:nvSpPr>
          <p:cNvPr id="34" name="bl34"/>
          <p:cNvSpPr txBox="1"/>
          <p:nvPr/>
        </p:nvSpPr>
        <p:spPr>
          <a:xfrm>
            <a:off x="6500000" y="3500000"/>
            <a:ext cx="475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graph itself, visual and clickable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Fund tracing as an actual traversal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clustering result on the graph</a:t>
            </a:r>
          </a:p>
        </p:txBody>
      </p:sp>
      <p:sp>
        <p:nvSpPr>
          <p:cNvPr id="40" name="rc40"/>
          <p:cNvSpPr/>
          <p:nvPr/>
        </p:nvSpPr>
        <p:spPr>
          <a:xfrm>
            <a:off x="700000" y="4950000"/>
            <a:ext cx="10800000" cy="900000"/>
          </a:xfrm>
          <a:prstGeom prst="roundRect">
            <a:avLst>
              <a:gd name="adj" fmla="val 6000"/>
            </a:avLst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41" name="tb41"/>
          <p:cNvSpPr txBox="1"/>
          <p:nvPr/>
        </p:nvSpPr>
        <p:spPr>
          <a:xfrm>
            <a:off x="950000" y="5080000"/>
            <a:ext cx="103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A8A29A"/>
                </a:solidFill>
                <a:latin typeface="Trebuchet MS"/>
              </a:rPr>
              <a:t>I also have an </a:t>
            </a: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interactive HTML page</a:t>
            </a:r>
            <a:r>
              <a:rPr lang="it-IT" sz="1300" b="0" dirty="0">
                <a:solidFill>
                  <a:srgbClr val="A8A29A"/>
                </a:solidFill>
                <a:latin typeface="Trebuchet MS"/>
              </a:rPr>
              <a:t> open locally: every query has a button that animates how each engine reaches the result.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NodeCoin">
  <a:themeElements>
    <a:clrScheme name="NodeCoin">
      <a:dk1>
        <a:srgbClr val="12100E"/>
      </a:dk1>
      <a:lt1>
        <a:srgbClr val="F2EFE9"/>
      </a:lt1>
      <a:dk2>
        <a:srgbClr val="1C1916"/>
      </a:dk2>
      <a:lt2>
        <a:srgbClr val="A8A29A"/>
      </a:lt2>
      <a:accent1>
        <a:srgbClr val="4FB59C"/>
      </a:accent1>
      <a:accent2>
        <a:srgbClr val="D9A441"/>
      </a:accent2>
      <a:accent3>
        <a:srgbClr val="8E9BA8"/>
      </a:accent3>
      <a:accent4>
        <a:srgbClr val="C85A4A"/>
      </a:accent4>
      <a:accent5>
        <a:srgbClr val="6E6862"/>
      </a:accent5>
      <a:accent6>
        <a:srgbClr val="34302B"/>
      </a:accent6>
      <a:hlink>
        <a:srgbClr val="4FB59C"/>
      </a:hlink>
      <a:folHlink>
        <a:srgbClr val="6E6862"/>
      </a:folHlink>
    </a:clrScheme>
    <a:fontScheme name="NodeCoin">
      <a:majorFont>
        <a:latin typeface="Georgia"/>
        <a:ea typeface=""/>
        <a:cs typeface=""/>
      </a:majorFont>
      <a:minorFont>
        <a:latin typeface="Trebuchet MS"/>
        <a:ea typeface=""/>
        <a:cs typeface=""/>
      </a:minorFont>
    </a:fontScheme>
    <a:fmtScheme name="NodeCoi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