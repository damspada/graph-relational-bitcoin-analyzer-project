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apienza_cover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hema_graph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chart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neo4j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queries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load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r2"/>
          <p:cNvSpPr/>
          <p:nvPr/>
        </p:nvSpPr>
        <p:spPr>
          <a:xfrm>
            <a:off x="0" y="0"/>
            <a:ext cx="12192000" cy="2743200"/>
          </a:xfrm>
          <a:prstGeom prst="rect">
            <a:avLst/>
          </a:prstGeom>
          <a:solidFill>
            <a:srgbClr val="C0CED9"/>
          </a:solidFill>
          <a:ln>
            <a:noFill/>
          </a:ln>
        </p:spPr>
        <p:txBody>
          <a:bodyPr/>
          <a:lstStyle/>
          <a:p/>
        </p:txBody>
      </p:sp>
      <p:pic>
        <p:nvPicPr>
          <p:cNvPr id="3" name="pic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3200"/>
            <a:ext cx="9144000" cy="4114800"/>
          </a:xfrm>
          <a:prstGeom prst="rect">
            <a:avLst/>
          </a:prstGeom>
        </p:spPr>
      </p:pic>
      <p:sp>
        <p:nvSpPr>
          <p:cNvPr id="4" name="sr4"/>
          <p:cNvSpPr/>
          <p:nvPr/>
        </p:nvSpPr>
        <p:spPr>
          <a:xfrm>
            <a:off x="9144000" y="2743200"/>
            <a:ext cx="3048000" cy="411480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b5"/>
          <p:cNvSpPr txBox="1"/>
          <p:nvPr/>
        </p:nvSpPr>
        <p:spPr>
          <a:xfrm>
            <a:off x="760000" y="560000"/>
            <a:ext cx="10672000" cy="9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4400" b="1" dirty="0">
                <a:solidFill>
                  <a:srgbClr val="822433"/>
                </a:solidFill>
                <a:latin typeface="Arial"/>
              </a:rPr>
              <a:t>NodeCoin</a:t>
            </a:r>
          </a:p>
        </p:txBody>
      </p:sp>
      <p:sp>
        <p:nvSpPr>
          <p:cNvPr id="6" name="tb6"/>
          <p:cNvSpPr txBox="1"/>
          <p:nvPr/>
        </p:nvSpPr>
        <p:spPr>
          <a:xfrm>
            <a:off x="760000" y="1450000"/>
            <a:ext cx="10672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200" b="1" dirty="0">
                <a:solidFill>
                  <a:srgbClr val="E07B00"/>
                </a:solidFill>
                <a:latin typeface="Arial"/>
              </a:rPr>
              <a:t>SQLite</a:t>
            </a:r>
            <a:r>
              <a:rPr lang="it-IT" sz="2200" b="0" dirty="0">
                <a:solidFill>
                  <a:srgbClr val="4A4A4A"/>
                </a:solidFill>
                <a:latin typeface="Arial"/>
              </a:rPr>
              <a:t>  vs  </a:t>
            </a:r>
            <a:r>
              <a:rPr lang="it-IT" sz="2200" b="1" dirty="0">
                <a:solidFill>
                  <a:srgbClr val="00838F"/>
                </a:solidFill>
                <a:latin typeface="Arial"/>
              </a:rPr>
              <a:t>Neo4j</a:t>
            </a:r>
            <a:r>
              <a:rPr lang="it-IT" sz="2200" b="0" dirty="0">
                <a:solidFill>
                  <a:srgbClr val="1F1F1F"/>
                </a:solidFill>
                <a:latin typeface="Arial"/>
              </a:rPr>
              <a:t>  on real Bitcoin data</a:t>
            </a:r>
          </a:p>
        </p:txBody>
      </p:sp>
      <p:sp>
        <p:nvSpPr>
          <p:cNvPr id="7" name="tb7"/>
          <p:cNvSpPr txBox="1"/>
          <p:nvPr/>
        </p:nvSpPr>
        <p:spPr>
          <a:xfrm>
            <a:off x="760000" y="2000000"/>
            <a:ext cx="106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0" dirty="0">
                <a:solidFill>
                  <a:srgbClr val="4A4A4A"/>
                </a:solidFill>
                <a:latin typeface="Arial"/>
              </a:rPr>
              <a:t>A relational and a graph database, compared on 977 blocks</a:t>
            </a:r>
          </a:p>
        </p:txBody>
      </p:sp>
      <p:sp>
        <p:nvSpPr>
          <p:cNvPr id="8" name="tb8"/>
          <p:cNvSpPr txBox="1"/>
          <p:nvPr/>
        </p:nvSpPr>
        <p:spPr>
          <a:xfrm>
            <a:off x="2347000" y="5000000"/>
            <a:ext cx="65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00" b="1" dirty="0">
                <a:solidFill>
                  <a:srgbClr val="FFFFFF"/>
                </a:solidFill>
                <a:latin typeface="Arial"/>
              </a:rPr>
              <a:t>Damiano Spadaccini  ·  1986173</a:t>
            </a:r>
          </a:p>
        </p:txBody>
      </p:sp>
      <p:sp>
        <p:nvSpPr>
          <p:cNvPr id="9" name="tb9"/>
          <p:cNvSpPr txBox="1"/>
          <p:nvPr/>
        </p:nvSpPr>
        <p:spPr>
          <a:xfrm>
            <a:off x="2347000" y="5450000"/>
            <a:ext cx="65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What this project is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2</a:t>
            </a:r>
          </a:p>
        </p:txBody>
      </p:sp>
      <p:sp>
        <p:nvSpPr>
          <p:cNvPr id="10" name="rc10"/>
          <p:cNvSpPr/>
          <p:nvPr/>
        </p:nvSpPr>
        <p:spPr>
          <a:xfrm>
            <a:off x="760000" y="1300000"/>
            <a:ext cx="10672000" cy="750000"/>
          </a:xfrm>
          <a:prstGeom prst="roundRect">
            <a:avLst>
              <a:gd name="adj" fmla="val 6000"/>
            </a:avLst>
          </a:prstGeom>
          <a:solidFill>
            <a:srgbClr val="822433">
              <a:alpha val="9000"/>
            </a:srgbClr>
          </a:solidFill>
          <a:ln w="12700">
            <a:solidFill>
              <a:srgbClr val="822433"/>
            </a:solidFill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1010000" y="1470000"/>
            <a:ext cx="10172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700" b="1" dirty="0">
                <a:solidFill>
                  <a:srgbClr val="1F1F1F"/>
                </a:solidFill>
                <a:latin typeface="Arial"/>
              </a:rPr>
              <a:t>Which queries, and at what scale, does a graph DB handle better than a relational DB?</a:t>
            </a:r>
          </a:p>
        </p:txBody>
      </p:sp>
      <p:sp>
        <p:nvSpPr>
          <p:cNvPr id="20" name="rc20"/>
          <p:cNvSpPr/>
          <p:nvPr/>
        </p:nvSpPr>
        <p:spPr>
          <a:xfrm>
            <a:off x="760000" y="2350000"/>
            <a:ext cx="2500000" cy="16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760000" y="2480000"/>
            <a:ext cx="25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4000" b="1" dirty="0">
                <a:solidFill>
                  <a:srgbClr val="E07B00"/>
                </a:solidFill>
                <a:latin typeface="Arial"/>
              </a:rPr>
              <a:t>1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760000" y="3250000"/>
            <a:ext cx="2500000" cy="3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600" b="1" dirty="0">
                <a:solidFill>
                  <a:srgbClr val="1F1F1F"/>
                </a:solidFill>
                <a:latin typeface="Arial"/>
              </a:rPr>
              <a:t>dataset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760000" y="3620000"/>
            <a:ext cx="25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977 real blocks</a:t>
            </a:r>
          </a:p>
        </p:txBody>
      </p:sp>
      <p:sp>
        <p:nvSpPr>
          <p:cNvPr id="24" name="rc24"/>
          <p:cNvSpPr/>
          <p:nvPr/>
        </p:nvSpPr>
        <p:spPr>
          <a:xfrm>
            <a:off x="3484000" y="2350000"/>
            <a:ext cx="2500000" cy="16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5" name="tb25"/>
          <p:cNvSpPr txBox="1"/>
          <p:nvPr/>
        </p:nvSpPr>
        <p:spPr>
          <a:xfrm>
            <a:off x="3484000" y="2480000"/>
            <a:ext cx="25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4000" b="1" dirty="0">
                <a:solidFill>
                  <a:srgbClr val="E07B00"/>
                </a:solidFill>
                <a:latin typeface="Arial"/>
              </a:rPr>
              <a:t>2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3484000" y="3250000"/>
            <a:ext cx="2500000" cy="3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600" b="1" dirty="0">
                <a:solidFill>
                  <a:srgbClr val="1F1F1F"/>
                </a:solidFill>
                <a:latin typeface="Arial"/>
              </a:rPr>
              <a:t>models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3484000" y="3620000"/>
            <a:ext cx="25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7 tables · 1 graph</a:t>
            </a:r>
          </a:p>
        </p:txBody>
      </p:sp>
      <p:sp>
        <p:nvSpPr>
          <p:cNvPr id="28" name="rc28"/>
          <p:cNvSpPr/>
          <p:nvPr/>
        </p:nvSpPr>
        <p:spPr>
          <a:xfrm>
            <a:off x="6208000" y="2350000"/>
            <a:ext cx="2500000" cy="16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9" name="tb29"/>
          <p:cNvSpPr txBox="1"/>
          <p:nvPr/>
        </p:nvSpPr>
        <p:spPr>
          <a:xfrm>
            <a:off x="6208000" y="2480000"/>
            <a:ext cx="25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4000" b="1" dirty="0">
                <a:solidFill>
                  <a:srgbClr val="00838F"/>
                </a:solidFill>
                <a:latin typeface="Arial"/>
              </a:rPr>
              <a:t>8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6208000" y="3250000"/>
            <a:ext cx="2500000" cy="3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600" b="1" dirty="0">
                <a:solidFill>
                  <a:srgbClr val="1F1F1F"/>
                </a:solidFill>
                <a:latin typeface="Arial"/>
              </a:rPr>
              <a:t>queries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6208000" y="3620000"/>
            <a:ext cx="25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SQL + Cypher</a:t>
            </a:r>
          </a:p>
        </p:txBody>
      </p:sp>
      <p:sp>
        <p:nvSpPr>
          <p:cNvPr id="32" name="rc32"/>
          <p:cNvSpPr/>
          <p:nvPr/>
        </p:nvSpPr>
        <p:spPr>
          <a:xfrm>
            <a:off x="8932000" y="2350000"/>
            <a:ext cx="2500000" cy="16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3" name="tb33"/>
          <p:cNvSpPr txBox="1"/>
          <p:nvPr/>
        </p:nvSpPr>
        <p:spPr>
          <a:xfrm>
            <a:off x="8932000" y="2480000"/>
            <a:ext cx="25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4000" b="1" dirty="0">
                <a:solidFill>
                  <a:srgbClr val="00838F"/>
                </a:solidFill>
                <a:latin typeface="Arial"/>
              </a:rPr>
              <a:t>4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8932000" y="3250000"/>
            <a:ext cx="2500000" cy="3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600" b="1" dirty="0">
                <a:solidFill>
                  <a:srgbClr val="1F1F1F"/>
                </a:solidFill>
                <a:latin typeface="Arial"/>
              </a:rPr>
              <a:t>sizes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8932000" y="3620000"/>
            <a:ext cx="25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same protocol</a:t>
            </a:r>
          </a:p>
        </p:txBody>
      </p:sp>
      <p:cxnSp>
        <p:nvCxnSpPr>
          <p:cNvPr id="40" name="ar40"/>
          <p:cNvCxnSpPr/>
          <p:nvPr/>
        </p:nvCxnSpPr>
        <p:spPr>
          <a:xfrm>
            <a:off x="6096000" y="4100000"/>
            <a:ext cx="0" cy="330000"/>
          </a:xfrm>
          <a:prstGeom prst="straightConnector1">
            <a:avLst/>
          </a:prstGeom>
          <a:ln w="19050">
            <a:solidFill>
              <a:srgbClr val="8A8A8A"/>
            </a:solidFill>
            <a:tailEnd type="triangle" w="med" len="med"/>
          </a:ln>
        </p:spPr>
      </p:cxnSp>
      <p:sp>
        <p:nvSpPr>
          <p:cNvPr id="41" name="rc41"/>
          <p:cNvSpPr/>
          <p:nvPr/>
        </p:nvSpPr>
        <p:spPr>
          <a:xfrm>
            <a:off x="2960000" y="4520000"/>
            <a:ext cx="6272000" cy="850000"/>
          </a:xfrm>
          <a:prstGeom prst="roundRect">
            <a:avLst>
              <a:gd name="adj" fmla="val 6000"/>
            </a:avLst>
          </a:prstGeom>
          <a:solidFill>
            <a:srgbClr val="00838F">
              <a:alpha val="12000"/>
            </a:srgbClr>
          </a:solidFill>
          <a:ln w="12700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42" name="tb42"/>
          <p:cNvSpPr txBox="1"/>
          <p:nvPr/>
        </p:nvSpPr>
        <p:spPr>
          <a:xfrm>
            <a:off x="2960000" y="4700000"/>
            <a:ext cx="6272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1F1F1F"/>
                </a:solidFill>
                <a:latin typeface="Arial"/>
              </a:rPr>
              <a:t>Neither model wins everywhere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How the data gets there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3</a:t>
            </a:r>
          </a:p>
        </p:txBody>
      </p:sp>
      <p:sp>
        <p:nvSpPr>
          <p:cNvPr id="10" name="sr10"/>
          <p:cNvSpPr/>
          <p:nvPr/>
        </p:nvSpPr>
        <p:spPr>
          <a:xfrm>
            <a:off x="760000" y="1300000"/>
            <a:ext cx="1878400" cy="8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760000" y="1400000"/>
            <a:ext cx="18784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1" dirty="0">
                <a:solidFill>
                  <a:srgbClr val="E07B00"/>
                </a:solidFill>
                <a:latin typeface="Arial"/>
              </a:rPr>
              <a:t>1  PARSE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760000" y="1720000"/>
            <a:ext cx="18784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1F1F1F"/>
                </a:solidFill>
                <a:latin typeface="Arial"/>
              </a:rPr>
              <a:t>.blk → JSONL</a:t>
            </a:r>
          </a:p>
        </p:txBody>
      </p:sp>
      <p:cxnSp>
        <p:nvCxnSpPr>
          <p:cNvPr id="13" name="ar13"/>
          <p:cNvCxnSpPr/>
          <p:nvPr/>
        </p:nvCxnSpPr>
        <p:spPr>
          <a:xfrm>
            <a:off x="2688400" y="1725000"/>
            <a:ext cx="220000" cy="0"/>
          </a:xfrm>
          <a:prstGeom prst="straightConnector1">
            <a:avLst/>
          </a:prstGeom>
          <a:ln w="19050">
            <a:solidFill>
              <a:srgbClr val="8A8A8A"/>
            </a:solidFill>
            <a:tailEnd type="triangle" w="med" len="med"/>
          </a:ln>
        </p:spPr>
      </p:cxnSp>
      <p:sp>
        <p:nvSpPr>
          <p:cNvPr id="14" name="sr14"/>
          <p:cNvSpPr/>
          <p:nvPr/>
        </p:nvSpPr>
        <p:spPr>
          <a:xfrm>
            <a:off x="2958400" y="1300000"/>
            <a:ext cx="1878400" cy="8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5" name="tb15"/>
          <p:cNvSpPr txBox="1"/>
          <p:nvPr/>
        </p:nvSpPr>
        <p:spPr>
          <a:xfrm>
            <a:off x="2958400" y="1400000"/>
            <a:ext cx="18784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1" dirty="0">
                <a:solidFill>
                  <a:srgbClr val="E07B00"/>
                </a:solidFill>
                <a:latin typeface="Arial"/>
              </a:rPr>
              <a:t>2  LOAD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2958400" y="1720000"/>
            <a:ext cx="18784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1F1F1F"/>
                </a:solidFill>
                <a:latin typeface="Arial"/>
              </a:rPr>
              <a:t>1 file → 2 DBs</a:t>
            </a:r>
          </a:p>
        </p:txBody>
      </p:sp>
      <p:cxnSp>
        <p:nvCxnSpPr>
          <p:cNvPr id="17" name="ar17"/>
          <p:cNvCxnSpPr/>
          <p:nvPr/>
        </p:nvCxnSpPr>
        <p:spPr>
          <a:xfrm>
            <a:off x="4886800" y="1725000"/>
            <a:ext cx="220000" cy="0"/>
          </a:xfrm>
          <a:prstGeom prst="straightConnector1">
            <a:avLst/>
          </a:prstGeom>
          <a:ln w="19050">
            <a:solidFill>
              <a:srgbClr val="8A8A8A"/>
            </a:solidFill>
            <a:tailEnd type="triangle" w="med" len="med"/>
          </a:ln>
        </p:spPr>
      </p:cxnSp>
      <p:sp>
        <p:nvSpPr>
          <p:cNvPr id="18" name="sr18"/>
          <p:cNvSpPr/>
          <p:nvPr/>
        </p:nvSpPr>
        <p:spPr>
          <a:xfrm>
            <a:off x="5156800" y="1300000"/>
            <a:ext cx="1878400" cy="8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7F8C8D"/>
            </a:solidFill>
          </a:ln>
        </p:spPr>
        <p:txBody>
          <a:bodyPr/>
          <a:lstStyle/>
          <a:p/>
        </p:txBody>
      </p:sp>
      <p:sp>
        <p:nvSpPr>
          <p:cNvPr id="19" name="tb19"/>
          <p:cNvSpPr txBox="1"/>
          <p:nvPr/>
        </p:nvSpPr>
        <p:spPr>
          <a:xfrm>
            <a:off x="5156800" y="1400000"/>
            <a:ext cx="18784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1" dirty="0">
                <a:solidFill>
                  <a:srgbClr val="7F8C8D"/>
                </a:solidFill>
                <a:latin typeface="Arial"/>
              </a:rPr>
              <a:t>3  CHECK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5156800" y="1720000"/>
            <a:ext cx="18784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1F1F1F"/>
                </a:solidFill>
                <a:latin typeface="Arial"/>
              </a:rPr>
              <a:t>16 metrics match</a:t>
            </a:r>
          </a:p>
        </p:txBody>
      </p:sp>
      <p:cxnSp>
        <p:nvCxnSpPr>
          <p:cNvPr id="21" name="ar21"/>
          <p:cNvCxnSpPr/>
          <p:nvPr/>
        </p:nvCxnSpPr>
        <p:spPr>
          <a:xfrm>
            <a:off x="7085200" y="1725000"/>
            <a:ext cx="220000" cy="0"/>
          </a:xfrm>
          <a:prstGeom prst="straightConnector1">
            <a:avLst/>
          </a:prstGeom>
          <a:ln w="19050">
            <a:solidFill>
              <a:srgbClr val="8A8A8A"/>
            </a:solidFill>
            <a:tailEnd type="triangle" w="med" len="med"/>
          </a:ln>
        </p:spPr>
      </p:cxnSp>
      <p:sp>
        <p:nvSpPr>
          <p:cNvPr id="22" name="sr22"/>
          <p:cNvSpPr/>
          <p:nvPr/>
        </p:nvSpPr>
        <p:spPr>
          <a:xfrm>
            <a:off x="7355200" y="1300000"/>
            <a:ext cx="1878400" cy="8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23" name="tb23"/>
          <p:cNvSpPr txBox="1"/>
          <p:nvPr/>
        </p:nvSpPr>
        <p:spPr>
          <a:xfrm>
            <a:off x="7355200" y="1400000"/>
            <a:ext cx="18784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1" dirty="0">
                <a:solidFill>
                  <a:srgbClr val="00838F"/>
                </a:solidFill>
                <a:latin typeface="Arial"/>
              </a:rPr>
              <a:t>4  CLUSTER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7355200" y="1720000"/>
            <a:ext cx="18784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1F1F1F"/>
                </a:solidFill>
                <a:latin typeface="Arial"/>
              </a:rPr>
              <a:t>addresses → wallets</a:t>
            </a:r>
          </a:p>
        </p:txBody>
      </p:sp>
      <p:cxnSp>
        <p:nvCxnSpPr>
          <p:cNvPr id="25" name="ar25"/>
          <p:cNvCxnSpPr/>
          <p:nvPr/>
        </p:nvCxnSpPr>
        <p:spPr>
          <a:xfrm>
            <a:off x="9283600" y="1725000"/>
            <a:ext cx="220000" cy="0"/>
          </a:xfrm>
          <a:prstGeom prst="straightConnector1">
            <a:avLst/>
          </a:prstGeom>
          <a:ln w="19050">
            <a:solidFill>
              <a:srgbClr val="8A8A8A"/>
            </a:solidFill>
            <a:tailEnd type="triangle" w="med" len="med"/>
          </a:ln>
        </p:spPr>
      </p:cxnSp>
      <p:sp>
        <p:nvSpPr>
          <p:cNvPr id="26" name="sr26"/>
          <p:cNvSpPr/>
          <p:nvPr/>
        </p:nvSpPr>
        <p:spPr>
          <a:xfrm>
            <a:off x="9553600" y="1300000"/>
            <a:ext cx="1878400" cy="8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27" name="tb27"/>
          <p:cNvSpPr txBox="1"/>
          <p:nvPr/>
        </p:nvSpPr>
        <p:spPr>
          <a:xfrm>
            <a:off x="9553600" y="1400000"/>
            <a:ext cx="18784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1" dirty="0">
                <a:solidFill>
                  <a:srgbClr val="00838F"/>
                </a:solidFill>
                <a:latin typeface="Arial"/>
              </a:rPr>
              <a:t>5  MEASURE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9553600" y="1720000"/>
            <a:ext cx="18784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1F1F1F"/>
                </a:solidFill>
                <a:latin typeface="Arial"/>
              </a:rPr>
              <a:t>8 queries × 2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2400000"/>
            <a:ext cx="1067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8A8A8A"/>
                </a:solidFill>
                <a:latin typeface="Arial"/>
              </a:rPr>
              <a:t>THE DATASET   ·   one week of the real chain, 13-20 May 2026</a:t>
            </a:r>
          </a:p>
        </p:txBody>
      </p:sp>
      <p:sp>
        <p:nvSpPr>
          <p:cNvPr id="41" name="rc41"/>
          <p:cNvSpPr/>
          <p:nvPr/>
        </p:nvSpPr>
        <p:spPr>
          <a:xfrm>
            <a:off x="760000" y="2730000"/>
            <a:ext cx="2500000" cy="11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42" name="tb42"/>
          <p:cNvSpPr txBox="1"/>
          <p:nvPr/>
        </p:nvSpPr>
        <p:spPr>
          <a:xfrm>
            <a:off x="760000" y="2830000"/>
            <a:ext cx="25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800" b="1" dirty="0">
                <a:solidFill>
                  <a:srgbClr val="822433"/>
                </a:solidFill>
                <a:latin typeface="Arial"/>
              </a:rPr>
              <a:t>977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60000" y="3400000"/>
            <a:ext cx="2500000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4A4A4A"/>
                </a:solidFill>
                <a:latin typeface="Arial"/>
              </a:rPr>
              <a:t>blocks</a:t>
            </a:r>
          </a:p>
        </p:txBody>
      </p:sp>
      <p:sp>
        <p:nvSpPr>
          <p:cNvPr id="44" name="rc44"/>
          <p:cNvSpPr/>
          <p:nvPr/>
        </p:nvSpPr>
        <p:spPr>
          <a:xfrm>
            <a:off x="3484000" y="2730000"/>
            <a:ext cx="2500000" cy="11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45" name="tb45"/>
          <p:cNvSpPr txBox="1"/>
          <p:nvPr/>
        </p:nvSpPr>
        <p:spPr>
          <a:xfrm>
            <a:off x="3484000" y="2830000"/>
            <a:ext cx="25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800" b="1" dirty="0">
                <a:solidFill>
                  <a:srgbClr val="822433"/>
                </a:solidFill>
                <a:latin typeface="Arial"/>
              </a:rPr>
              <a:t>4.31 M</a:t>
            </a:r>
          </a:p>
        </p:txBody>
      </p:sp>
      <p:sp>
        <p:nvSpPr>
          <p:cNvPr id="46" name="tb46"/>
          <p:cNvSpPr txBox="1"/>
          <p:nvPr/>
        </p:nvSpPr>
        <p:spPr>
          <a:xfrm>
            <a:off x="3484000" y="3400000"/>
            <a:ext cx="2500000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4A4A4A"/>
                </a:solidFill>
                <a:latin typeface="Arial"/>
              </a:rPr>
              <a:t>transactions</a:t>
            </a:r>
          </a:p>
        </p:txBody>
      </p:sp>
      <p:sp>
        <p:nvSpPr>
          <p:cNvPr id="47" name="rc47"/>
          <p:cNvSpPr/>
          <p:nvPr/>
        </p:nvSpPr>
        <p:spPr>
          <a:xfrm>
            <a:off x="6208000" y="2730000"/>
            <a:ext cx="2500000" cy="11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48" name="tb48"/>
          <p:cNvSpPr txBox="1"/>
          <p:nvPr/>
        </p:nvSpPr>
        <p:spPr>
          <a:xfrm>
            <a:off x="6208000" y="2830000"/>
            <a:ext cx="25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800" b="1" dirty="0">
                <a:solidFill>
                  <a:srgbClr val="822433"/>
                </a:solidFill>
                <a:latin typeface="Arial"/>
              </a:rPr>
              <a:t>9.89 M</a:t>
            </a:r>
          </a:p>
        </p:txBody>
      </p:sp>
      <p:sp>
        <p:nvSpPr>
          <p:cNvPr id="49" name="tb49"/>
          <p:cNvSpPr txBox="1"/>
          <p:nvPr/>
        </p:nvSpPr>
        <p:spPr>
          <a:xfrm>
            <a:off x="6208000" y="3400000"/>
            <a:ext cx="2500000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4A4A4A"/>
                </a:solidFill>
                <a:latin typeface="Arial"/>
              </a:rPr>
              <a:t>outputs</a:t>
            </a:r>
          </a:p>
        </p:txBody>
      </p:sp>
      <p:sp>
        <p:nvSpPr>
          <p:cNvPr id="50" name="rc50"/>
          <p:cNvSpPr/>
          <p:nvPr/>
        </p:nvSpPr>
        <p:spPr>
          <a:xfrm>
            <a:off x="8932000" y="2730000"/>
            <a:ext cx="2500000" cy="11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51" name="tb51"/>
          <p:cNvSpPr txBox="1"/>
          <p:nvPr/>
        </p:nvSpPr>
        <p:spPr>
          <a:xfrm>
            <a:off x="8932000" y="2830000"/>
            <a:ext cx="25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800" b="1" dirty="0">
                <a:solidFill>
                  <a:srgbClr val="822433"/>
                </a:solidFill>
                <a:latin typeface="Arial"/>
              </a:rPr>
              <a:t>2.55 M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8932000" y="3400000"/>
            <a:ext cx="2500000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0" dirty="0">
                <a:solidFill>
                  <a:srgbClr val="4A4A4A"/>
                </a:solidFill>
                <a:latin typeface="Arial"/>
              </a:rPr>
              <a:t>addresses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60000" y="4050000"/>
            <a:ext cx="1067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8A8A8A"/>
                </a:solidFill>
                <a:latin typeface="Arial"/>
              </a:rPr>
              <a:t>THE JSONL FILE   ·   one line = one block</a:t>
            </a:r>
          </a:p>
        </p:txBody>
      </p:sp>
      <p:sp>
        <p:nvSpPr>
          <p:cNvPr id="61" name="sr61"/>
          <p:cNvSpPr/>
          <p:nvPr/>
        </p:nvSpPr>
        <p:spPr>
          <a:xfrm>
            <a:off x="760000" y="4350000"/>
            <a:ext cx="10672000" cy="14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62" name="tb62"/>
          <p:cNvSpPr txBox="1"/>
          <p:nvPr/>
        </p:nvSpPr>
        <p:spPr>
          <a:xfrm>
            <a:off x="960000" y="4450000"/>
            <a:ext cx="7372000" cy="1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950" b="0" dirty="0">
                <a:solidFill>
                  <a:srgbClr val="4A4A4A"/>
                </a:solidFill>
                <a:latin typeface="Consolas"/>
              </a:rPr>
              <a:t>{"hash": "0000…12c3", "prev_hash": "0000…e871", "timestamp": 1778693452,</a:t>
            </a:r>
          </a:p>
          <a:p>
            <a:pPr algn="l">
              <a:lnSpc>
                <a:spcPct val="115000"/>
              </a:lnSpc>
            </a:pPr>
            <a:r>
              <a:rPr lang="it-IT" sz="950" b="0" dirty="0">
                <a:solidFill>
                  <a:srgbClr val="4A4A4A"/>
                </a:solidFill>
                <a:latin typeface="Consolas"/>
              </a:rPr>
              <a:t> "transactions": [</a:t>
            </a:r>
          </a:p>
          <a:p>
            <a:pPr algn="l">
              <a:lnSpc>
                <a:spcPct val="115000"/>
              </a:lnSpc>
            </a:pPr>
            <a:r>
              <a:rPr lang="it-IT" sz="950" b="0" dirty="0">
                <a:solidFill>
                  <a:srgbClr val="4A4A4A"/>
                </a:solidFill>
                <a:latin typeface="Consolas"/>
              </a:rPr>
              <a:t>   {"txid": "4013…0b01", "size": 315,</a:t>
            </a:r>
          </a:p>
          <a:p>
            <a:pPr algn="l">
              <a:lnSpc>
                <a:spcPct val="115000"/>
              </a:lnSpc>
            </a:pPr>
            <a:r>
              <a:rPr lang="it-IT" sz="950" b="1" dirty="0">
                <a:solidFill>
                  <a:srgbClr val="1F1F1F"/>
                </a:solidFill>
                <a:latin typeface="Consolas"/>
              </a:rPr>
              <a:t>    "inputs":  [{"prev_txid": "f6fd…8a61", "prev_index": 3}],</a:t>
            </a:r>
          </a:p>
          <a:p>
            <a:pPr algn="l">
              <a:lnSpc>
                <a:spcPct val="115000"/>
              </a:lnSpc>
            </a:pPr>
            <a:r>
              <a:rPr lang="it-IT" sz="950" b="0" dirty="0">
                <a:solidFill>
                  <a:srgbClr val="4A4A4A"/>
                </a:solidFill>
                <a:latin typeface="Consolas"/>
              </a:rPr>
              <a:t>    "outputs": [{"index": 0, "address": "bc1qs6e7…py4dy", "value": 133608}, …]},</a:t>
            </a:r>
          </a:p>
          <a:p>
            <a:pPr algn="l">
              <a:lnSpc>
                <a:spcPct val="115000"/>
              </a:lnSpc>
            </a:pPr>
            <a:r>
              <a:rPr lang="it-IT" sz="950" b="0" dirty="0">
                <a:solidFill>
                  <a:srgbClr val="4A4A4A"/>
                </a:solidFill>
                <a:latin typeface="Consolas"/>
              </a:rPr>
              <a:t>   … ]}</a:t>
            </a:r>
          </a:p>
        </p:txBody>
      </p:sp>
      <p:sp>
        <p:nvSpPr>
          <p:cNvPr id="63" name="tb63"/>
          <p:cNvSpPr txBox="1"/>
          <p:nvPr/>
        </p:nvSpPr>
        <p:spPr>
          <a:xfrm>
            <a:off x="8532000" y="4700000"/>
            <a:ext cx="27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050" b="1" dirty="0">
                <a:solidFill>
                  <a:srgbClr val="1F1F1F"/>
                </a:solidFill>
                <a:latin typeface="Arial"/>
              </a:rPr>
              <a:t>prev_txid + prev_index</a:t>
            </a:r>
          </a:p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the link to the spent output</a:t>
            </a:r>
          </a:p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→ SPENDS in the graph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Same domain, two models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4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60000" y="1230000"/>
            <a:ext cx="52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1" dirty="0">
                <a:solidFill>
                  <a:srgbClr val="E07B00"/>
                </a:solidFill>
                <a:latin typeface="Arial"/>
              </a:rPr>
              <a:t>SQLite</a:t>
            </a:r>
            <a:r>
              <a:rPr lang="it-IT" sz="1350" b="0" dirty="0">
                <a:solidFill>
                  <a:srgbClr val="4A4A4A"/>
                </a:solidFill>
                <a:latin typeface="Arial"/>
              </a:rPr>
              <a:t>  ·  7 tables      </a:t>
            </a:r>
            <a:r>
              <a:rPr lang="it-IT" sz="1350" b="1" dirty="0">
                <a:solidFill>
                  <a:srgbClr val="E07B00"/>
                </a:solidFill>
                <a:latin typeface="Arial"/>
              </a:rPr>
              <a:t>PK</a:t>
            </a:r>
            <a:r>
              <a:rPr lang="it-IT" sz="1350" b="0" dirty="0">
                <a:solidFill>
                  <a:srgbClr val="8A8A8A"/>
                </a:solidFill>
                <a:latin typeface="Arial"/>
              </a:rPr>
              <a:t> primary key   </a:t>
            </a:r>
            <a:r>
              <a:rPr lang="it-IT" sz="1350" b="1" dirty="0">
                <a:solidFill>
                  <a:srgbClr val="E07B00"/>
                </a:solidFill>
                <a:latin typeface="Arial"/>
              </a:rPr>
              <a:t>FK</a:t>
            </a:r>
            <a:r>
              <a:rPr lang="it-IT" sz="1350" b="0" dirty="0">
                <a:solidFill>
                  <a:srgbClr val="8A8A8A"/>
                </a:solidFill>
                <a:latin typeface="Arial"/>
              </a:rPr>
              <a:t> foreign key</a:t>
            </a:r>
          </a:p>
        </p:txBody>
      </p:sp>
      <p:sp>
        <p:nvSpPr>
          <p:cNvPr id="11" name="sr11"/>
          <p:cNvSpPr/>
          <p:nvPr/>
        </p:nvSpPr>
        <p:spPr>
          <a:xfrm>
            <a:off x="760000" y="1580000"/>
            <a:ext cx="1680000" cy="250000"/>
          </a:xfrm>
          <a:prstGeom prst="rect">
            <a:avLst/>
          </a:prstGeom>
          <a:solidFill>
            <a:srgbClr val="E07B00">
              <a:alpha val="22000"/>
            </a:srgbClr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820000" y="160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E07B00"/>
                </a:solidFill>
                <a:latin typeface="Consolas"/>
              </a:rPr>
              <a:t>blocks</a:t>
            </a:r>
          </a:p>
        </p:txBody>
      </p:sp>
      <p:sp>
        <p:nvSpPr>
          <p:cNvPr id="13" name="sr13"/>
          <p:cNvSpPr/>
          <p:nvPr/>
        </p:nvSpPr>
        <p:spPr>
          <a:xfrm>
            <a:off x="760000" y="1830000"/>
            <a:ext cx="1680000" cy="60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4" name="tb14"/>
          <p:cNvSpPr txBox="1"/>
          <p:nvPr/>
        </p:nvSpPr>
        <p:spPr>
          <a:xfrm>
            <a:off x="820000" y="1860000"/>
            <a:ext cx="1560000" cy="5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hash          PK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prev_hash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timestamp</a:t>
            </a:r>
          </a:p>
        </p:txBody>
      </p:sp>
      <p:sp>
        <p:nvSpPr>
          <p:cNvPr id="15" name="sr15"/>
          <p:cNvSpPr/>
          <p:nvPr/>
        </p:nvSpPr>
        <p:spPr>
          <a:xfrm>
            <a:off x="760000" y="2510000"/>
            <a:ext cx="1680000" cy="250000"/>
          </a:xfrm>
          <a:prstGeom prst="rect">
            <a:avLst/>
          </a:prstGeom>
          <a:solidFill>
            <a:srgbClr val="E07B00">
              <a:alpha val="22000"/>
            </a:srgbClr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820000" y="253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E07B00"/>
                </a:solidFill>
                <a:latin typeface="Consolas"/>
              </a:rPr>
              <a:t>addresses</a:t>
            </a:r>
          </a:p>
        </p:txBody>
      </p:sp>
      <p:sp>
        <p:nvSpPr>
          <p:cNvPr id="17" name="sr17"/>
          <p:cNvSpPr/>
          <p:nvPr/>
        </p:nvSpPr>
        <p:spPr>
          <a:xfrm>
            <a:off x="760000" y="2760000"/>
            <a:ext cx="1680000" cy="28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8" name="tb18"/>
          <p:cNvSpPr txBox="1"/>
          <p:nvPr/>
        </p:nvSpPr>
        <p:spPr>
          <a:xfrm>
            <a:off x="820000" y="2790000"/>
            <a:ext cx="1560000" cy="2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address       PK</a:t>
            </a:r>
          </a:p>
        </p:txBody>
      </p:sp>
      <p:sp>
        <p:nvSpPr>
          <p:cNvPr id="19" name="sr19"/>
          <p:cNvSpPr/>
          <p:nvPr/>
        </p:nvSpPr>
        <p:spPr>
          <a:xfrm>
            <a:off x="760000" y="3120000"/>
            <a:ext cx="1680000" cy="250000"/>
          </a:xfrm>
          <a:prstGeom prst="rect">
            <a:avLst/>
          </a:prstGeom>
          <a:solidFill>
            <a:srgbClr val="7F8C8D">
              <a:alpha val="22000"/>
            </a:srgbClr>
          </a:solidFill>
          <a:ln w="9525">
            <a:solidFill>
              <a:srgbClr val="7F8C8D"/>
            </a:solidFill>
          </a:ln>
        </p:spPr>
        <p:txBody>
          <a:bodyPr/>
          <a:lstStyle/>
          <a:p/>
        </p:txBody>
      </p:sp>
      <p:sp>
        <p:nvSpPr>
          <p:cNvPr id="20" name="tb20"/>
          <p:cNvSpPr txBox="1"/>
          <p:nvPr/>
        </p:nvSpPr>
        <p:spPr>
          <a:xfrm>
            <a:off x="820000" y="314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7F8C8D"/>
                </a:solidFill>
                <a:latin typeface="Consolas"/>
              </a:rPr>
              <a:t>price_history</a:t>
            </a:r>
          </a:p>
        </p:txBody>
      </p:sp>
      <p:sp>
        <p:nvSpPr>
          <p:cNvPr id="21" name="sr21"/>
          <p:cNvSpPr/>
          <p:nvPr/>
        </p:nvSpPr>
        <p:spPr>
          <a:xfrm>
            <a:off x="760000" y="3370000"/>
            <a:ext cx="1680000" cy="44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820000" y="3400000"/>
            <a:ext cx="156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date_unix     PK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price_usd</a:t>
            </a:r>
          </a:p>
        </p:txBody>
      </p:sp>
      <p:sp>
        <p:nvSpPr>
          <p:cNvPr id="23" name="sr23"/>
          <p:cNvSpPr/>
          <p:nvPr/>
        </p:nvSpPr>
        <p:spPr>
          <a:xfrm>
            <a:off x="2510000" y="1580000"/>
            <a:ext cx="1680000" cy="250000"/>
          </a:xfrm>
          <a:prstGeom prst="rect">
            <a:avLst/>
          </a:prstGeom>
          <a:solidFill>
            <a:srgbClr val="E07B00">
              <a:alpha val="22000"/>
            </a:srgbClr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24" name="tb24"/>
          <p:cNvSpPr txBox="1"/>
          <p:nvPr/>
        </p:nvSpPr>
        <p:spPr>
          <a:xfrm>
            <a:off x="2570000" y="160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E07B00"/>
                </a:solidFill>
                <a:latin typeface="Consolas"/>
              </a:rPr>
              <a:t>transactions</a:t>
            </a:r>
          </a:p>
        </p:txBody>
      </p:sp>
      <p:sp>
        <p:nvSpPr>
          <p:cNvPr id="25" name="sr25"/>
          <p:cNvSpPr/>
          <p:nvPr/>
        </p:nvSpPr>
        <p:spPr>
          <a:xfrm>
            <a:off x="2510000" y="1830000"/>
            <a:ext cx="1680000" cy="60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6" name="tb26"/>
          <p:cNvSpPr txBox="1"/>
          <p:nvPr/>
        </p:nvSpPr>
        <p:spPr>
          <a:xfrm>
            <a:off x="2570000" y="1860000"/>
            <a:ext cx="1560000" cy="5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txid          PK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block_hash    FK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size</a:t>
            </a:r>
          </a:p>
        </p:txBody>
      </p:sp>
      <p:sp>
        <p:nvSpPr>
          <p:cNvPr id="27" name="sr27"/>
          <p:cNvSpPr/>
          <p:nvPr/>
        </p:nvSpPr>
        <p:spPr>
          <a:xfrm>
            <a:off x="2510000" y="2510000"/>
            <a:ext cx="1680000" cy="250000"/>
          </a:xfrm>
          <a:prstGeom prst="rect">
            <a:avLst/>
          </a:prstGeom>
          <a:solidFill>
            <a:srgbClr val="E07B00">
              <a:alpha val="22000"/>
            </a:srgbClr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28" name="tb28"/>
          <p:cNvSpPr txBox="1"/>
          <p:nvPr/>
        </p:nvSpPr>
        <p:spPr>
          <a:xfrm>
            <a:off x="2570000" y="253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E07B00"/>
                </a:solidFill>
                <a:latin typeface="Consolas"/>
              </a:rPr>
              <a:t>tx_outputs</a:t>
            </a:r>
          </a:p>
        </p:txBody>
      </p:sp>
      <p:sp>
        <p:nvSpPr>
          <p:cNvPr id="29" name="sr29"/>
          <p:cNvSpPr/>
          <p:nvPr/>
        </p:nvSpPr>
        <p:spPr>
          <a:xfrm>
            <a:off x="2510000" y="2760000"/>
            <a:ext cx="1680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0" name="tb30"/>
          <p:cNvSpPr txBox="1"/>
          <p:nvPr/>
        </p:nvSpPr>
        <p:spPr>
          <a:xfrm>
            <a:off x="2570000" y="2790000"/>
            <a:ext cx="1560000" cy="7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txid          PK FK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output_index  PK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address       FK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value</a:t>
            </a:r>
          </a:p>
        </p:txBody>
      </p:sp>
      <p:sp>
        <p:nvSpPr>
          <p:cNvPr id="31" name="sr31"/>
          <p:cNvSpPr/>
          <p:nvPr/>
        </p:nvSpPr>
        <p:spPr>
          <a:xfrm>
            <a:off x="4260000" y="1580000"/>
            <a:ext cx="1680000" cy="250000"/>
          </a:xfrm>
          <a:prstGeom prst="rect">
            <a:avLst/>
          </a:prstGeom>
          <a:solidFill>
            <a:srgbClr val="E07B00">
              <a:alpha val="22000"/>
            </a:srgbClr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32" name="tb32"/>
          <p:cNvSpPr txBox="1"/>
          <p:nvPr/>
        </p:nvSpPr>
        <p:spPr>
          <a:xfrm>
            <a:off x="4320000" y="160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E07B00"/>
                </a:solidFill>
                <a:latin typeface="Consolas"/>
              </a:rPr>
              <a:t>tx_inputs</a:t>
            </a:r>
          </a:p>
        </p:txBody>
      </p:sp>
      <p:sp>
        <p:nvSpPr>
          <p:cNvPr id="33" name="sr33"/>
          <p:cNvSpPr/>
          <p:nvPr/>
        </p:nvSpPr>
        <p:spPr>
          <a:xfrm>
            <a:off x="4260000" y="1830000"/>
            <a:ext cx="1680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4" name="tb34"/>
          <p:cNvSpPr txBox="1"/>
          <p:nvPr/>
        </p:nvSpPr>
        <p:spPr>
          <a:xfrm>
            <a:off x="4320000" y="1860000"/>
            <a:ext cx="1560000" cy="7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txid          PK FK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input_index   PK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prev_txid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prev_output_index</a:t>
            </a:r>
          </a:p>
        </p:txBody>
      </p:sp>
      <p:sp>
        <p:nvSpPr>
          <p:cNvPr id="35" name="sr35"/>
          <p:cNvSpPr/>
          <p:nvPr/>
        </p:nvSpPr>
        <p:spPr>
          <a:xfrm>
            <a:off x="4260000" y="2670000"/>
            <a:ext cx="1680000" cy="250000"/>
          </a:xfrm>
          <a:prstGeom prst="rect">
            <a:avLst/>
          </a:prstGeom>
          <a:solidFill>
            <a:srgbClr val="7F8C8D">
              <a:alpha val="22000"/>
            </a:srgbClr>
          </a:solidFill>
          <a:ln w="9525">
            <a:solidFill>
              <a:srgbClr val="7F8C8D"/>
            </a:solidFill>
          </a:ln>
        </p:spPr>
        <p:txBody>
          <a:bodyPr/>
          <a:lstStyle/>
          <a:p/>
        </p:txBody>
      </p:sp>
      <p:sp>
        <p:nvSpPr>
          <p:cNvPr id="36" name="tb36"/>
          <p:cNvSpPr txBox="1"/>
          <p:nvPr/>
        </p:nvSpPr>
        <p:spPr>
          <a:xfrm>
            <a:off x="4320000" y="269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7F8C8D"/>
                </a:solidFill>
                <a:latin typeface="Consolas"/>
              </a:rPr>
              <a:t>address_clusters</a:t>
            </a:r>
          </a:p>
        </p:txBody>
      </p:sp>
      <p:sp>
        <p:nvSpPr>
          <p:cNvPr id="37" name="sr37"/>
          <p:cNvSpPr/>
          <p:nvPr/>
        </p:nvSpPr>
        <p:spPr>
          <a:xfrm>
            <a:off x="4260000" y="2920000"/>
            <a:ext cx="1680000" cy="44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8" name="tb38"/>
          <p:cNvSpPr txBox="1"/>
          <p:nvPr/>
        </p:nvSpPr>
        <p:spPr>
          <a:xfrm>
            <a:off x="4320000" y="2950000"/>
            <a:ext cx="156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address    PK FK</a:t>
            </a:r>
          </a:p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4A4A4A"/>
                </a:solidFill>
                <a:latin typeface="Consolas"/>
              </a:rPr>
              <a:t>cluster_id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3930000"/>
            <a:ext cx="5200000" cy="5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it-IT" sz="1000" b="1" dirty="0">
                <a:solidFill>
                  <a:srgbClr val="1F1F1F"/>
                </a:solidFill>
                <a:latin typeface="Arial"/>
              </a:rPr>
              <a:t>address_clusters</a:t>
            </a:r>
            <a:r>
              <a:rPr lang="it-IT" sz="1000" b="0" dirty="0">
                <a:solidFill>
                  <a:srgbClr val="4A4A4A"/>
                </a:solidFill>
                <a:latin typeface="Arial"/>
              </a:rPr>
              <a:t>  written by the clustering</a:t>
            </a:r>
          </a:p>
          <a:p>
            <a:pPr algn="l">
              <a:lnSpc>
                <a:spcPct val="130000"/>
              </a:lnSpc>
            </a:pPr>
            <a:r>
              <a:rPr lang="it-IT" sz="1000" b="1" dirty="0">
                <a:solidFill>
                  <a:srgbClr val="1F1F1F"/>
                </a:solidFill>
                <a:latin typeface="Arial"/>
              </a:rPr>
              <a:t>price_history</a:t>
            </a:r>
            <a:r>
              <a:rPr lang="it-IT" sz="1000" b="0" dirty="0">
                <a:solidFill>
                  <a:srgbClr val="4A4A4A"/>
                </a:solidFill>
                <a:latin typeface="Arial"/>
              </a:rPr>
              <a:t>  external source, joined by date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6150000" y="1230000"/>
            <a:ext cx="528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1" dirty="0">
                <a:solidFill>
                  <a:srgbClr val="00838F"/>
                </a:solidFill>
                <a:latin typeface="Arial"/>
              </a:rPr>
              <a:t>Neo4j</a:t>
            </a:r>
            <a:r>
              <a:rPr lang="it-IT" sz="1350" b="0" dirty="0">
                <a:solidFill>
                  <a:srgbClr val="4A4A4A"/>
                </a:solidFill>
                <a:latin typeface="Arial"/>
              </a:rPr>
              <a:t>  ·  6 node types, 7 relationships</a:t>
            </a:r>
          </a:p>
        </p:txBody>
      </p:sp>
      <p:pic>
        <p:nvPicPr>
          <p:cNvPr id="51" name="pic5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000" y="1580000"/>
            <a:ext cx="5280000" cy="2220000"/>
          </a:xfrm>
          <a:prstGeom prst="rect">
            <a:avLst/>
          </a:prstGeom>
        </p:spPr>
      </p:pic>
      <p:sp>
        <p:nvSpPr>
          <p:cNvPr id="52" name="tb52"/>
          <p:cNvSpPr txBox="1"/>
          <p:nvPr/>
        </p:nvSpPr>
        <p:spPr>
          <a:xfrm>
            <a:off x="6150000" y="3930000"/>
            <a:ext cx="5280000" cy="5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it-IT" sz="1000" b="1" dirty="0">
                <a:solidFill>
                  <a:srgbClr val="1F1F1F"/>
                </a:solidFill>
                <a:latin typeface="Arial"/>
              </a:rPr>
              <a:t>clusterId, COOWNED_WITH</a:t>
            </a:r>
            <a:r>
              <a:rPr lang="it-IT" sz="1000" b="0" dirty="0">
                <a:solidFill>
                  <a:srgbClr val="4A4A4A"/>
                </a:solidFill>
                <a:latin typeface="Arial"/>
              </a:rPr>
              <a:t>  written by the clustering</a:t>
            </a:r>
          </a:p>
          <a:p>
            <a:pPr algn="l">
              <a:lnSpc>
                <a:spcPct val="130000"/>
              </a:lnSpc>
            </a:pPr>
            <a:r>
              <a:rPr lang="it-IT" sz="1000" b="1" dirty="0">
                <a:solidFill>
                  <a:srgbClr val="1F1F1F"/>
                </a:solidFill>
                <a:latin typeface="Arial"/>
              </a:rPr>
              <a:t>PREV_BLOCK</a:t>
            </a:r>
            <a:r>
              <a:rPr lang="it-IT" sz="1000" b="0" dirty="0">
                <a:solidFill>
                  <a:srgbClr val="4A4A4A"/>
                </a:solidFill>
                <a:latin typeface="Arial"/>
              </a:rPr>
              <a:t>  older → newer, opposite of prev_hash</a:t>
            </a:r>
          </a:p>
        </p:txBody>
      </p:sp>
      <p:sp>
        <p:nvSpPr>
          <p:cNvPr id="60" name="rc60"/>
          <p:cNvSpPr/>
          <p:nvPr/>
        </p:nvSpPr>
        <p:spPr>
          <a:xfrm>
            <a:off x="760000" y="4600000"/>
            <a:ext cx="3457333" cy="12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61" name="tb61"/>
          <p:cNvSpPr txBox="1"/>
          <p:nvPr/>
        </p:nvSpPr>
        <p:spPr>
          <a:xfrm>
            <a:off x="920000" y="4700000"/>
            <a:ext cx="3137333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822433"/>
                </a:solidFill>
                <a:latin typeface="Arial"/>
              </a:rPr>
              <a:t>Outputs and inputs are entities</a:t>
            </a:r>
          </a:p>
        </p:txBody>
      </p:sp>
      <p:sp>
        <p:nvSpPr>
          <p:cNvPr id="62" name="tb62"/>
          <p:cNvSpPr txBox="1"/>
          <p:nvPr/>
        </p:nvSpPr>
        <p:spPr>
          <a:xfrm>
            <a:off x="920000" y="5050000"/>
            <a:ext cx="3137333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key = (txid, index), no id of its own</a:t>
            </a:r>
          </a:p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money path  Tx → Output → Input → Tx</a:t>
            </a:r>
          </a:p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same path in SQL and in the graph</a:t>
            </a:r>
          </a:p>
        </p:txBody>
      </p:sp>
      <p:sp>
        <p:nvSpPr>
          <p:cNvPr id="63" name="rc63"/>
          <p:cNvSpPr/>
          <p:nvPr/>
        </p:nvSpPr>
        <p:spPr>
          <a:xfrm>
            <a:off x="4367333" y="4600000"/>
            <a:ext cx="3457333" cy="12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64" name="tb64"/>
          <p:cNvSpPr txBox="1"/>
          <p:nvPr/>
        </p:nvSpPr>
        <p:spPr>
          <a:xfrm>
            <a:off x="4527333" y="4700000"/>
            <a:ext cx="3137333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822433"/>
                </a:solidFill>
                <a:latin typeface="Arial"/>
              </a:rPr>
              <a:t>Nothing derived is stored</a:t>
            </a:r>
          </a:p>
        </p:txBody>
      </p:sp>
      <p:sp>
        <p:nvSpPr>
          <p:cNvPr id="65" name="tb65"/>
          <p:cNvSpPr txBox="1"/>
          <p:nvPr/>
        </p:nvSpPr>
        <p:spPr>
          <a:xfrm>
            <a:off x="4527333" y="5050000"/>
            <a:ext cx="3137333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fee, spent, height, orphan</a:t>
            </a:r>
          </a:p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computed at query time</a:t>
            </a:r>
          </a:p>
        </p:txBody>
      </p:sp>
      <p:sp>
        <p:nvSpPr>
          <p:cNvPr id="66" name="rc66"/>
          <p:cNvSpPr/>
          <p:nvPr/>
        </p:nvSpPr>
        <p:spPr>
          <a:xfrm>
            <a:off x="7974666" y="4600000"/>
            <a:ext cx="3457333" cy="125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67" name="tb67"/>
          <p:cNvSpPr txBox="1"/>
          <p:nvPr/>
        </p:nvSpPr>
        <p:spPr>
          <a:xfrm>
            <a:off x="8134666" y="4700000"/>
            <a:ext cx="3137333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822433"/>
                </a:solidFill>
                <a:latin typeface="Arial"/>
              </a:rPr>
              <a:t>FK only where the data guarantees it</a:t>
            </a:r>
          </a:p>
        </p:txBody>
      </p:sp>
      <p:sp>
        <p:nvSpPr>
          <p:cNvPr id="68" name="tb68"/>
          <p:cNvSpPr txBox="1"/>
          <p:nvPr/>
        </p:nvSpPr>
        <p:spPr>
          <a:xfrm>
            <a:off x="8134666" y="5050000"/>
            <a:ext cx="3137333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no FK input → output</a:t>
            </a:r>
          </a:p>
          <a:p>
            <a:pPr algn="l">
              <a:lnSpc>
                <a:spcPct val="115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coinbase, outputs before the window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indefinite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Results on the full dataset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5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1250000"/>
            <a:ext cx="26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8A8A8A"/>
                </a:solidFill>
                <a:latin typeface="Arial"/>
              </a:rPr>
              <a:t>THE QUESTION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5460000" y="1250000"/>
            <a:ext cx="1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E07B00"/>
                </a:solidFill>
                <a:latin typeface="Arial"/>
              </a:rPr>
              <a:t>SQLITE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260000" y="1250000"/>
            <a:ext cx="1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00838F"/>
                </a:solidFill>
                <a:latin typeface="Arial"/>
              </a:rPr>
              <a:t>NEO4J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9160000" y="125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8A8A8A"/>
                </a:solidFill>
                <a:latin typeface="Arial"/>
              </a:rPr>
              <a:t>FASTER</a:t>
            </a:r>
          </a:p>
        </p:txBody>
      </p:sp>
      <p:sp>
        <p:nvSpPr>
          <p:cNvPr id="44" name="sr44"/>
          <p:cNvSpPr/>
          <p:nvPr/>
        </p:nvSpPr>
        <p:spPr>
          <a:xfrm>
            <a:off x="760000" y="1580000"/>
            <a:ext cx="10672000" cy="900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r55"/>
          <p:cNvSpPr/>
          <p:nvPr/>
        </p:nvSpPr>
        <p:spPr>
          <a:xfrm>
            <a:off x="760000" y="1640000"/>
            <a:ext cx="10672000" cy="4200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b50"/>
          <p:cNvSpPr txBox="1"/>
          <p:nvPr/>
        </p:nvSpPr>
        <p:spPr>
          <a:xfrm>
            <a:off x="820000" y="170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Q1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1460000" y="170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How much fee did each transaction pay?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5460000" y="170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56.0 s</a:t>
            </a:r>
          </a:p>
        </p:txBody>
      </p:sp>
      <p:sp>
        <p:nvSpPr>
          <p:cNvPr id="53" name="tb53"/>
          <p:cNvSpPr txBox="1"/>
          <p:nvPr/>
        </p:nvSpPr>
        <p:spPr>
          <a:xfrm>
            <a:off x="7260000" y="170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22.3 s</a:t>
            </a:r>
          </a:p>
        </p:txBody>
      </p:sp>
      <p:sp>
        <p:nvSpPr>
          <p:cNvPr id="54" name="tb54"/>
          <p:cNvSpPr txBox="1"/>
          <p:nvPr/>
        </p:nvSpPr>
        <p:spPr>
          <a:xfrm>
            <a:off x="9160000" y="170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 2.5x</a:t>
            </a:r>
          </a:p>
        </p:txBody>
      </p:sp>
      <p:sp>
        <p:nvSpPr>
          <p:cNvPr id="56" name="tb56"/>
          <p:cNvSpPr txBox="1"/>
          <p:nvPr/>
        </p:nvSpPr>
        <p:spPr>
          <a:xfrm>
            <a:off x="820000" y="212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Q2</a:t>
            </a:r>
          </a:p>
        </p:txBody>
      </p:sp>
      <p:sp>
        <p:nvSpPr>
          <p:cNvPr id="57" name="tb57"/>
          <p:cNvSpPr txBox="1"/>
          <p:nvPr/>
        </p:nvSpPr>
        <p:spPr>
          <a:xfrm>
            <a:off x="1460000" y="212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Which outputs are still unspent?</a:t>
            </a:r>
          </a:p>
        </p:txBody>
      </p:sp>
      <p:sp>
        <p:nvSpPr>
          <p:cNvPr id="58" name="tb58"/>
          <p:cNvSpPr txBox="1"/>
          <p:nvPr/>
        </p:nvSpPr>
        <p:spPr>
          <a:xfrm>
            <a:off x="5460000" y="212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12.3 s</a:t>
            </a:r>
          </a:p>
        </p:txBody>
      </p:sp>
      <p:sp>
        <p:nvSpPr>
          <p:cNvPr id="59" name="tb59"/>
          <p:cNvSpPr txBox="1"/>
          <p:nvPr/>
        </p:nvSpPr>
        <p:spPr>
          <a:xfrm>
            <a:off x="7260000" y="212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6.6 s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9160000" y="212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 1.9x</a:t>
            </a:r>
          </a:p>
        </p:txBody>
      </p:sp>
      <p:sp>
        <p:nvSpPr>
          <p:cNvPr id="67" name="sr67"/>
          <p:cNvSpPr/>
          <p:nvPr/>
        </p:nvSpPr>
        <p:spPr>
          <a:xfrm>
            <a:off x="760000" y="2480000"/>
            <a:ext cx="10672000" cy="4200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tb62"/>
          <p:cNvSpPr txBox="1"/>
          <p:nvPr/>
        </p:nvSpPr>
        <p:spPr>
          <a:xfrm>
            <a:off x="820000" y="254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Q3</a:t>
            </a:r>
          </a:p>
        </p:txBody>
      </p:sp>
      <p:sp>
        <p:nvSpPr>
          <p:cNvPr id="63" name="tb63"/>
          <p:cNvSpPr txBox="1"/>
          <p:nvPr/>
        </p:nvSpPr>
        <p:spPr>
          <a:xfrm>
            <a:off x="1460000" y="254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How much does each address hold?</a:t>
            </a:r>
          </a:p>
        </p:txBody>
      </p:sp>
      <p:sp>
        <p:nvSpPr>
          <p:cNvPr id="64" name="tb64"/>
          <p:cNvSpPr txBox="1"/>
          <p:nvPr/>
        </p:nvSpPr>
        <p:spPr>
          <a:xfrm>
            <a:off x="5460000" y="254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25.9 s</a:t>
            </a:r>
          </a:p>
        </p:txBody>
      </p:sp>
      <p:sp>
        <p:nvSpPr>
          <p:cNvPr id="65" name="tb65"/>
          <p:cNvSpPr txBox="1"/>
          <p:nvPr/>
        </p:nvSpPr>
        <p:spPr>
          <a:xfrm>
            <a:off x="7260000" y="254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19.1 s</a:t>
            </a:r>
          </a:p>
        </p:txBody>
      </p:sp>
      <p:sp>
        <p:nvSpPr>
          <p:cNvPr id="66" name="tb66"/>
          <p:cNvSpPr txBox="1"/>
          <p:nvPr/>
        </p:nvSpPr>
        <p:spPr>
          <a:xfrm>
            <a:off x="9160000" y="254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 1.4x</a:t>
            </a:r>
          </a:p>
        </p:txBody>
      </p:sp>
      <p:sp>
        <p:nvSpPr>
          <p:cNvPr id="68" name="tb68"/>
          <p:cNvSpPr txBox="1"/>
          <p:nvPr/>
        </p:nvSpPr>
        <p:spPr>
          <a:xfrm>
            <a:off x="820000" y="296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Q4</a:t>
            </a:r>
          </a:p>
        </p:txBody>
      </p:sp>
      <p:sp>
        <p:nvSpPr>
          <p:cNvPr id="69" name="tb69"/>
          <p:cNvSpPr txBox="1"/>
          <p:nvPr/>
        </p:nvSpPr>
        <p:spPr>
          <a:xfrm>
            <a:off x="1460000" y="296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Where did one address's money go?</a:t>
            </a:r>
          </a:p>
        </p:txBody>
      </p:sp>
      <p:sp>
        <p:nvSpPr>
          <p:cNvPr id="70" name="tb70"/>
          <p:cNvSpPr txBox="1"/>
          <p:nvPr/>
        </p:nvSpPr>
        <p:spPr>
          <a:xfrm>
            <a:off x="5460000" y="296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8.9 s</a:t>
            </a:r>
          </a:p>
        </p:txBody>
      </p:sp>
      <p:sp>
        <p:nvSpPr>
          <p:cNvPr id="71" name="tb71"/>
          <p:cNvSpPr txBox="1"/>
          <p:nvPr/>
        </p:nvSpPr>
        <p:spPr>
          <a:xfrm>
            <a:off x="7260000" y="296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10.0 s</a:t>
            </a:r>
          </a:p>
        </p:txBody>
      </p:sp>
      <p:sp>
        <p:nvSpPr>
          <p:cNvPr id="72" name="tb72"/>
          <p:cNvSpPr txBox="1"/>
          <p:nvPr/>
        </p:nvSpPr>
        <p:spPr>
          <a:xfrm>
            <a:off x="9160000" y="296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SQLite 1.1x</a:t>
            </a:r>
          </a:p>
        </p:txBody>
      </p:sp>
      <p:sp>
        <p:nvSpPr>
          <p:cNvPr id="79" name="sr79"/>
          <p:cNvSpPr/>
          <p:nvPr/>
        </p:nvSpPr>
        <p:spPr>
          <a:xfrm>
            <a:off x="760000" y="3320000"/>
            <a:ext cx="10672000" cy="4200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txBody>
          <a:bodyPr/>
          <a:lstStyle/>
          <a:p/>
        </p:txBody>
      </p:sp>
      <p:sp>
        <p:nvSpPr>
          <p:cNvPr id="74" name="tb74"/>
          <p:cNvSpPr txBox="1"/>
          <p:nvPr/>
        </p:nvSpPr>
        <p:spPr>
          <a:xfrm>
            <a:off x="820000" y="338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Q5</a:t>
            </a:r>
          </a:p>
        </p:txBody>
      </p:sp>
      <p:sp>
        <p:nvSpPr>
          <p:cNvPr id="75" name="tb75"/>
          <p:cNvSpPr txBox="1"/>
          <p:nvPr/>
        </p:nvSpPr>
        <p:spPr>
          <a:xfrm>
            <a:off x="1460000" y="338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Which addresses receive the most?</a:t>
            </a:r>
          </a:p>
        </p:txBody>
      </p:sp>
      <p:sp>
        <p:nvSpPr>
          <p:cNvPr id="76" name="tb76"/>
          <p:cNvSpPr txBox="1"/>
          <p:nvPr/>
        </p:nvSpPr>
        <p:spPr>
          <a:xfrm>
            <a:off x="5460000" y="338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9.0 s</a:t>
            </a:r>
          </a:p>
        </p:txBody>
      </p:sp>
      <p:sp>
        <p:nvSpPr>
          <p:cNvPr id="77" name="tb77"/>
          <p:cNvSpPr txBox="1"/>
          <p:nvPr/>
        </p:nvSpPr>
        <p:spPr>
          <a:xfrm>
            <a:off x="7260000" y="338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8.2 s</a:t>
            </a:r>
          </a:p>
        </p:txBody>
      </p:sp>
      <p:sp>
        <p:nvSpPr>
          <p:cNvPr id="78" name="tb78"/>
          <p:cNvSpPr txBox="1"/>
          <p:nvPr/>
        </p:nvSpPr>
        <p:spPr>
          <a:xfrm>
            <a:off x="9160000" y="338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7F8C8D"/>
                </a:solidFill>
                <a:latin typeface="Arial"/>
              </a:rPr>
              <a:t>tie</a:t>
            </a:r>
          </a:p>
        </p:txBody>
      </p:sp>
      <p:sp>
        <p:nvSpPr>
          <p:cNvPr id="80" name="tb80"/>
          <p:cNvSpPr txBox="1"/>
          <p:nvPr/>
        </p:nvSpPr>
        <p:spPr>
          <a:xfrm>
            <a:off x="820000" y="380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Q6</a:t>
            </a:r>
          </a:p>
        </p:txBody>
      </p:sp>
      <p:sp>
        <p:nvSpPr>
          <p:cNvPr id="81" name="tb81"/>
          <p:cNvSpPr txBox="1"/>
          <p:nvPr/>
        </p:nvSpPr>
        <p:spPr>
          <a:xfrm>
            <a:off x="1460000" y="380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Which blocks are on the main chain?</a:t>
            </a:r>
          </a:p>
        </p:txBody>
      </p:sp>
      <p:sp>
        <p:nvSpPr>
          <p:cNvPr id="82" name="tb82"/>
          <p:cNvSpPr txBox="1"/>
          <p:nvPr/>
        </p:nvSpPr>
        <p:spPr>
          <a:xfrm>
            <a:off x="5460000" y="380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1.8 ms</a:t>
            </a:r>
          </a:p>
        </p:txBody>
      </p:sp>
      <p:sp>
        <p:nvSpPr>
          <p:cNvPr id="83" name="tb83"/>
          <p:cNvSpPr txBox="1"/>
          <p:nvPr/>
        </p:nvSpPr>
        <p:spPr>
          <a:xfrm>
            <a:off x="7260000" y="380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15.6 ms</a:t>
            </a:r>
          </a:p>
        </p:txBody>
      </p:sp>
      <p:sp>
        <p:nvSpPr>
          <p:cNvPr id="84" name="tb84"/>
          <p:cNvSpPr txBox="1"/>
          <p:nvPr/>
        </p:nvSpPr>
        <p:spPr>
          <a:xfrm>
            <a:off x="9160000" y="380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SQLite 8.4x</a:t>
            </a:r>
          </a:p>
        </p:txBody>
      </p:sp>
      <p:sp>
        <p:nvSpPr>
          <p:cNvPr id="91" name="sr91"/>
          <p:cNvSpPr/>
          <p:nvPr/>
        </p:nvSpPr>
        <p:spPr>
          <a:xfrm>
            <a:off x="760000" y="4160000"/>
            <a:ext cx="10672000" cy="4200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txBody>
          <a:bodyPr/>
          <a:lstStyle/>
          <a:p/>
        </p:txBody>
      </p:sp>
      <p:sp>
        <p:nvSpPr>
          <p:cNvPr id="86" name="tb86"/>
          <p:cNvSpPr txBox="1"/>
          <p:nvPr/>
        </p:nvSpPr>
        <p:spPr>
          <a:xfrm>
            <a:off x="820000" y="422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Q7</a:t>
            </a:r>
          </a:p>
        </p:txBody>
      </p:sp>
      <p:sp>
        <p:nvSpPr>
          <p:cNvPr id="87" name="tb87"/>
          <p:cNvSpPr txBox="1"/>
          <p:nvPr/>
        </p:nvSpPr>
        <p:spPr>
          <a:xfrm>
            <a:off x="1460000" y="422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How much does each wallet hold?</a:t>
            </a:r>
          </a:p>
        </p:txBody>
      </p:sp>
      <p:sp>
        <p:nvSpPr>
          <p:cNvPr id="88" name="tb88"/>
          <p:cNvSpPr txBox="1"/>
          <p:nvPr/>
        </p:nvSpPr>
        <p:spPr>
          <a:xfrm>
            <a:off x="5460000" y="422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5.1 s</a:t>
            </a:r>
            <a:r>
              <a:rPr lang="it-IT" sz="800" b="0" dirty="0">
                <a:solidFill>
                  <a:srgbClr val="B3261E"/>
                </a:solidFill>
                <a:latin typeface="Arial"/>
              </a:rPr>
              <a:t>*</a:t>
            </a:r>
          </a:p>
        </p:txBody>
      </p:sp>
      <p:sp>
        <p:nvSpPr>
          <p:cNvPr id="89" name="tb89"/>
          <p:cNvSpPr txBox="1"/>
          <p:nvPr/>
        </p:nvSpPr>
        <p:spPr>
          <a:xfrm>
            <a:off x="7260000" y="422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1.9 s</a:t>
            </a:r>
            <a:r>
              <a:rPr lang="it-IT" sz="800" b="0" dirty="0">
                <a:solidFill>
                  <a:srgbClr val="B3261E"/>
                </a:solidFill>
                <a:latin typeface="Arial"/>
              </a:rPr>
              <a:t>*</a:t>
            </a:r>
          </a:p>
        </p:txBody>
      </p:sp>
      <p:sp>
        <p:nvSpPr>
          <p:cNvPr id="90" name="tb90"/>
          <p:cNvSpPr txBox="1"/>
          <p:nvPr/>
        </p:nvSpPr>
        <p:spPr>
          <a:xfrm>
            <a:off x="9160000" y="422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 2.7x</a:t>
            </a:r>
            <a:r>
              <a:rPr lang="it-IT" sz="800" b="0" dirty="0">
                <a:solidFill>
                  <a:srgbClr val="B3261E"/>
                </a:solidFill>
                <a:latin typeface="Arial"/>
              </a:rPr>
              <a:t>*</a:t>
            </a:r>
          </a:p>
        </p:txBody>
      </p:sp>
      <p:sp>
        <p:nvSpPr>
          <p:cNvPr id="92" name="tb92"/>
          <p:cNvSpPr txBox="1"/>
          <p:nvPr/>
        </p:nvSpPr>
        <p:spPr>
          <a:xfrm>
            <a:off x="820000" y="4640000"/>
            <a:ext cx="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Q8</a:t>
            </a:r>
          </a:p>
        </p:txBody>
      </p:sp>
      <p:sp>
        <p:nvSpPr>
          <p:cNvPr id="93" name="tb93"/>
          <p:cNvSpPr txBox="1"/>
          <p:nvPr/>
        </p:nvSpPr>
        <p:spPr>
          <a:xfrm>
            <a:off x="1460000" y="464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What is each transaction worth in USD?</a:t>
            </a:r>
          </a:p>
        </p:txBody>
      </p:sp>
      <p:sp>
        <p:nvSpPr>
          <p:cNvPr id="94" name="tb94"/>
          <p:cNvSpPr txBox="1"/>
          <p:nvPr/>
        </p:nvSpPr>
        <p:spPr>
          <a:xfrm>
            <a:off x="5460000" y="464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16.2 s</a:t>
            </a:r>
          </a:p>
        </p:txBody>
      </p:sp>
      <p:sp>
        <p:nvSpPr>
          <p:cNvPr id="95" name="tb95"/>
          <p:cNvSpPr txBox="1"/>
          <p:nvPr/>
        </p:nvSpPr>
        <p:spPr>
          <a:xfrm>
            <a:off x="7260000" y="4640000"/>
            <a:ext cx="17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1F1F1F"/>
                </a:solidFill>
                <a:latin typeface="Arial"/>
              </a:rPr>
              <a:t>29.1 s</a:t>
            </a:r>
          </a:p>
        </p:txBody>
      </p:sp>
      <p:sp>
        <p:nvSpPr>
          <p:cNvPr id="96" name="tb96"/>
          <p:cNvSpPr txBox="1"/>
          <p:nvPr/>
        </p:nvSpPr>
        <p:spPr>
          <a:xfrm>
            <a:off x="9160000" y="4640000"/>
            <a:ext cx="22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SQLite 1.8x</a:t>
            </a:r>
          </a:p>
        </p:txBody>
      </p:sp>
      <p:sp>
        <p:nvSpPr>
          <p:cNvPr id="100" name="rc100"/>
          <p:cNvSpPr/>
          <p:nvPr/>
        </p:nvSpPr>
        <p:spPr>
          <a:xfrm>
            <a:off x="3246000" y="5300000"/>
            <a:ext cx="2000000" cy="460000"/>
          </a:xfrm>
          <a:prstGeom prst="roundRect">
            <a:avLst>
              <a:gd name="adj" fmla="val 6000"/>
            </a:avLst>
          </a:prstGeom>
          <a:solidFill>
            <a:srgbClr val="00838F">
              <a:alpha val="14000"/>
            </a:srgbClr>
          </a:solidFill>
          <a:ln w="12700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101" name="tb101"/>
          <p:cNvSpPr txBox="1"/>
          <p:nvPr/>
        </p:nvSpPr>
        <p:spPr>
          <a:xfrm>
            <a:off x="3246000" y="5380000"/>
            <a:ext cx="20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1" dirty="0">
                <a:solidFill>
                  <a:srgbClr val="00838F"/>
                </a:solidFill>
                <a:latin typeface="Arial"/>
              </a:rPr>
              <a:t>Neo4j wins 4</a:t>
            </a:r>
          </a:p>
        </p:txBody>
      </p:sp>
      <p:sp>
        <p:nvSpPr>
          <p:cNvPr id="102" name="rc102"/>
          <p:cNvSpPr/>
          <p:nvPr/>
        </p:nvSpPr>
        <p:spPr>
          <a:xfrm>
            <a:off x="5446000" y="5300000"/>
            <a:ext cx="2000000" cy="460000"/>
          </a:xfrm>
          <a:prstGeom prst="roundRect">
            <a:avLst>
              <a:gd name="adj" fmla="val 6000"/>
            </a:avLst>
          </a:prstGeom>
          <a:solidFill>
            <a:srgbClr val="E07B00">
              <a:alpha val="14000"/>
            </a:srgbClr>
          </a:solidFill>
          <a:ln w="12700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03" name="tb103"/>
          <p:cNvSpPr txBox="1"/>
          <p:nvPr/>
        </p:nvSpPr>
        <p:spPr>
          <a:xfrm>
            <a:off x="5446000" y="5380000"/>
            <a:ext cx="20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1" dirty="0">
                <a:solidFill>
                  <a:srgbClr val="E07B00"/>
                </a:solidFill>
                <a:latin typeface="Arial"/>
              </a:rPr>
              <a:t>SQLite wins 3</a:t>
            </a:r>
          </a:p>
        </p:txBody>
      </p:sp>
      <p:sp>
        <p:nvSpPr>
          <p:cNvPr id="104" name="rc104"/>
          <p:cNvSpPr/>
          <p:nvPr/>
        </p:nvSpPr>
        <p:spPr>
          <a:xfrm>
            <a:off x="7646000" y="5300000"/>
            <a:ext cx="1300000" cy="460000"/>
          </a:xfrm>
          <a:prstGeom prst="roundRect">
            <a:avLst>
              <a:gd name="adj" fmla="val 6000"/>
            </a:avLst>
          </a:prstGeom>
          <a:solidFill>
            <a:srgbClr val="7F8C8D">
              <a:alpha val="14000"/>
            </a:srgbClr>
          </a:solidFill>
          <a:ln w="12700">
            <a:solidFill>
              <a:srgbClr val="7F8C8D"/>
            </a:solidFill>
          </a:ln>
        </p:spPr>
        <p:txBody>
          <a:bodyPr/>
          <a:lstStyle/>
          <a:p/>
        </p:txBody>
      </p:sp>
      <p:sp>
        <p:nvSpPr>
          <p:cNvPr id="105" name="tb105"/>
          <p:cNvSpPr txBox="1"/>
          <p:nvPr/>
        </p:nvSpPr>
        <p:spPr>
          <a:xfrm>
            <a:off x="7646000" y="5380000"/>
            <a:ext cx="13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1" dirty="0">
                <a:solidFill>
                  <a:srgbClr val="7F8C8D"/>
                </a:solidFill>
                <a:latin typeface="Arial"/>
              </a:rPr>
              <a:t>tie 1</a:t>
            </a:r>
          </a:p>
        </p:txBody>
      </p:sp>
      <p:sp>
        <p:nvSpPr>
          <p:cNvPr id="110" name="tb110"/>
          <p:cNvSpPr txBox="1"/>
          <p:nvPr/>
        </p:nvSpPr>
        <p:spPr>
          <a:xfrm>
            <a:off x="760000" y="5800000"/>
            <a:ext cx="10672000" cy="2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900" b="0" dirty="0">
                <a:solidFill>
                  <a:srgbClr val="8A8A8A"/>
                </a:solidFill>
                <a:latin typeface="Arial"/>
              </a:rPr>
              <a:t>times: scaling run at 977 blocks   </a:t>
            </a:r>
            <a:r>
              <a:rPr lang="it-IT" sz="800" b="0" dirty="0">
                <a:solidFill>
                  <a:srgbClr val="B3261E"/>
                </a:solidFill>
                <a:latin typeface="Arial"/>
              </a:rPr>
              <a:t>*</a:t>
            </a:r>
            <a:r>
              <a:rPr lang="it-IT" sz="900" b="0" dirty="0">
                <a:solidFill>
                  <a:srgbClr val="8A8A8A"/>
                </a:solidFill>
                <a:latin typeface="Arial"/>
              </a:rPr>
              <a:t> Q7 at 200 blocks: its clustering was measured only at 50 and 200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" fill="hold">
                      <p:stCondLst>
                        <p:cond delay="indefinite"/>
                      </p:stCondLst>
                      <p:childTnLst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How I measured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6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60000" y="1150000"/>
            <a:ext cx="10672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50" b="1" dirty="0">
                <a:solidFill>
                  <a:srgbClr val="8A8A8A"/>
                </a:solidFill>
                <a:latin typeface="Arial"/>
              </a:rPr>
              <a:t>EVERY QUERY, ON BOTH ENGINES</a:t>
            </a:r>
          </a:p>
        </p:txBody>
      </p:sp>
      <p:sp>
        <p:nvSpPr>
          <p:cNvPr id="11" name="sr11"/>
          <p:cNvSpPr/>
          <p:nvPr/>
        </p:nvSpPr>
        <p:spPr>
          <a:xfrm>
            <a:off x="760000" y="1500000"/>
            <a:ext cx="2000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8A8A8A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760000" y="159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8A8A8A"/>
                </a:solidFill>
                <a:latin typeface="Arial"/>
              </a:rPr>
              <a:t>run 0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760000" y="1910000"/>
            <a:ext cx="2000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0" dirty="0">
                <a:solidFill>
                  <a:srgbClr val="8A8A8A"/>
                </a:solidFill>
                <a:latin typeface="Arial"/>
              </a:rPr>
              <a:t>warm-up, thrown away</a:t>
            </a:r>
          </a:p>
        </p:txBody>
      </p:sp>
      <p:cxnSp>
        <p:nvCxnSpPr>
          <p:cNvPr id="14" name="ar14"/>
          <p:cNvCxnSpPr/>
          <p:nvPr/>
        </p:nvCxnSpPr>
        <p:spPr>
          <a:xfrm>
            <a:off x="2810000" y="1880000"/>
            <a:ext cx="330000" cy="0"/>
          </a:xfrm>
          <a:prstGeom prst="straightConnector1">
            <a:avLst/>
          </a:prstGeom>
          <a:ln w="12700">
            <a:solidFill>
              <a:srgbClr val="8A8A8A"/>
            </a:solidFill>
            <a:tailEnd type="triangle" w="med" len="med"/>
          </a:ln>
        </p:spPr>
      </p:cxnSp>
      <p:sp>
        <p:nvSpPr>
          <p:cNvPr id="15" name="sr15"/>
          <p:cNvSpPr/>
          <p:nvPr/>
        </p:nvSpPr>
        <p:spPr>
          <a:xfrm>
            <a:off x="3190000" y="1500000"/>
            <a:ext cx="1450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1F1F1F"/>
            </a:solidFill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3190000" y="1590000"/>
            <a:ext cx="14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1F1F1F"/>
                </a:solidFill>
                <a:latin typeface="Arial"/>
              </a:rPr>
              <a:t>run 1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3190000" y="1910000"/>
            <a:ext cx="1450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timed</a:t>
            </a:r>
          </a:p>
        </p:txBody>
      </p:sp>
      <p:sp>
        <p:nvSpPr>
          <p:cNvPr id="18" name="sr18"/>
          <p:cNvSpPr/>
          <p:nvPr/>
        </p:nvSpPr>
        <p:spPr>
          <a:xfrm>
            <a:off x="4740000" y="1500000"/>
            <a:ext cx="1450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1F1F1F"/>
            </a:solidFill>
          </a:ln>
        </p:spPr>
        <p:txBody>
          <a:bodyPr/>
          <a:lstStyle/>
          <a:p/>
        </p:txBody>
      </p:sp>
      <p:sp>
        <p:nvSpPr>
          <p:cNvPr id="19" name="tb19"/>
          <p:cNvSpPr txBox="1"/>
          <p:nvPr/>
        </p:nvSpPr>
        <p:spPr>
          <a:xfrm>
            <a:off x="4740000" y="1590000"/>
            <a:ext cx="14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1F1F1F"/>
                </a:solidFill>
                <a:latin typeface="Arial"/>
              </a:rPr>
              <a:t>run 2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4740000" y="1910000"/>
            <a:ext cx="1450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timed</a:t>
            </a:r>
          </a:p>
        </p:txBody>
      </p:sp>
      <p:sp>
        <p:nvSpPr>
          <p:cNvPr id="21" name="sr21"/>
          <p:cNvSpPr/>
          <p:nvPr/>
        </p:nvSpPr>
        <p:spPr>
          <a:xfrm>
            <a:off x="6290000" y="1500000"/>
            <a:ext cx="1450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1F1F1F"/>
            </a:solidFill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6290000" y="1590000"/>
            <a:ext cx="14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1F1F1F"/>
                </a:solidFill>
                <a:latin typeface="Arial"/>
              </a:rPr>
              <a:t>run 3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6290000" y="1910000"/>
            <a:ext cx="1450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timed</a:t>
            </a:r>
          </a:p>
        </p:txBody>
      </p:sp>
      <p:cxnSp>
        <p:nvCxnSpPr>
          <p:cNvPr id="24" name="ar24"/>
          <p:cNvCxnSpPr/>
          <p:nvPr/>
        </p:nvCxnSpPr>
        <p:spPr>
          <a:xfrm>
            <a:off x="7840000" y="1880000"/>
            <a:ext cx="330000" cy="0"/>
          </a:xfrm>
          <a:prstGeom prst="straightConnector1">
            <a:avLst/>
          </a:prstGeom>
          <a:ln w="12700">
            <a:solidFill>
              <a:srgbClr val="8A8A8A"/>
            </a:solidFill>
            <a:tailEnd type="triangle" w="med" len="med"/>
          </a:ln>
        </p:spPr>
      </p:cxnSp>
      <p:sp>
        <p:nvSpPr>
          <p:cNvPr id="25" name="sr25"/>
          <p:cNvSpPr/>
          <p:nvPr/>
        </p:nvSpPr>
        <p:spPr>
          <a:xfrm>
            <a:off x="8220000" y="1500000"/>
            <a:ext cx="3212000" cy="760000"/>
          </a:xfrm>
          <a:prstGeom prst="rect">
            <a:avLst/>
          </a:prstGeom>
          <a:solidFill>
            <a:srgbClr val="F3F6F8"/>
          </a:solidFill>
          <a:ln w="9525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26" name="tb26"/>
          <p:cNvSpPr txBox="1"/>
          <p:nvPr/>
        </p:nvSpPr>
        <p:spPr>
          <a:xfrm>
            <a:off x="8220000" y="1590000"/>
            <a:ext cx="321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00838F"/>
                </a:solidFill>
                <a:latin typeface="Arial"/>
              </a:rPr>
              <a:t>median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8220000" y="1910000"/>
            <a:ext cx="3212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0" dirty="0">
                <a:solidFill>
                  <a:srgbClr val="4A4A4A"/>
                </a:solidFill>
                <a:latin typeface="Arial"/>
              </a:rPr>
              <a:t>the number in the table</a:t>
            </a:r>
          </a:p>
        </p:txBody>
      </p:sp>
      <p:sp>
        <p:nvSpPr>
          <p:cNvPr id="30" name="rc30"/>
          <p:cNvSpPr/>
          <p:nvPr/>
        </p:nvSpPr>
        <p:spPr>
          <a:xfrm>
            <a:off x="760000" y="2650000"/>
            <a:ext cx="3457333" cy="15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1" name="tb31"/>
          <p:cNvSpPr txBox="1"/>
          <p:nvPr/>
        </p:nvSpPr>
        <p:spPr>
          <a:xfrm>
            <a:off x="760000" y="2800000"/>
            <a:ext cx="3457333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500" b="1" dirty="0">
                <a:solidFill>
                  <a:srgbClr val="822433"/>
                </a:solidFill>
                <a:latin typeface="Arial"/>
              </a:rPr>
              <a:t>Timeout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760000" y="3300000"/>
            <a:ext cx="3457333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15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120 s SQLite  ·  90 s Neo4j</a:t>
            </a:r>
          </a:p>
          <a:p>
            <a:pPr algn="ctr">
              <a:lnSpc>
                <a:spcPct val="115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too slow → recorded as timeout</a:t>
            </a:r>
          </a:p>
        </p:txBody>
      </p:sp>
      <p:sp>
        <p:nvSpPr>
          <p:cNvPr id="33" name="rc33"/>
          <p:cNvSpPr/>
          <p:nvPr/>
        </p:nvSpPr>
        <p:spPr>
          <a:xfrm>
            <a:off x="4367333" y="2650000"/>
            <a:ext cx="3457333" cy="15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4" name="tb34"/>
          <p:cNvSpPr txBox="1"/>
          <p:nvPr/>
        </p:nvSpPr>
        <p:spPr>
          <a:xfrm>
            <a:off x="4367333" y="2800000"/>
            <a:ext cx="3457333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500" b="1" dirty="0">
                <a:solidFill>
                  <a:srgbClr val="822433"/>
                </a:solidFill>
                <a:latin typeface="Arial"/>
              </a:rPr>
              <a:t>Scalability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4367333" y="3300000"/>
            <a:ext cx="3457333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15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4 sizes</a:t>
            </a:r>
          </a:p>
          <a:p>
            <a:pPr algn="ctr">
              <a:lnSpc>
                <a:spcPct val="115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50  ·  200  ·  500  ·  977 blocks</a:t>
            </a:r>
          </a:p>
        </p:txBody>
      </p:sp>
      <p:sp>
        <p:nvSpPr>
          <p:cNvPr id="36" name="rc36"/>
          <p:cNvSpPr/>
          <p:nvPr/>
        </p:nvSpPr>
        <p:spPr>
          <a:xfrm>
            <a:off x="7974666" y="2650000"/>
            <a:ext cx="3457333" cy="150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7" name="tb37"/>
          <p:cNvSpPr txBox="1"/>
          <p:nvPr/>
        </p:nvSpPr>
        <p:spPr>
          <a:xfrm>
            <a:off x="7974666" y="2800000"/>
            <a:ext cx="3457333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500" b="1" dirty="0">
                <a:solidFill>
                  <a:srgbClr val="822433"/>
                </a:solidFill>
                <a:latin typeface="Arial"/>
              </a:rPr>
              <a:t>Timer covers all rows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8154666" y="3250000"/>
            <a:ext cx="3157333" cy="8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850" b="0" dirty="0">
                <a:solidFill>
                  <a:srgbClr val="4A4A4A"/>
                </a:solidFill>
                <a:latin typeface="Consolas"/>
              </a:rPr>
              <a:t>t0 = time.perf_counter()</a:t>
            </a:r>
          </a:p>
          <a:p>
            <a:pPr algn="l">
              <a:lnSpc>
                <a:spcPct val="115000"/>
              </a:lnSpc>
            </a:pPr>
            <a:r>
              <a:rPr lang="it-IT" sz="850" b="0" dirty="0">
                <a:solidFill>
                  <a:srgbClr val="4A4A4A"/>
                </a:solidFill>
                <a:latin typeface="Consolas"/>
              </a:rPr>
              <a:t>cur = conn.execute(sql)</a:t>
            </a:r>
          </a:p>
          <a:p>
            <a:pPr algn="l">
              <a:lnSpc>
                <a:spcPct val="115000"/>
              </a:lnSpc>
            </a:pPr>
            <a:r>
              <a:rPr lang="it-IT" sz="850" b="1" dirty="0">
                <a:solidFill>
                  <a:srgbClr val="1F1F1F"/>
                </a:solidFill>
                <a:latin typeface="Consolas"/>
              </a:rPr>
              <a:t>cur.fetchall()  # every row</a:t>
            </a:r>
          </a:p>
          <a:p>
            <a:pPr algn="l">
              <a:lnSpc>
                <a:spcPct val="115000"/>
              </a:lnSpc>
            </a:pPr>
            <a:r>
              <a:rPr lang="it-IT" sz="850" b="0" dirty="0">
                <a:solidFill>
                  <a:srgbClr val="4A4A4A"/>
                </a:solidFill>
                <a:latin typeface="Consolas"/>
              </a:rPr>
              <a:t>t = time.perf_counter() - t0</a:t>
            </a:r>
          </a:p>
        </p:txBody>
      </p:sp>
      <p:sp>
        <p:nvSpPr>
          <p:cNvPr id="39" name="tb39"/>
          <p:cNvSpPr txBox="1"/>
          <p:nvPr/>
        </p:nvSpPr>
        <p:spPr>
          <a:xfrm>
            <a:off x="7974666" y="3920000"/>
            <a:ext cx="3457333" cy="2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900" b="0" dirty="0">
                <a:solidFill>
                  <a:srgbClr val="8A8A8A"/>
                </a:solidFill>
                <a:latin typeface="Arial"/>
              </a:rPr>
              <a:t>Neo4j  ·  result.consume()</a:t>
            </a:r>
          </a:p>
        </p:txBody>
      </p:sp>
      <p:sp>
        <p:nvSpPr>
          <p:cNvPr id="40" name="rc40"/>
          <p:cNvSpPr/>
          <p:nvPr/>
        </p:nvSpPr>
        <p:spPr>
          <a:xfrm>
            <a:off x="760000" y="4450000"/>
            <a:ext cx="10672000" cy="800000"/>
          </a:xfrm>
          <a:prstGeom prst="roundRect">
            <a:avLst>
              <a:gd name="adj" fmla="val 6000"/>
            </a:avLst>
          </a:prstGeom>
          <a:solidFill>
            <a:srgbClr val="B3261E">
              <a:alpha val="8000"/>
            </a:srgbClr>
          </a:solidFill>
          <a:ln w="12700">
            <a:solidFill>
              <a:srgbClr val="B3261E"/>
            </a:solidFill>
          </a:ln>
        </p:spPr>
        <p:txBody>
          <a:bodyPr/>
          <a:lstStyle/>
          <a:p/>
        </p:txBody>
      </p:sp>
      <p:sp>
        <p:nvSpPr>
          <p:cNvPr id="41" name="tb41"/>
          <p:cNvSpPr txBox="1"/>
          <p:nvPr/>
        </p:nvSpPr>
        <p:spPr>
          <a:xfrm>
            <a:off x="1010000" y="4660000"/>
            <a:ext cx="101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200" b="1" dirty="0">
                <a:solidFill>
                  <a:srgbClr val="B3261E"/>
                </a:solidFill>
                <a:latin typeface="Arial"/>
              </a:rPr>
              <a:t>Limits   </a:t>
            </a:r>
            <a:r>
              <a:rPr lang="it-IT" sz="1200" b="0" dirty="0">
                <a:solidFill>
                  <a:srgbClr val="4A4A4A"/>
                </a:solidFill>
                <a:latin typeface="Arial"/>
              </a:rPr>
              <a:t>1 laptop  ·  15 GiB RAM  ·  8 GB heap for Neo4j  ·  SQLite in-process, Neo4j server (+1.3 ms per query)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indefinite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5" fill="hold">
                      <p:stCondLst>
                        <p:cond delay="indefinite"/>
                      </p:stCondLst>
                      <p:childTnLst>
                        <p:par>
                          <p:cTn id="266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indefinite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5" fill="hold">
                      <p:stCondLst>
                        <p:cond delay="indefinite"/>
                      </p:stCondLst>
                      <p:childTnLst>
                        <p:par>
                          <p:cTn id="296" fill="hold">
                            <p:stCondLst>
                              <p:cond delay="0"/>
                            </p:stCondLst>
                            <p:childTnLst>
                              <p:par>
                                <p:cTn id="2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" fill="hold">
                      <p:stCondLst>
                        <p:cond delay="indefinite"/>
                      </p:stCondLst>
                      <p:childTnLst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5" fill="hold">
                      <p:stCondLst>
                        <p:cond delay="indefinite"/>
                      </p:stCondLst>
                      <p:childTnLst>
                        <p:par>
                          <p:cTn id="326" fill="hold">
                            <p:stCondLst>
                              <p:cond delay="0"/>
                            </p:stCondLst>
                            <p:childTnLst>
                              <p:par>
                                <p:cTn id="3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0" fill="hold">
                      <p:stCondLst>
                        <p:cond delay="indefinite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5" fill="hold">
                      <p:stCondLst>
                        <p:cond delay="indefinite"/>
                      </p:stCondLst>
                      <p:childTnLst>
                        <p:par>
                          <p:cTn id="356" fill="hold">
                            <p:stCondLst>
                              <p:cond delay="0"/>
                            </p:stCondLst>
                            <p:childTnLst>
                              <p:par>
                                <p:cTn id="3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0" fill="hold">
                      <p:stCondLst>
                        <p:cond delay="indefinite"/>
                      </p:stCondLst>
                      <p:childTnLst>
                        <p:par>
                          <p:cTn id="371" fill="hold">
                            <p:stCondLst>
                              <p:cond delay="0"/>
                            </p:stCondLst>
                            <p:childTnLst>
                              <p:par>
                                <p:cTn id="3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5" fill="hold">
                      <p:stCondLst>
                        <p:cond delay="indefinite"/>
                      </p:stCondLst>
                      <p:childTnLst>
                        <p:par>
                          <p:cTn id="386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0" fill="hold">
                      <p:stCondLst>
                        <p:cond delay="indefinite"/>
                      </p:stCondLst>
                      <p:childTnLst>
                        <p:par>
                          <p:cTn id="401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5" fill="hold">
                      <p:stCondLst>
                        <p:cond delay="indefinite"/>
                      </p:stCondLst>
                      <p:childTnLst>
                        <p:par>
                          <p:cTn id="416" fill="hold">
                            <p:stCondLst>
                              <p:cond delay="0"/>
                            </p:stCondLst>
                            <p:childTnLst>
                              <p:par>
                                <p:cTn id="4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0" fill="hold">
                      <p:stCondLst>
                        <p:cond delay="indefinite"/>
                      </p:stCondLst>
                      <p:childTnLst>
                        <p:par>
                          <p:cTn id="431" fill="hold">
                            <p:stCondLst>
                              <p:cond delay="0"/>
                            </p:stCondLst>
                            <p:childTnLst>
                              <p:par>
                                <p:cTn id="4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5" fill="hold">
                      <p:stCondLst>
                        <p:cond delay="indefinite"/>
                      </p:stCondLst>
                      <p:childTnLst>
                        <p:par>
                          <p:cTn id="446" fill="hold">
                            <p:stCondLst>
                              <p:cond delay="0"/>
                            </p:stCondLst>
                            <p:childTnLst>
                              <p:par>
                                <p:cTn id="4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0" fill="hold">
                      <p:stCondLst>
                        <p:cond delay="indefinite"/>
                      </p:stCondLst>
                      <p:childTnLst>
                        <p:par>
                          <p:cTn id="461" fill="hold">
                            <p:stCondLst>
                              <p:cond delay="0"/>
                            </p:stCondLst>
                            <p:childTnLst>
                              <p:par>
                                <p:cTn id="4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Where the graph wins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7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880000" y="1320000"/>
            <a:ext cx="3100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8A8A8A"/>
                </a:solidFill>
                <a:latin typeface="Arial"/>
              </a:rPr>
              <a:t>THE QUESTION</a:t>
            </a:r>
          </a:p>
        </p:txBody>
      </p:sp>
      <p:sp>
        <p:nvSpPr>
          <p:cNvPr id="11" name="tb11"/>
          <p:cNvSpPr txBox="1"/>
          <p:nvPr/>
        </p:nvSpPr>
        <p:spPr>
          <a:xfrm>
            <a:off x="3980000" y="1320000"/>
            <a:ext cx="1150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8A8A8A"/>
                </a:solidFill>
                <a:latin typeface="Arial"/>
              </a:rPr>
              <a:t>GAP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5130000" y="1320000"/>
            <a:ext cx="3200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E07B00"/>
                </a:solidFill>
                <a:latin typeface="Arial"/>
              </a:rPr>
              <a:t>SQLITE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8330000" y="1320000"/>
            <a:ext cx="3222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00838F"/>
                </a:solidFill>
                <a:latin typeface="Arial"/>
              </a:rPr>
              <a:t>NEO4J</a:t>
            </a:r>
          </a:p>
        </p:txBody>
      </p:sp>
      <p:sp>
        <p:nvSpPr>
          <p:cNvPr id="14" name="sr14"/>
          <p:cNvSpPr/>
          <p:nvPr/>
        </p:nvSpPr>
        <p:spPr>
          <a:xfrm>
            <a:off x="760000" y="1650000"/>
            <a:ext cx="10672000" cy="6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5" name="sr15"/>
          <p:cNvSpPr/>
          <p:nvPr/>
        </p:nvSpPr>
        <p:spPr>
          <a:xfrm>
            <a:off x="760000" y="1650000"/>
            <a:ext cx="50000" cy="65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880000" y="176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Q1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How much fee did each transaction pay?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3860000" y="173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00838F"/>
                </a:solidFill>
                <a:latin typeface="Arial"/>
              </a:rPr>
              <a:t>2.5x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5130000" y="176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JOIN on 2 columns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to find each input's value</a:t>
            </a:r>
          </a:p>
        </p:txBody>
      </p:sp>
      <p:sp>
        <p:nvSpPr>
          <p:cNvPr id="19" name="tb19"/>
          <p:cNvSpPr txBox="1"/>
          <p:nvPr/>
        </p:nvSpPr>
        <p:spPr>
          <a:xfrm>
            <a:off x="8330000" y="176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follows SPENDS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to the output</a:t>
            </a:r>
          </a:p>
        </p:txBody>
      </p:sp>
      <p:sp>
        <p:nvSpPr>
          <p:cNvPr id="20" name="sr20"/>
          <p:cNvSpPr/>
          <p:nvPr/>
        </p:nvSpPr>
        <p:spPr>
          <a:xfrm>
            <a:off x="760000" y="2370000"/>
            <a:ext cx="10672000" cy="6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1" name="sr21"/>
          <p:cNvSpPr/>
          <p:nvPr/>
        </p:nvSpPr>
        <p:spPr>
          <a:xfrm>
            <a:off x="760000" y="2370000"/>
            <a:ext cx="50000" cy="65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880000" y="248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Q2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Which outputs are still unspent?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3860000" y="245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00838F"/>
                </a:solidFill>
                <a:latin typeface="Arial"/>
              </a:rPr>
              <a:t>1.9x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130000" y="248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looks for an input row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that is not there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8330000" y="248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checks that no SPENDS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edge arrives</a:t>
            </a:r>
          </a:p>
        </p:txBody>
      </p:sp>
      <p:sp>
        <p:nvSpPr>
          <p:cNvPr id="26" name="sr26"/>
          <p:cNvSpPr/>
          <p:nvPr/>
        </p:nvSpPr>
        <p:spPr>
          <a:xfrm>
            <a:off x="760000" y="3090000"/>
            <a:ext cx="10672000" cy="6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7" name="sr27"/>
          <p:cNvSpPr/>
          <p:nvPr/>
        </p:nvSpPr>
        <p:spPr>
          <a:xfrm>
            <a:off x="760000" y="3090000"/>
            <a:ext cx="50000" cy="65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b28"/>
          <p:cNvSpPr txBox="1"/>
          <p:nvPr/>
        </p:nvSpPr>
        <p:spPr>
          <a:xfrm>
            <a:off x="880000" y="320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Q3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How much does each address hold?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3860000" y="317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00838F"/>
                </a:solidFill>
                <a:latin typeface="Arial"/>
              </a:rPr>
              <a:t>1.4x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5130000" y="320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NOT EXISTS on 2 columns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for every output, then GROUP BY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8330000" y="320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no SPENDS edge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on each output of the address</a:t>
            </a:r>
          </a:p>
        </p:txBody>
      </p:sp>
      <p:sp>
        <p:nvSpPr>
          <p:cNvPr id="32" name="sr32"/>
          <p:cNvSpPr/>
          <p:nvPr/>
        </p:nvSpPr>
        <p:spPr>
          <a:xfrm>
            <a:off x="760000" y="3810000"/>
            <a:ext cx="10672000" cy="6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3" name="sr33"/>
          <p:cNvSpPr/>
          <p:nvPr/>
        </p:nvSpPr>
        <p:spPr>
          <a:xfrm>
            <a:off x="760000" y="3810000"/>
            <a:ext cx="50000" cy="65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b34"/>
          <p:cNvSpPr txBox="1"/>
          <p:nvPr/>
        </p:nvSpPr>
        <p:spPr>
          <a:xfrm>
            <a:off x="880000" y="392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Q7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How much does each wallet hold?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3860000" y="389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00838F"/>
                </a:solidFill>
                <a:latin typeface="Arial"/>
              </a:rPr>
              <a:t>2.7x</a:t>
            </a:r>
            <a:r>
              <a:rPr lang="it-IT" sz="800" b="0" dirty="0">
                <a:solidFill>
                  <a:srgbClr val="B3261E"/>
                </a:solidFill>
                <a:latin typeface="Arial"/>
              </a:rPr>
              <a:t>*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5130000" y="392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clustering 27 min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, then 5.1 s</a:t>
            </a:r>
          </a:p>
        </p:txBody>
      </p:sp>
      <p:sp>
        <p:nvSpPr>
          <p:cNvPr id="37" name="tb37"/>
          <p:cNvSpPr txBox="1"/>
          <p:nvPr/>
        </p:nvSpPr>
        <p:spPr>
          <a:xfrm>
            <a:off x="8330000" y="392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clustering 7 min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, then 1.9 s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60000" y="4750000"/>
            <a:ext cx="10672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0" dirty="0">
                <a:solidFill>
                  <a:srgbClr val="4A4A4A"/>
                </a:solidFill>
                <a:latin typeface="Arial"/>
              </a:rPr>
              <a:t>Relationship rebuilt over the whole dataset   →   </a:t>
            </a:r>
            <a:r>
              <a:rPr lang="it-IT" sz="1300" b="1" dirty="0">
                <a:solidFill>
                  <a:srgbClr val="1F1F1F"/>
                </a:solidFill>
                <a:latin typeface="Arial"/>
              </a:rPr>
              <a:t>SQL needs a JOIN, the graph already has the edge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indefinite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5" fill="hold">
                      <p:stCondLst>
                        <p:cond delay="indefinite"/>
                      </p:stCondLst>
                      <p:childTnLst>
                        <p:par>
                          <p:cTn id="266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indefinite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5" fill="hold">
                      <p:stCondLst>
                        <p:cond delay="indefinite"/>
                      </p:stCondLst>
                      <p:childTnLst>
                        <p:par>
                          <p:cTn id="296" fill="hold">
                            <p:stCondLst>
                              <p:cond delay="0"/>
                            </p:stCondLst>
                            <p:childTnLst>
                              <p:par>
                                <p:cTn id="2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" fill="hold">
                      <p:stCondLst>
                        <p:cond delay="indefinite"/>
                      </p:stCondLst>
                      <p:childTnLst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5" fill="hold">
                      <p:stCondLst>
                        <p:cond delay="indefinite"/>
                      </p:stCondLst>
                      <p:childTnLst>
                        <p:par>
                          <p:cTn id="326" fill="hold">
                            <p:stCondLst>
                              <p:cond delay="0"/>
                            </p:stCondLst>
                            <p:childTnLst>
                              <p:par>
                                <p:cTn id="3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0" fill="hold">
                      <p:stCondLst>
                        <p:cond delay="indefinite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5" fill="hold">
                      <p:stCondLst>
                        <p:cond delay="indefinite"/>
                      </p:stCondLst>
                      <p:childTnLst>
                        <p:par>
                          <p:cTn id="356" fill="hold">
                            <p:stCondLst>
                              <p:cond delay="0"/>
                            </p:stCondLst>
                            <p:childTnLst>
                              <p:par>
                                <p:cTn id="3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0" fill="hold">
                      <p:stCondLst>
                        <p:cond delay="indefinite"/>
                      </p:stCondLst>
                      <p:childTnLst>
                        <p:par>
                          <p:cTn id="371" fill="hold">
                            <p:stCondLst>
                              <p:cond delay="0"/>
                            </p:stCondLst>
                            <p:childTnLst>
                              <p:par>
                                <p:cTn id="3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5" fill="hold">
                      <p:stCondLst>
                        <p:cond delay="indefinite"/>
                      </p:stCondLst>
                      <p:childTnLst>
                        <p:par>
                          <p:cTn id="386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0" fill="hold">
                      <p:stCondLst>
                        <p:cond delay="indefinite"/>
                      </p:stCondLst>
                      <p:childTnLst>
                        <p:par>
                          <p:cTn id="401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5" fill="hold">
                      <p:stCondLst>
                        <p:cond delay="indefinite"/>
                      </p:stCondLst>
                      <p:childTnLst>
                        <p:par>
                          <p:cTn id="416" fill="hold">
                            <p:stCondLst>
                              <p:cond delay="0"/>
                            </p:stCondLst>
                            <p:childTnLst>
                              <p:par>
                                <p:cTn id="4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0" fill="hold">
                      <p:stCondLst>
                        <p:cond delay="indefinite"/>
                      </p:stCondLst>
                      <p:childTnLst>
                        <p:par>
                          <p:cTn id="431" fill="hold">
                            <p:stCondLst>
                              <p:cond delay="0"/>
                            </p:stCondLst>
                            <p:childTnLst>
                              <p:par>
                                <p:cTn id="4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5" fill="hold">
                      <p:stCondLst>
                        <p:cond delay="indefinite"/>
                      </p:stCondLst>
                      <p:childTnLst>
                        <p:par>
                          <p:cTn id="446" fill="hold">
                            <p:stCondLst>
                              <p:cond delay="0"/>
                            </p:stCondLst>
                            <p:childTnLst>
                              <p:par>
                                <p:cTn id="4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Where the relational model wins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8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880000" y="1320000"/>
            <a:ext cx="3100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8A8A8A"/>
                </a:solidFill>
                <a:latin typeface="Arial"/>
              </a:rPr>
              <a:t>THE QUESTION</a:t>
            </a:r>
          </a:p>
        </p:txBody>
      </p:sp>
      <p:sp>
        <p:nvSpPr>
          <p:cNvPr id="11" name="tb11"/>
          <p:cNvSpPr txBox="1"/>
          <p:nvPr/>
        </p:nvSpPr>
        <p:spPr>
          <a:xfrm>
            <a:off x="3980000" y="1320000"/>
            <a:ext cx="1150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8A8A8A"/>
                </a:solidFill>
                <a:latin typeface="Arial"/>
              </a:rPr>
              <a:t>GAP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5130000" y="1320000"/>
            <a:ext cx="3200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E07B00"/>
                </a:solidFill>
                <a:latin typeface="Arial"/>
              </a:rPr>
              <a:t>SQLITE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8330000" y="1320000"/>
            <a:ext cx="3222000" cy="2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00" b="1" dirty="0">
                <a:solidFill>
                  <a:srgbClr val="00838F"/>
                </a:solidFill>
                <a:latin typeface="Arial"/>
              </a:rPr>
              <a:t>NEO4J</a:t>
            </a:r>
          </a:p>
        </p:txBody>
      </p:sp>
      <p:sp>
        <p:nvSpPr>
          <p:cNvPr id="14" name="sr14"/>
          <p:cNvSpPr/>
          <p:nvPr/>
        </p:nvSpPr>
        <p:spPr>
          <a:xfrm>
            <a:off x="760000" y="1650000"/>
            <a:ext cx="10672000" cy="6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5" name="sr15"/>
          <p:cNvSpPr/>
          <p:nvPr/>
        </p:nvSpPr>
        <p:spPr>
          <a:xfrm>
            <a:off x="760000" y="1650000"/>
            <a:ext cx="50000" cy="650000"/>
          </a:xfrm>
          <a:prstGeom prst="rect">
            <a:avLst/>
          </a:prstGeom>
          <a:solidFill>
            <a:srgbClr val="E07B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880000" y="176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Q6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Which blocks are on the main chain?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3860000" y="173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E07B00"/>
                </a:solidFill>
                <a:latin typeface="Arial"/>
              </a:rPr>
              <a:t>8.4x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5130000" y="176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reads 977 rows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of one table, follows prev_hash by key</a:t>
            </a:r>
          </a:p>
        </p:txBody>
      </p:sp>
      <p:sp>
        <p:nvSpPr>
          <p:cNvPr id="19" name="tb19"/>
          <p:cNvSpPr txBox="1"/>
          <p:nvPr/>
        </p:nvSpPr>
        <p:spPr>
          <a:xfrm>
            <a:off x="8330000" y="176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visits 977 nodes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one by one</a:t>
            </a:r>
          </a:p>
        </p:txBody>
      </p:sp>
      <p:sp>
        <p:nvSpPr>
          <p:cNvPr id="20" name="sr20"/>
          <p:cNvSpPr/>
          <p:nvPr/>
        </p:nvSpPr>
        <p:spPr>
          <a:xfrm>
            <a:off x="760000" y="2370000"/>
            <a:ext cx="10672000" cy="6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1" name="sr21"/>
          <p:cNvSpPr/>
          <p:nvPr/>
        </p:nvSpPr>
        <p:spPr>
          <a:xfrm>
            <a:off x="760000" y="2370000"/>
            <a:ext cx="50000" cy="650000"/>
          </a:xfrm>
          <a:prstGeom prst="rect">
            <a:avLst/>
          </a:prstGeom>
          <a:solidFill>
            <a:srgbClr val="E07B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880000" y="248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Q8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What is each transaction worth in USD?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3860000" y="245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E07B00"/>
                </a:solidFill>
                <a:latin typeface="Arial"/>
              </a:rPr>
              <a:t>1.8x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130000" y="248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MAX on the price key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, one index lookup per transaction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8330000" y="248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no edge to follow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: the same MAX, then a lookup</a:t>
            </a:r>
          </a:p>
        </p:txBody>
      </p:sp>
      <p:sp>
        <p:nvSpPr>
          <p:cNvPr id="26" name="sr26"/>
          <p:cNvSpPr/>
          <p:nvPr/>
        </p:nvSpPr>
        <p:spPr>
          <a:xfrm>
            <a:off x="760000" y="3090000"/>
            <a:ext cx="10672000" cy="6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7" name="sr27"/>
          <p:cNvSpPr/>
          <p:nvPr/>
        </p:nvSpPr>
        <p:spPr>
          <a:xfrm>
            <a:off x="760000" y="3090000"/>
            <a:ext cx="50000" cy="650000"/>
          </a:xfrm>
          <a:prstGeom prst="rect">
            <a:avLst/>
          </a:prstGeom>
          <a:solidFill>
            <a:srgbClr val="E07B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b28"/>
          <p:cNvSpPr txBox="1"/>
          <p:nvPr/>
        </p:nvSpPr>
        <p:spPr>
          <a:xfrm>
            <a:off x="880000" y="320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Q4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Where did one address's money go?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3860000" y="317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E07B00"/>
                </a:solidFill>
                <a:latin typeface="Arial"/>
              </a:rPr>
              <a:t>1.1x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5130000" y="320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recursive CTE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, follows the spent outputs · 8.9 s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8330000" y="320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the same walk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, output by output · 10 s</a:t>
            </a:r>
          </a:p>
        </p:txBody>
      </p:sp>
      <p:sp>
        <p:nvSpPr>
          <p:cNvPr id="32" name="sr32"/>
          <p:cNvSpPr/>
          <p:nvPr/>
        </p:nvSpPr>
        <p:spPr>
          <a:xfrm>
            <a:off x="760000" y="3810000"/>
            <a:ext cx="10672000" cy="6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33" name="sr33"/>
          <p:cNvSpPr/>
          <p:nvPr/>
        </p:nvSpPr>
        <p:spPr>
          <a:xfrm>
            <a:off x="760000" y="3810000"/>
            <a:ext cx="50000" cy="6500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b34"/>
          <p:cNvSpPr txBox="1"/>
          <p:nvPr/>
        </p:nvSpPr>
        <p:spPr>
          <a:xfrm>
            <a:off x="880000" y="3925000"/>
            <a:ext cx="310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7F8C8D"/>
                </a:solidFill>
                <a:latin typeface="Arial"/>
              </a:rPr>
              <a:t>Q5</a:t>
            </a:r>
          </a:p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Which addresses receive the most?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3860000" y="3895000"/>
            <a:ext cx="11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7F8C8D"/>
                </a:solidFill>
                <a:latin typeface="Arial"/>
              </a:rPr>
              <a:t>tie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5130000" y="3925000"/>
            <a:ext cx="3050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counts every output row</a:t>
            </a:r>
          </a:p>
        </p:txBody>
      </p:sp>
      <p:sp>
        <p:nvSpPr>
          <p:cNvPr id="37" name="tb37"/>
          <p:cNvSpPr txBox="1"/>
          <p:nvPr/>
        </p:nvSpPr>
        <p:spPr>
          <a:xfrm>
            <a:off x="8330000" y="3925000"/>
            <a:ext cx="307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counts every output node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60000" y="4750000"/>
            <a:ext cx="10672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0" dirty="0">
                <a:solidFill>
                  <a:srgbClr val="4A4A4A"/>
                </a:solidFill>
                <a:latin typeface="Arial"/>
              </a:rPr>
              <a:t>Local query  →  8.4x     no edge to follow  →  1.8x     same walk  →  1.1x     </a:t>
            </a:r>
            <a:r>
              <a:rPr lang="it-IT" sz="1300" b="1" dirty="0">
                <a:solidFill>
                  <a:srgbClr val="1F1F1F"/>
                </a:solidFill>
                <a:latin typeface="Arial"/>
              </a:rPr>
              <a:t>SQLite wins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indefinite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5" fill="hold">
                      <p:stCondLst>
                        <p:cond delay="indefinite"/>
                      </p:stCondLst>
                      <p:childTnLst>
                        <p:par>
                          <p:cTn id="266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indefinite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5" fill="hold">
                      <p:stCondLst>
                        <p:cond delay="indefinite"/>
                      </p:stCondLst>
                      <p:childTnLst>
                        <p:par>
                          <p:cTn id="296" fill="hold">
                            <p:stCondLst>
                              <p:cond delay="0"/>
                            </p:stCondLst>
                            <p:childTnLst>
                              <p:par>
                                <p:cTn id="2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" fill="hold">
                      <p:stCondLst>
                        <p:cond delay="indefinite"/>
                      </p:stCondLst>
                      <p:childTnLst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5" fill="hold">
                      <p:stCondLst>
                        <p:cond delay="indefinite"/>
                      </p:stCondLst>
                      <p:childTnLst>
                        <p:par>
                          <p:cTn id="326" fill="hold">
                            <p:stCondLst>
                              <p:cond delay="0"/>
                            </p:stCondLst>
                            <p:childTnLst>
                              <p:par>
                                <p:cTn id="3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0" fill="hold">
                      <p:stCondLst>
                        <p:cond delay="indefinite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5" fill="hold">
                      <p:stCondLst>
                        <p:cond delay="indefinite"/>
                      </p:stCondLst>
                      <p:childTnLst>
                        <p:par>
                          <p:cTn id="356" fill="hold">
                            <p:stCondLst>
                              <p:cond delay="0"/>
                            </p:stCondLst>
                            <p:childTnLst>
                              <p:par>
                                <p:cTn id="3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0" fill="hold">
                      <p:stCondLst>
                        <p:cond delay="indefinite"/>
                      </p:stCondLst>
                      <p:childTnLst>
                        <p:par>
                          <p:cTn id="371" fill="hold">
                            <p:stCondLst>
                              <p:cond delay="0"/>
                            </p:stCondLst>
                            <p:childTnLst>
                              <p:par>
                                <p:cTn id="3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5" fill="hold">
                      <p:stCondLst>
                        <p:cond delay="indefinite"/>
                      </p:stCondLst>
                      <p:childTnLst>
                        <p:par>
                          <p:cTn id="386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0" fill="hold">
                      <p:stCondLst>
                        <p:cond delay="indefinite"/>
                      </p:stCondLst>
                      <p:childTnLst>
                        <p:par>
                          <p:cTn id="401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5" fill="hold">
                      <p:stCondLst>
                        <p:cond delay="indefinite"/>
                      </p:stCondLst>
                      <p:childTnLst>
                        <p:par>
                          <p:cTn id="416" fill="hold">
                            <p:stCondLst>
                              <p:cond delay="0"/>
                            </p:stCondLst>
                            <p:childTnLst>
                              <p:par>
                                <p:cTn id="4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0" fill="hold">
                      <p:stCondLst>
                        <p:cond delay="indefinite"/>
                      </p:stCondLst>
                      <p:childTnLst>
                        <p:par>
                          <p:cTn id="431" fill="hold">
                            <p:stCondLst>
                              <p:cond delay="0"/>
                            </p:stCondLst>
                            <p:childTnLst>
                              <p:par>
                                <p:cTn id="4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5" fill="hold">
                      <p:stCondLst>
                        <p:cond delay="indefinite"/>
                      </p:stCondLst>
                      <p:childTnLst>
                        <p:par>
                          <p:cTn id="446" fill="hold">
                            <p:stCondLst>
                              <p:cond delay="0"/>
                            </p:stCondLst>
                            <p:childTnLst>
                              <p:par>
                                <p:cTn id="4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Same question, two languages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9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60000" y="1150000"/>
            <a:ext cx="106720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1F1F1F"/>
                </a:solidFill>
                <a:latin typeface="Arial"/>
              </a:rPr>
              <a:t>Q1   How much fee did each transaction pay?</a:t>
            </a:r>
            <a:r>
              <a:rPr lang="it-IT" sz="1250" b="0" dirty="0">
                <a:solidFill>
                  <a:srgbClr val="4A4A4A"/>
                </a:solidFill>
                <a:latin typeface="Arial"/>
              </a:rPr>
              <a:t>      Neo4j 2.5x faster</a:t>
            </a:r>
          </a:p>
        </p:txBody>
      </p:sp>
      <p:sp>
        <p:nvSpPr>
          <p:cNvPr id="11" name="tb11"/>
          <p:cNvSpPr txBox="1"/>
          <p:nvPr/>
        </p:nvSpPr>
        <p:spPr>
          <a:xfrm>
            <a:off x="760000" y="1550000"/>
            <a:ext cx="5186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E07B00"/>
                </a:solidFill>
                <a:latin typeface="Arial"/>
              </a:rPr>
              <a:t>SQL   </a:t>
            </a:r>
            <a:r>
              <a:rPr lang="it-IT" sz="1000" b="0" dirty="0">
                <a:solidFill>
                  <a:srgbClr val="4A4A4A"/>
                </a:solidFill>
                <a:latin typeface="Arial"/>
              </a:rPr>
              <a:t>19 lines  ·  2 subqueries  ·  JOIN on 2 columns</a:t>
            </a:r>
          </a:p>
        </p:txBody>
      </p:sp>
      <p:sp>
        <p:nvSpPr>
          <p:cNvPr id="12" name="sr12"/>
          <p:cNvSpPr/>
          <p:nvPr/>
        </p:nvSpPr>
        <p:spPr>
          <a:xfrm>
            <a:off x="760000" y="1860000"/>
            <a:ext cx="5186000" cy="30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3" name="tb13"/>
          <p:cNvSpPr txBox="1"/>
          <p:nvPr/>
        </p:nvSpPr>
        <p:spPr>
          <a:xfrm>
            <a:off x="880000" y="1930000"/>
            <a:ext cx="4986000" cy="29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WITH with_input AS MATERIALIZED (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SELECT tx.txid,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(SELECT SUM(o.value) FROM tx_inputs i</a:t>
            </a:r>
          </a:p>
          <a:p>
            <a:pPr algn="l">
              <a:lnSpc>
                <a:spcPct val="100000"/>
              </a:lnSpc>
            </a:pPr>
            <a:r>
              <a:rPr lang="it-IT" sz="820" b="1" dirty="0">
                <a:solidFill>
                  <a:srgbClr val="1F1F1F"/>
                </a:solidFill>
                <a:latin typeface="Consolas"/>
              </a:rPr>
              <a:t>     JOIN tx_outputs o</a:t>
            </a:r>
          </a:p>
          <a:p>
            <a:pPr algn="l">
              <a:lnSpc>
                <a:spcPct val="100000"/>
              </a:lnSpc>
            </a:pPr>
            <a:r>
              <a:rPr lang="it-IT" sz="820" b="1" dirty="0">
                <a:solidFill>
                  <a:srgbClr val="1F1F1F"/>
                </a:solidFill>
                <a:latin typeface="Consolas"/>
              </a:rPr>
              <a:t>       ON o.txid = i.prev_txid</a:t>
            </a:r>
          </a:p>
          <a:p>
            <a:pPr algn="l">
              <a:lnSpc>
                <a:spcPct val="100000"/>
              </a:lnSpc>
            </a:pPr>
            <a:r>
              <a:rPr lang="it-IT" sz="820" b="1" dirty="0">
                <a:solidFill>
                  <a:srgbClr val="1F1F1F"/>
                </a:solidFill>
                <a:latin typeface="Consolas"/>
              </a:rPr>
              <a:t>      AND o.output_index = i.prev_output_index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 WHERE i.txid = tx.txid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   AND i.prev_output_index != 4294967295) AS total_input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FROM transactions tx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),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amounts AS MATERIALIZED (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SELECT w.txid, w.total_input,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(SELECT SUM(value) FROM tx_outputs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 WHERE txid = w.txid) AS total_output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FROM with_input w WHERE w.total_input IS NOT NULL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SELECT txid, total_input, total_output,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   total_input - total_output AS fee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FROM amounts ORDER BY fee DESC LIMIT 100;</a:t>
            </a:r>
          </a:p>
        </p:txBody>
      </p:sp>
      <p:sp>
        <p:nvSpPr>
          <p:cNvPr id="14" name="tb14"/>
          <p:cNvSpPr txBox="1"/>
          <p:nvPr/>
        </p:nvSpPr>
        <p:spPr>
          <a:xfrm>
            <a:off x="6246000" y="1550000"/>
            <a:ext cx="5186000" cy="28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00838F"/>
                </a:solidFill>
                <a:latin typeface="Arial"/>
              </a:rPr>
              <a:t>CYPHER   </a:t>
            </a:r>
            <a:r>
              <a:rPr lang="it-IT" sz="1000" b="0" dirty="0">
                <a:solidFill>
                  <a:srgbClr val="4A4A4A"/>
                </a:solidFill>
                <a:latin typeface="Arial"/>
              </a:rPr>
              <a:t>10 lines  ·  1 pattern  ·  no joins</a:t>
            </a:r>
          </a:p>
        </p:txBody>
      </p:sp>
      <p:sp>
        <p:nvSpPr>
          <p:cNvPr id="15" name="sr15"/>
          <p:cNvSpPr/>
          <p:nvPr/>
        </p:nvSpPr>
        <p:spPr>
          <a:xfrm>
            <a:off x="6246000" y="1860000"/>
            <a:ext cx="5186000" cy="3050000"/>
          </a:xfrm>
          <a:prstGeom prst="rect">
            <a:avLst/>
          </a:prstGeom>
          <a:solidFill>
            <a:srgbClr val="F3F6F8"/>
          </a:solidFill>
          <a:ln w="9525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6366000" y="1930000"/>
            <a:ext cx="4986000" cy="29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MATCH (t:Transaction)-[:HAS_INPUT]-&gt;(i:Input)</a:t>
            </a:r>
          </a:p>
          <a:p>
            <a:pPr algn="l">
              <a:lnSpc>
                <a:spcPct val="100000"/>
              </a:lnSpc>
            </a:pPr>
            <a:r>
              <a:rPr lang="it-IT" sz="820" b="1" dirty="0">
                <a:solidFill>
                  <a:srgbClr val="1F1F1F"/>
                </a:solidFill>
                <a:latin typeface="Consolas"/>
              </a:rPr>
              <a:t>      -[:SPENDS]-&gt;(prevOut:Output)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WHERE i.prevIndex &lt;&gt; 4294967295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WITH t, SUM(prevOut.value) AS total_input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MATCH (t)-[:HAS_OUTPUT]-&gt;(o:Output)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WITH t, total_input, SUM(o.value) AS total_output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RETURN t.txid, total_input, total_output,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       total_input - total_output AS fee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ORDER BY fee DESC</a:t>
            </a:r>
          </a:p>
          <a:p>
            <a:pPr algn="l">
              <a:lnSpc>
                <a:spcPct val="100000"/>
              </a:lnSpc>
            </a:pPr>
            <a:r>
              <a:rPr lang="it-IT" sz="820" b="0" dirty="0">
                <a:solidFill>
                  <a:srgbClr val="8A8A8A"/>
                </a:solidFill>
                <a:latin typeface="Consolas"/>
              </a:rPr>
              <a:t>LIMIT 100;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760000" y="5100000"/>
            <a:ext cx="5186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15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SQL   </a:t>
            </a:r>
            <a:r>
              <a:rPr lang="it-IT" sz="1150" b="1" dirty="0">
                <a:solidFill>
                  <a:srgbClr val="1F1F1F"/>
                </a:solidFill>
                <a:latin typeface="Arial"/>
              </a:rPr>
              <a:t>JOIN on 2 columns</a:t>
            </a:r>
          </a:p>
          <a:p>
            <a:pPr algn="ctr">
              <a:lnSpc>
                <a:spcPct val="115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matches every input with its output, at every query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5696000" y="5170000"/>
            <a:ext cx="8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400" b="1" dirty="0">
                <a:solidFill>
                  <a:srgbClr val="8A8A8A"/>
                </a:solidFill>
                <a:latin typeface="Arial"/>
              </a:rPr>
              <a:t>vs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6246000" y="5100000"/>
            <a:ext cx="5186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15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CYPHER   </a:t>
            </a:r>
            <a:r>
              <a:rPr lang="it-IT" sz="1150" b="1" dirty="0">
                <a:solidFill>
                  <a:srgbClr val="1F1F1F"/>
                </a:solidFill>
                <a:latin typeface="Arial"/>
              </a:rPr>
              <a:t>follows the SPENDS edge</a:t>
            </a:r>
          </a:p>
          <a:p>
            <a:pPr algn="ctr">
              <a:lnSpc>
                <a:spcPct val="115000"/>
              </a:lnSpc>
            </a:pPr>
            <a:r>
              <a:rPr lang="it-IT" sz="1150" b="0" dirty="0">
                <a:solidFill>
                  <a:srgbClr val="4A4A4A"/>
                </a:solidFill>
                <a:latin typeface="Arial"/>
              </a:rPr>
              <a:t>the link is already stored, built once at load time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Scalability · SQLite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10</a:t>
            </a:r>
          </a:p>
        </p:txBody>
      </p:sp>
      <p:pic>
        <p:nvPicPr>
          <p:cNvPr id="10" name="pic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0" y="1180000"/>
            <a:ext cx="7550000" cy="4127333"/>
          </a:xfrm>
          <a:prstGeom prst="rect">
            <a:avLst/>
          </a:prstGeom>
        </p:spPr>
      </p:pic>
      <p:sp>
        <p:nvSpPr>
          <p:cNvPr id="20" name="sr20"/>
          <p:cNvSpPr/>
          <p:nvPr/>
        </p:nvSpPr>
        <p:spPr>
          <a:xfrm>
            <a:off x="8510000" y="1300000"/>
            <a:ext cx="45000" cy="580000"/>
          </a:xfrm>
          <a:prstGeom prst="rect">
            <a:avLst/>
          </a:prstGeom>
          <a:solidFill>
            <a:srgbClr val="C98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8640000" y="128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C98A00"/>
                </a:solidFill>
                <a:latin typeface="Arial"/>
              </a:rPr>
              <a:t>Q1 fee · Q3 balance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8640000" y="155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0.86-1.8 s → 26-56 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30-31x the time for 19x the data</a:t>
            </a:r>
          </a:p>
        </p:txBody>
      </p:sp>
      <p:sp>
        <p:nvSpPr>
          <p:cNvPr id="23" name="sr23"/>
          <p:cNvSpPr/>
          <p:nvPr/>
        </p:nvSpPr>
        <p:spPr>
          <a:xfrm>
            <a:off x="8510000" y="2060000"/>
            <a:ext cx="45000" cy="58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b24"/>
          <p:cNvSpPr txBox="1"/>
          <p:nvPr/>
        </p:nvSpPr>
        <p:spPr>
          <a:xfrm>
            <a:off x="8640000" y="204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Q2 · Q5 · Q8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8640000" y="231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0.31-0.61 s → 9-16 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27-30x the time, but stay under 16 s</a:t>
            </a:r>
          </a:p>
        </p:txBody>
      </p:sp>
      <p:sp>
        <p:nvSpPr>
          <p:cNvPr id="26" name="sr26"/>
          <p:cNvSpPr/>
          <p:nvPr/>
        </p:nvSpPr>
        <p:spPr>
          <a:xfrm>
            <a:off x="8510000" y="2820000"/>
            <a:ext cx="45000" cy="580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b27"/>
          <p:cNvSpPr txBox="1"/>
          <p:nvPr/>
        </p:nvSpPr>
        <p:spPr>
          <a:xfrm>
            <a:off x="8640000" y="280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B3261E"/>
                </a:solidFill>
                <a:latin typeface="Arial"/>
              </a:rPr>
              <a:t>Q4 fund tracing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8640000" y="307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0.12 s → 8.9 s, in jumps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depends on how connected the start is</a:t>
            </a:r>
          </a:p>
        </p:txBody>
      </p:sp>
      <p:sp>
        <p:nvSpPr>
          <p:cNvPr id="29" name="sr29"/>
          <p:cNvSpPr/>
          <p:nvPr/>
        </p:nvSpPr>
        <p:spPr>
          <a:xfrm>
            <a:off x="8510000" y="3580000"/>
            <a:ext cx="45000" cy="5800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b30"/>
          <p:cNvSpPr txBox="1"/>
          <p:nvPr/>
        </p:nvSpPr>
        <p:spPr>
          <a:xfrm>
            <a:off x="8640000" y="356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7F8C8D"/>
                </a:solidFill>
                <a:latin typeface="Arial"/>
              </a:rPr>
              <a:t>Q6 main chain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8640000" y="383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0.073 ms → 1.8 ms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reads only the blocks table, ≤ 977 rows</a:t>
            </a:r>
          </a:p>
        </p:txBody>
      </p:sp>
      <p:sp>
        <p:nvSpPr>
          <p:cNvPr id="32" name="sr32"/>
          <p:cNvSpPr/>
          <p:nvPr/>
        </p:nvSpPr>
        <p:spPr>
          <a:xfrm>
            <a:off x="8510000" y="4340000"/>
            <a:ext cx="45000" cy="580000"/>
          </a:xfrm>
          <a:prstGeom prst="rect">
            <a:avLst/>
          </a:prstGeom>
          <a:solidFill>
            <a:srgbClr val="7B3FA0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b33"/>
          <p:cNvSpPr txBox="1"/>
          <p:nvPr/>
        </p:nvSpPr>
        <p:spPr>
          <a:xfrm>
            <a:off x="8640000" y="432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7B3FA0"/>
                </a:solidFill>
                <a:latin typeface="Arial"/>
              </a:rPr>
              <a:t>Q7 wallet</a:t>
            </a:r>
            <a:r>
              <a:rPr lang="it-IT" sz="800" b="0" dirty="0">
                <a:solidFill>
                  <a:srgbClr val="B3261E"/>
                </a:solidFill>
                <a:latin typeface="Arial"/>
              </a:rPr>
              <a:t>*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8640000" y="459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1.0 s → 5.1 s, at 50-200 blocks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grows like Q3 · dashed = projected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5450000"/>
            <a:ext cx="106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1F1F1F"/>
                </a:solidFill>
                <a:latin typeface="Arial"/>
              </a:rPr>
              <a:t>Which query degrades, and from what size?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Scalability · Neo4j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11</a:t>
            </a:r>
          </a:p>
        </p:txBody>
      </p:sp>
      <p:pic>
        <p:nvPicPr>
          <p:cNvPr id="10" name="pic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0" y="1180000"/>
            <a:ext cx="7550000" cy="4127333"/>
          </a:xfrm>
          <a:prstGeom prst="rect">
            <a:avLst/>
          </a:prstGeom>
        </p:spPr>
      </p:pic>
      <p:sp>
        <p:nvSpPr>
          <p:cNvPr id="20" name="sr20"/>
          <p:cNvSpPr/>
          <p:nvPr/>
        </p:nvSpPr>
        <p:spPr>
          <a:xfrm>
            <a:off x="8510000" y="1300000"/>
            <a:ext cx="45000" cy="770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8640000" y="128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B3261E"/>
                </a:solidFill>
                <a:latin typeface="Arial"/>
              </a:rPr>
              <a:t>Q4 · follows the start address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8640000" y="1550000"/>
            <a:ext cx="2792000" cy="6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0.13 s → 10 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start address 2.5k → 56k outputs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the same walk as the SQL query</a:t>
            </a:r>
          </a:p>
        </p:txBody>
      </p:sp>
      <p:sp>
        <p:nvSpPr>
          <p:cNvPr id="23" name="sr23"/>
          <p:cNvSpPr/>
          <p:nvPr/>
        </p:nvSpPr>
        <p:spPr>
          <a:xfrm>
            <a:off x="8510000" y="2250000"/>
            <a:ext cx="45000" cy="580000"/>
          </a:xfrm>
          <a:prstGeom prst="rect">
            <a:avLst/>
          </a:prstGeom>
          <a:solidFill>
            <a:srgbClr val="C98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b24"/>
          <p:cNvSpPr txBox="1"/>
          <p:nvPr/>
        </p:nvSpPr>
        <p:spPr>
          <a:xfrm>
            <a:off x="8640000" y="223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C98A00"/>
                </a:solidFill>
                <a:latin typeface="Arial"/>
              </a:rPr>
              <a:t>Q1 · Q2 · Q3 · Q5 · Q8 grow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8640000" y="250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they touch every output or transaction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19-36x the time for 19x the data</a:t>
            </a:r>
          </a:p>
        </p:txBody>
      </p:sp>
      <p:sp>
        <p:nvSpPr>
          <p:cNvPr id="26" name="sr26"/>
          <p:cNvSpPr/>
          <p:nvPr/>
        </p:nvSpPr>
        <p:spPr>
          <a:xfrm>
            <a:off x="8510000" y="3010000"/>
            <a:ext cx="45000" cy="7700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b27"/>
          <p:cNvSpPr txBox="1"/>
          <p:nvPr/>
        </p:nvSpPr>
        <p:spPr>
          <a:xfrm>
            <a:off x="8640000" y="299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7F8C8D"/>
                </a:solidFill>
                <a:latin typeface="Arial"/>
              </a:rPr>
              <a:t>Q6 · stays flat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8640000" y="3260000"/>
            <a:ext cx="2792000" cy="6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4.6 ms → 16 ms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walks only the block nodes, ≤ 977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never touches the millions of outputs</a:t>
            </a:r>
          </a:p>
        </p:txBody>
      </p:sp>
      <p:sp>
        <p:nvSpPr>
          <p:cNvPr id="29" name="sr29"/>
          <p:cNvSpPr/>
          <p:nvPr/>
        </p:nvSpPr>
        <p:spPr>
          <a:xfrm>
            <a:off x="8510000" y="3960000"/>
            <a:ext cx="45000" cy="580000"/>
          </a:xfrm>
          <a:prstGeom prst="rect">
            <a:avLst/>
          </a:prstGeom>
          <a:solidFill>
            <a:srgbClr val="7B3FA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b30"/>
          <p:cNvSpPr txBox="1"/>
          <p:nvPr/>
        </p:nvSpPr>
        <p:spPr>
          <a:xfrm>
            <a:off x="8640000" y="394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7B3FA0"/>
                </a:solidFill>
                <a:latin typeface="Arial"/>
              </a:rPr>
              <a:t>Q7 wallet</a:t>
            </a:r>
            <a:r>
              <a:rPr lang="it-IT" sz="800" b="0" dirty="0">
                <a:solidFill>
                  <a:srgbClr val="B3261E"/>
                </a:solidFill>
                <a:latin typeface="Arial"/>
              </a:rPr>
              <a:t>*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8640000" y="421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0.4 s → 1.9 s, at 50-200 blocks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grows like Q3 · dashed = projected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5450000"/>
            <a:ext cx="106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1F1F1F"/>
                </a:solidFill>
                <a:latin typeface="Arial"/>
              </a:rPr>
              <a:t>Same shape as SQLite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The two engines together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12</a:t>
            </a:r>
          </a:p>
        </p:txBody>
      </p:sp>
      <p:pic>
        <p:nvPicPr>
          <p:cNvPr id="10" name="pic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0" y="1180000"/>
            <a:ext cx="7550000" cy="4127333"/>
          </a:xfrm>
          <a:prstGeom prst="rect">
            <a:avLst/>
          </a:prstGeom>
        </p:spPr>
      </p:pic>
      <p:sp>
        <p:nvSpPr>
          <p:cNvPr id="20" name="sr20"/>
          <p:cNvSpPr/>
          <p:nvPr/>
        </p:nvSpPr>
        <p:spPr>
          <a:xfrm>
            <a:off x="8510000" y="1300000"/>
            <a:ext cx="45000" cy="580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8640000" y="128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 side · Q1 · Q2 · Q3 · Q7</a:t>
            </a:r>
            <a:r>
              <a:rPr lang="it-IT" sz="800" b="0" dirty="0">
                <a:solidFill>
                  <a:srgbClr val="B3261E"/>
                </a:solidFill>
                <a:latin typeface="Arial"/>
              </a:rPr>
              <a:t>*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8640000" y="155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1.2-2.6x faster at every size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the JOIN never gets cheaper</a:t>
            </a:r>
          </a:p>
        </p:txBody>
      </p:sp>
      <p:sp>
        <p:nvSpPr>
          <p:cNvPr id="23" name="sr23"/>
          <p:cNvSpPr/>
          <p:nvPr/>
        </p:nvSpPr>
        <p:spPr>
          <a:xfrm>
            <a:off x="8510000" y="2060000"/>
            <a:ext cx="45000" cy="5800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b24"/>
          <p:cNvSpPr txBox="1"/>
          <p:nvPr/>
        </p:nvSpPr>
        <p:spPr>
          <a:xfrm>
            <a:off x="8640000" y="204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7F8C8D"/>
                </a:solidFill>
                <a:latin typeface="Arial"/>
              </a:rPr>
              <a:t>about equal · Q5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8640000" y="231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within 1.2x either way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both count every output</a:t>
            </a:r>
          </a:p>
        </p:txBody>
      </p:sp>
      <p:sp>
        <p:nvSpPr>
          <p:cNvPr id="26" name="sr26"/>
          <p:cNvSpPr/>
          <p:nvPr/>
        </p:nvSpPr>
        <p:spPr>
          <a:xfrm>
            <a:off x="8510000" y="2820000"/>
            <a:ext cx="45000" cy="580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b27"/>
          <p:cNvSpPr txBox="1"/>
          <p:nvPr/>
        </p:nvSpPr>
        <p:spPr>
          <a:xfrm>
            <a:off x="8640000" y="280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B3261E"/>
                </a:solidFill>
                <a:latin typeface="Arial"/>
              </a:rPr>
              <a:t>close · Q4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8640000" y="307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SQLite ahead at 3 sizes of 4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same walk, within 1.5x either way</a:t>
            </a:r>
          </a:p>
        </p:txBody>
      </p:sp>
      <p:sp>
        <p:nvSpPr>
          <p:cNvPr id="29" name="sr29"/>
          <p:cNvSpPr/>
          <p:nvPr/>
        </p:nvSpPr>
        <p:spPr>
          <a:xfrm>
            <a:off x="8510000" y="3580000"/>
            <a:ext cx="45000" cy="580000"/>
          </a:xfrm>
          <a:prstGeom prst="rect">
            <a:avLst/>
          </a:prstGeom>
          <a:solidFill>
            <a:srgbClr val="C98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b30"/>
          <p:cNvSpPr txBox="1"/>
          <p:nvPr/>
        </p:nvSpPr>
        <p:spPr>
          <a:xfrm>
            <a:off x="8640000" y="356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C98A00"/>
                </a:solidFill>
                <a:latin typeface="Arial"/>
              </a:rPr>
              <a:t>SQLite side · Q8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8640000" y="383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2.3x → 1.8x for SQLite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no edge to follow, same lookup on both</a:t>
            </a:r>
          </a:p>
        </p:txBody>
      </p:sp>
      <p:sp>
        <p:nvSpPr>
          <p:cNvPr id="32" name="sr32"/>
          <p:cNvSpPr/>
          <p:nvPr/>
        </p:nvSpPr>
        <p:spPr>
          <a:xfrm>
            <a:off x="8510000" y="4340000"/>
            <a:ext cx="45000" cy="58000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b33"/>
          <p:cNvSpPr txBox="1"/>
          <p:nvPr/>
        </p:nvSpPr>
        <p:spPr>
          <a:xfrm>
            <a:off x="8640000" y="4320000"/>
            <a:ext cx="2792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D35400"/>
                </a:solidFill>
                <a:latin typeface="Arial"/>
              </a:rPr>
              <a:t>SQLite side · Q6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8640000" y="4590000"/>
            <a:ext cx="2792000" cy="44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62x → 8x, always SQLite</a:t>
            </a:r>
          </a:p>
          <a:p>
            <a:pPr algn="l">
              <a:lnSpc>
                <a:spcPct val="110000"/>
              </a:lnSpc>
            </a:pPr>
            <a:r>
              <a:rPr lang="it-IT" sz="1000" b="0" dirty="0">
                <a:solidFill>
                  <a:srgbClr val="4A4A4A"/>
                </a:solidFill>
                <a:latin typeface="Arial"/>
              </a:rPr>
              <a:t>Neo4j fixed cost per query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5450000"/>
            <a:ext cx="106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300" b="1" dirty="0">
                <a:solidFill>
                  <a:srgbClr val="1F1F1F"/>
                </a:solidFill>
                <a:latin typeface="Arial"/>
              </a:rPr>
              <a:t>The query decides the winner, not the size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The cost you don't see in query timings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13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60000" y="1150000"/>
            <a:ext cx="45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50" b="1" dirty="0">
                <a:solidFill>
                  <a:srgbClr val="8A8A8A"/>
                </a:solidFill>
                <a:latin typeface="Arial"/>
              </a:rPr>
              <a:t>LOADING, PAID ONCE</a:t>
            </a:r>
          </a:p>
        </p:txBody>
      </p:sp>
      <p:sp>
        <p:nvSpPr>
          <p:cNvPr id="11" name="rc11"/>
          <p:cNvSpPr/>
          <p:nvPr/>
        </p:nvSpPr>
        <p:spPr>
          <a:xfrm>
            <a:off x="760000" y="1450000"/>
            <a:ext cx="4500000" cy="560000"/>
          </a:xfrm>
          <a:prstGeom prst="roundRect">
            <a:avLst>
              <a:gd name="adj" fmla="val 6000"/>
            </a:avLst>
          </a:prstGeom>
          <a:solidFill>
            <a:srgbClr val="E07B00">
              <a:alpha val="10000"/>
            </a:srgbClr>
          </a:solidFill>
          <a:ln w="12700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940000" y="1580000"/>
            <a:ext cx="11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SQLite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2010000" y="1580000"/>
            <a:ext cx="32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1F1F1F"/>
                </a:solidFill>
                <a:latin typeface="Arial"/>
              </a:rPr>
              <a:t>5.5 min  ·  6.2 GB</a:t>
            </a:r>
          </a:p>
        </p:txBody>
      </p:sp>
      <p:sp>
        <p:nvSpPr>
          <p:cNvPr id="14" name="rc14"/>
          <p:cNvSpPr/>
          <p:nvPr/>
        </p:nvSpPr>
        <p:spPr>
          <a:xfrm>
            <a:off x="760000" y="2090000"/>
            <a:ext cx="4500000" cy="560000"/>
          </a:xfrm>
          <a:prstGeom prst="roundRect">
            <a:avLst>
              <a:gd name="adj" fmla="val 6000"/>
            </a:avLst>
          </a:prstGeom>
          <a:solidFill>
            <a:srgbClr val="00838F">
              <a:alpha val="10000"/>
            </a:srgbClr>
          </a:solidFill>
          <a:ln w="12700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15" name="tb15"/>
          <p:cNvSpPr txBox="1"/>
          <p:nvPr/>
        </p:nvSpPr>
        <p:spPr>
          <a:xfrm>
            <a:off x="940000" y="2220000"/>
            <a:ext cx="11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2010000" y="2220000"/>
            <a:ext cx="32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1F1F1F"/>
                </a:solidFill>
                <a:latin typeface="Arial"/>
              </a:rPr>
              <a:t>26.1 min  ·  17.4 GB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760000" y="2720000"/>
            <a:ext cx="4500000" cy="3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4.7x slower, 2.8x disk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 →  fast traversals later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760000" y="3250000"/>
            <a:ext cx="45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950" b="1" dirty="0">
                <a:solidFill>
                  <a:srgbClr val="8A8A8A"/>
                </a:solidFill>
                <a:latin typeface="Arial"/>
              </a:rPr>
              <a:t>WALLETS FOR Q7</a:t>
            </a:r>
            <a:r>
              <a:rPr lang="it-IT" sz="800" b="0" dirty="0">
                <a:solidFill>
                  <a:srgbClr val="B3261E"/>
                </a:solidFill>
                <a:latin typeface="Arial"/>
              </a:rPr>
              <a:t>*</a:t>
            </a:r>
            <a:r>
              <a:rPr lang="it-IT" sz="950" b="1" dirty="0">
                <a:solidFill>
                  <a:srgbClr val="8A8A8A"/>
                </a:solidFill>
                <a:latin typeface="Arial"/>
              </a:rPr>
              <a:t>, BUILT BEFORE THE QUERY  ·  200 BLOCKS</a:t>
            </a:r>
          </a:p>
        </p:txBody>
      </p:sp>
      <p:sp>
        <p:nvSpPr>
          <p:cNvPr id="21" name="rc21"/>
          <p:cNvSpPr/>
          <p:nvPr/>
        </p:nvSpPr>
        <p:spPr>
          <a:xfrm>
            <a:off x="760000" y="3550000"/>
            <a:ext cx="4500000" cy="560000"/>
          </a:xfrm>
          <a:prstGeom prst="roundRect">
            <a:avLst>
              <a:gd name="adj" fmla="val 6000"/>
            </a:avLst>
          </a:prstGeom>
          <a:solidFill>
            <a:srgbClr val="00838F">
              <a:alpha val="10000"/>
            </a:srgbClr>
          </a:solidFill>
          <a:ln w="12700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940000" y="3680000"/>
            <a:ext cx="11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00838F"/>
                </a:solidFill>
                <a:latin typeface="Arial"/>
              </a:rPr>
              <a:t>Neo4j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2010000" y="3680000"/>
            <a:ext cx="32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1F1F1F"/>
                </a:solidFill>
                <a:latin typeface="Arial"/>
              </a:rPr>
              <a:t>clustering 7 min  ·  then 1.9 s</a:t>
            </a:r>
          </a:p>
        </p:txBody>
      </p:sp>
      <p:sp>
        <p:nvSpPr>
          <p:cNvPr id="24" name="rc24"/>
          <p:cNvSpPr/>
          <p:nvPr/>
        </p:nvSpPr>
        <p:spPr>
          <a:xfrm>
            <a:off x="760000" y="4190000"/>
            <a:ext cx="4500000" cy="560000"/>
          </a:xfrm>
          <a:prstGeom prst="roundRect">
            <a:avLst>
              <a:gd name="adj" fmla="val 6000"/>
            </a:avLst>
          </a:prstGeom>
          <a:solidFill>
            <a:srgbClr val="E07B00">
              <a:alpha val="10000"/>
            </a:srgbClr>
          </a:solidFill>
          <a:ln w="12700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25" name="tb25"/>
          <p:cNvSpPr txBox="1"/>
          <p:nvPr/>
        </p:nvSpPr>
        <p:spPr>
          <a:xfrm>
            <a:off x="940000" y="4320000"/>
            <a:ext cx="11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E07B00"/>
                </a:solidFill>
                <a:latin typeface="Arial"/>
              </a:rPr>
              <a:t>SQLite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2010000" y="4320000"/>
            <a:ext cx="32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1F1F1F"/>
                </a:solidFill>
                <a:latin typeface="Arial"/>
              </a:rPr>
              <a:t>clustering 27 min  ·  then 5.1 s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760000" y="4820000"/>
            <a:ext cx="45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F1F1F"/>
                </a:solidFill>
                <a:latin typeface="Arial"/>
              </a:rPr>
              <a:t>each round rereads every edge from disk</a:t>
            </a:r>
            <a:r>
              <a:rPr lang="it-IT" sz="1100" b="0" dirty="0">
                <a:solidFill>
                  <a:srgbClr val="4A4A4A"/>
                </a:solidFill>
                <a:latin typeface="Arial"/>
              </a:rPr>
              <a:t>  ·  ≈ 5 h at 977 blocks, projected</a:t>
            </a:r>
          </a:p>
        </p:txBody>
      </p:sp>
      <p:pic>
        <p:nvPicPr>
          <p:cNvPr id="30" name="pic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000" y="1250000"/>
            <a:ext cx="5950000" cy="3252666"/>
          </a:xfrm>
          <a:prstGeom prst="rect">
            <a:avLst/>
          </a:prstGeom>
        </p:spPr>
      </p:pic>
      <p:sp>
        <p:nvSpPr>
          <p:cNvPr id="31" name="tb31"/>
          <p:cNvSpPr txBox="1"/>
          <p:nvPr/>
        </p:nvSpPr>
        <p:spPr>
          <a:xfrm>
            <a:off x="5482000" y="4602666"/>
            <a:ext cx="5950000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50" b="1" dirty="0">
                <a:solidFill>
                  <a:srgbClr val="1F1F1F"/>
                </a:solidFill>
                <a:latin typeface="Arial"/>
              </a:rPr>
              <a:t>load gap 4.6-5.1x at every size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What I take away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14</a:t>
            </a:r>
          </a:p>
        </p:txBody>
      </p:sp>
      <p:sp>
        <p:nvSpPr>
          <p:cNvPr id="10" name="rc10"/>
          <p:cNvSpPr/>
          <p:nvPr/>
        </p:nvSpPr>
        <p:spPr>
          <a:xfrm>
            <a:off x="760000" y="1250000"/>
            <a:ext cx="5236000" cy="118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960000" y="1380000"/>
            <a:ext cx="4836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822433"/>
                </a:solidFill>
                <a:latin typeface="Arial"/>
              </a:rPr>
              <a:t>PERFORMANCE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960000" y="1720000"/>
            <a:ext cx="4836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depends on the query</a:t>
            </a:r>
          </a:p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Neo4j up to 2.5x  ·  SQLite up to 8.4x</a:t>
            </a:r>
          </a:p>
        </p:txBody>
      </p:sp>
      <p:sp>
        <p:nvSpPr>
          <p:cNvPr id="13" name="rc13"/>
          <p:cNvSpPr/>
          <p:nvPr/>
        </p:nvSpPr>
        <p:spPr>
          <a:xfrm>
            <a:off x="6196000" y="1250000"/>
            <a:ext cx="5236000" cy="118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4" name="tb14"/>
          <p:cNvSpPr txBox="1"/>
          <p:nvPr/>
        </p:nvSpPr>
        <p:spPr>
          <a:xfrm>
            <a:off x="6396000" y="1380000"/>
            <a:ext cx="4836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822433"/>
                </a:solidFill>
                <a:latin typeface="Arial"/>
              </a:rPr>
              <a:t>SCALABILITY</a:t>
            </a:r>
          </a:p>
        </p:txBody>
      </p:sp>
      <p:sp>
        <p:nvSpPr>
          <p:cNvPr id="15" name="tb15"/>
          <p:cNvSpPr txBox="1"/>
          <p:nvPr/>
        </p:nvSpPr>
        <p:spPr>
          <a:xfrm>
            <a:off x="6396000" y="1720000"/>
            <a:ext cx="4836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the ratios stay flat</a:t>
            </a:r>
          </a:p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size does not change the winner</a:t>
            </a:r>
          </a:p>
        </p:txBody>
      </p:sp>
      <p:sp>
        <p:nvSpPr>
          <p:cNvPr id="16" name="rc16"/>
          <p:cNvSpPr/>
          <p:nvPr/>
        </p:nvSpPr>
        <p:spPr>
          <a:xfrm>
            <a:off x="760000" y="2550000"/>
            <a:ext cx="5236000" cy="118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17" name="tb17"/>
          <p:cNvSpPr txBox="1"/>
          <p:nvPr/>
        </p:nvSpPr>
        <p:spPr>
          <a:xfrm>
            <a:off x="960000" y="2680000"/>
            <a:ext cx="4836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822433"/>
                </a:solidFill>
                <a:latin typeface="Arial"/>
              </a:rPr>
              <a:t>QUERY LANGUAGE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960000" y="3020000"/>
            <a:ext cx="4836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Cypher = patterns, SQL = JOINs</a:t>
            </a:r>
          </a:p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relationships easier to write in Cypher</a:t>
            </a:r>
          </a:p>
        </p:txBody>
      </p:sp>
      <p:sp>
        <p:nvSpPr>
          <p:cNvPr id="19" name="rc19"/>
          <p:cNvSpPr/>
          <p:nvPr/>
        </p:nvSpPr>
        <p:spPr>
          <a:xfrm>
            <a:off x="6196000" y="2550000"/>
            <a:ext cx="5236000" cy="11800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 w="12700">
            <a:solidFill>
              <a:srgbClr val="D5DCE2"/>
            </a:solidFill>
          </a:ln>
        </p:spPr>
        <p:txBody>
          <a:bodyPr/>
          <a:lstStyle/>
          <a:p/>
        </p:txBody>
      </p:sp>
      <p:sp>
        <p:nvSpPr>
          <p:cNvPr id="20" name="tb20"/>
          <p:cNvSpPr txBox="1"/>
          <p:nvPr/>
        </p:nvSpPr>
        <p:spPr>
          <a:xfrm>
            <a:off x="6396000" y="2680000"/>
            <a:ext cx="4836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822433"/>
                </a:solidFill>
                <a:latin typeface="Arial"/>
              </a:rPr>
              <a:t>EASE OF USE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6396000" y="3020000"/>
            <a:ext cx="4836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SQLite = 1 file, 5.5 min to load</a:t>
            </a:r>
          </a:p>
          <a:p>
            <a:pPr algn="l">
              <a:lnSpc>
                <a:spcPct val="115000"/>
              </a:lnSpc>
            </a:pPr>
            <a:r>
              <a:rPr lang="it-IT" sz="1250" b="0" dirty="0">
                <a:solidFill>
                  <a:srgbClr val="4A4A4A"/>
                </a:solidFill>
                <a:latin typeface="Arial"/>
              </a:rPr>
              <a:t>Neo4j = server, 8 GB heap, 26 min</a:t>
            </a:r>
          </a:p>
        </p:txBody>
      </p:sp>
      <p:sp>
        <p:nvSpPr>
          <p:cNvPr id="30" name="rc30"/>
          <p:cNvSpPr/>
          <p:nvPr/>
        </p:nvSpPr>
        <p:spPr>
          <a:xfrm>
            <a:off x="760000" y="3950000"/>
            <a:ext cx="10672000" cy="800000"/>
          </a:xfrm>
          <a:prstGeom prst="roundRect">
            <a:avLst>
              <a:gd name="adj" fmla="val 6000"/>
            </a:avLst>
          </a:prstGeom>
          <a:solidFill>
            <a:srgbClr val="00838F">
              <a:alpha val="12000"/>
            </a:srgbClr>
          </a:solidFill>
          <a:ln w="12700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31" name="tb31"/>
          <p:cNvSpPr txBox="1"/>
          <p:nvPr/>
        </p:nvSpPr>
        <p:spPr>
          <a:xfrm>
            <a:off x="1010000" y="4140000"/>
            <a:ext cx="10172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700" b="1" dirty="0">
                <a:solidFill>
                  <a:srgbClr val="00838F"/>
                </a:solidFill>
                <a:latin typeface="Arial"/>
              </a:rPr>
              <a:t>Pay up front</a:t>
            </a:r>
            <a:r>
              <a:rPr lang="it-IT" sz="1700" b="0" dirty="0">
                <a:solidFill>
                  <a:srgbClr val="4A4A4A"/>
                </a:solidFill>
                <a:latin typeface="Arial"/>
              </a:rPr>
              <a:t> (graph)   or   </a:t>
            </a:r>
            <a:r>
              <a:rPr lang="it-IT" sz="1700" b="1" dirty="0">
                <a:solidFill>
                  <a:srgbClr val="E07B00"/>
                </a:solidFill>
                <a:latin typeface="Arial"/>
              </a:rPr>
              <a:t>pay at query time</a:t>
            </a:r>
            <a:r>
              <a:rPr lang="it-IT" sz="1700" b="0" dirty="0">
                <a:solidFill>
                  <a:srgbClr val="4A4A4A"/>
                </a:solidFill>
                <a:latin typeface="Arial"/>
              </a:rPr>
              <a:t> (relational)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760000" y="5050000"/>
            <a:ext cx="106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150" b="1" dirty="0">
                <a:solidFill>
                  <a:srgbClr val="8A8A8A"/>
                </a:solidFill>
                <a:latin typeface="Arial"/>
              </a:rPr>
              <a:t>Limits   </a:t>
            </a:r>
            <a:r>
              <a:rPr lang="it-IT" sz="1150" b="0" dirty="0">
                <a:solidFill>
                  <a:srgbClr val="4A4A4A"/>
                </a:solidFill>
                <a:latin typeface="Arial"/>
              </a:rPr>
              <a:t>1 laptop  ·  1 week of data  ·  clustering is a heuristic  ·  embedded vs server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b4"/>
          <p:cNvSpPr txBox="1"/>
          <p:nvPr/>
        </p:nvSpPr>
        <p:spPr>
          <a:xfrm>
            <a:off x="760000" y="420000"/>
            <a:ext cx="10672000" cy="6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600" b="0" dirty="0">
                <a:solidFill>
                  <a:srgbClr val="822433"/>
                </a:solidFill>
                <a:latin typeface="Arial"/>
              </a:rPr>
              <a:t>Live demo</a:t>
            </a:r>
          </a:p>
        </p:txBody>
      </p:sp>
      <p:sp>
        <p:nvSpPr>
          <p:cNvPr id="6" name="sr6"/>
          <p:cNvSpPr/>
          <p:nvPr/>
        </p:nvSpPr>
        <p:spPr>
          <a:xfrm>
            <a:off x="0" y="6324480"/>
            <a:ext cx="12192000" cy="5335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r7"/>
          <p:cNvSpPr/>
          <p:nvPr/>
        </p:nvSpPr>
        <p:spPr>
          <a:xfrm>
            <a:off x="640000" y="6095880"/>
            <a:ext cx="11552000" cy="762120"/>
          </a:xfrm>
          <a:prstGeom prst="rect">
            <a:avLst/>
          </a:prstGeom>
          <a:solidFill>
            <a:srgbClr val="822433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760000" y="6150000"/>
            <a:ext cx="4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NodeCoin · SQLite vs Neo4j</a:t>
            </a:r>
          </a:p>
        </p:txBody>
      </p:sp>
      <p:sp>
        <p:nvSpPr>
          <p:cNvPr id="9" name="tb9"/>
          <p:cNvSpPr txBox="1"/>
          <p:nvPr/>
        </p:nvSpPr>
        <p:spPr>
          <a:xfrm>
            <a:off x="4600000" y="615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Data Management 2025/2026</a:t>
            </a:r>
          </a:p>
        </p:txBody>
      </p:sp>
      <p:sp>
        <p:nvSpPr>
          <p:cNvPr id="5" name="tb5"/>
          <p:cNvSpPr txBox="1"/>
          <p:nvPr/>
        </p:nvSpPr>
        <p:spPr>
          <a:xfrm>
            <a:off x="9432000" y="6150000"/>
            <a:ext cx="2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FFFFFF"/>
                </a:solidFill>
                <a:latin typeface="Arial"/>
              </a:rPr>
              <a:t>Pagina 15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60000" y="1200000"/>
            <a:ext cx="10672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1400" b="1" dirty="0">
                <a:solidFill>
                  <a:srgbClr val="1F1F1F"/>
                </a:solidFill>
                <a:latin typeface="Arial"/>
              </a:rPr>
              <a:t>50 transactions</a:t>
            </a:r>
            <a:r>
              <a:rPr lang="it-IT" sz="1400" b="0" dirty="0">
                <a:solidFill>
                  <a:srgbClr val="4A4A4A"/>
                </a:solidFill>
                <a:latin typeface="Arial"/>
              </a:rPr>
              <a:t>   of the same data   ·   loads in 2 s instead of 26 min</a:t>
            </a:r>
          </a:p>
        </p:txBody>
      </p:sp>
      <p:sp>
        <p:nvSpPr>
          <p:cNvPr id="20" name="rc20"/>
          <p:cNvSpPr/>
          <p:nvPr/>
        </p:nvSpPr>
        <p:spPr>
          <a:xfrm>
            <a:off x="760000" y="1850000"/>
            <a:ext cx="5186000" cy="2600000"/>
          </a:xfrm>
          <a:prstGeom prst="roundRect">
            <a:avLst>
              <a:gd name="adj" fmla="val 6000"/>
            </a:avLst>
          </a:prstGeom>
          <a:solidFill>
            <a:srgbClr val="E07B00">
              <a:alpha val="10000"/>
            </a:srgbClr>
          </a:solidFill>
          <a:ln w="12700">
            <a:solidFill>
              <a:srgbClr val="E07B00"/>
            </a:solidFill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1010000" y="2050000"/>
            <a:ext cx="4686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00" b="1" dirty="0">
                <a:solidFill>
                  <a:srgbClr val="E07B00"/>
                </a:solidFill>
                <a:latin typeface="Arial"/>
              </a:rPr>
              <a:t>SQLite</a:t>
            </a:r>
          </a:p>
        </p:txBody>
      </p:sp>
      <p:sp>
        <p:nvSpPr>
          <p:cNvPr id="24" name="bl24"/>
          <p:cNvSpPr txBox="1"/>
          <p:nvPr/>
        </p:nvSpPr>
        <p:spPr>
          <a:xfrm>
            <a:off x="1010000" y="2600000"/>
            <a:ext cx="4686000" cy="1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350" b="0" dirty="0">
                <a:solidFill>
                  <a:srgbClr val="4A4A4A"/>
                </a:solidFill>
                <a:latin typeface="Arial"/>
              </a:rPr>
              <a:t>the tables, with real rows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350" b="0" dirty="0">
                <a:solidFill>
                  <a:srgbClr val="4A4A4A"/>
                </a:solidFill>
                <a:latin typeface="Arial"/>
              </a:rPr>
              <a:t>Q1 to Q8 with one click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350" b="0" dirty="0">
                <a:solidFill>
                  <a:srgbClr val="4A4A4A"/>
                </a:solidFill>
                <a:latin typeface="Arial"/>
              </a:rPr>
              <a:t>free SQL editor</a:t>
            </a:r>
          </a:p>
        </p:txBody>
      </p:sp>
      <p:sp>
        <p:nvSpPr>
          <p:cNvPr id="30" name="rc30"/>
          <p:cNvSpPr/>
          <p:nvPr/>
        </p:nvSpPr>
        <p:spPr>
          <a:xfrm>
            <a:off x="6246000" y="1850000"/>
            <a:ext cx="5186000" cy="2600000"/>
          </a:xfrm>
          <a:prstGeom prst="roundRect">
            <a:avLst>
              <a:gd name="adj" fmla="val 6000"/>
            </a:avLst>
          </a:prstGeom>
          <a:solidFill>
            <a:srgbClr val="00838F">
              <a:alpha val="10000"/>
            </a:srgbClr>
          </a:solidFill>
          <a:ln w="12700">
            <a:solidFill>
              <a:srgbClr val="00838F"/>
            </a:solidFill>
          </a:ln>
        </p:spPr>
        <p:txBody>
          <a:bodyPr/>
          <a:lstStyle/>
          <a:p/>
        </p:txBody>
      </p:sp>
      <p:sp>
        <p:nvSpPr>
          <p:cNvPr id="31" name="tb31"/>
          <p:cNvSpPr txBox="1"/>
          <p:nvPr/>
        </p:nvSpPr>
        <p:spPr>
          <a:xfrm>
            <a:off x="6496000" y="2050000"/>
            <a:ext cx="4686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00" b="1" dirty="0">
                <a:solidFill>
                  <a:srgbClr val="00838F"/>
                </a:solidFill>
                <a:latin typeface="Arial"/>
              </a:rPr>
              <a:t>Neo4j Browser</a:t>
            </a:r>
          </a:p>
        </p:txBody>
      </p:sp>
      <p:sp>
        <p:nvSpPr>
          <p:cNvPr id="34" name="bl34"/>
          <p:cNvSpPr txBox="1"/>
          <p:nvPr/>
        </p:nvSpPr>
        <p:spPr>
          <a:xfrm>
            <a:off x="6496000" y="2600000"/>
            <a:ext cx="4686000" cy="1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350" b="0" dirty="0">
                <a:solidFill>
                  <a:srgbClr val="4A4A4A"/>
                </a:solidFill>
                <a:latin typeface="Arial"/>
              </a:rPr>
              <a:t>the graph, visual and clickable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350" b="0" dirty="0">
                <a:solidFill>
                  <a:srgbClr val="4A4A4A"/>
                </a:solidFill>
                <a:latin typeface="Arial"/>
              </a:rPr>
              <a:t>fund tracing as a traversal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350" b="0" dirty="0">
                <a:solidFill>
                  <a:srgbClr val="4A4A4A"/>
                </a:solidFill>
                <a:latin typeface="Arial"/>
              </a:rPr>
              <a:t>the clustering on the graph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NodeCoin">
  <a:themeElements>
    <a:clrScheme name="NodeCoin">
      <a:dk1>
        <a:srgbClr val="FFFFFF"/>
      </a:dk1>
      <a:lt1>
        <a:srgbClr val="1F1F1F"/>
      </a:lt1>
      <a:dk2>
        <a:srgbClr val="F3F6F8"/>
      </a:dk2>
      <a:lt2>
        <a:srgbClr val="4A4A4A"/>
      </a:lt2>
      <a:accent1>
        <a:srgbClr val="00838F"/>
      </a:accent1>
      <a:accent2>
        <a:srgbClr val="E07B00"/>
      </a:accent2>
      <a:accent3>
        <a:srgbClr val="7F8C8D"/>
      </a:accent3>
      <a:accent4>
        <a:srgbClr val="B3261E"/>
      </a:accent4>
      <a:accent5>
        <a:srgbClr val="8A8A8A"/>
      </a:accent5>
      <a:accent6>
        <a:srgbClr val="D5DCE2"/>
      </a:accent6>
      <a:hlink>
        <a:srgbClr val="00838F"/>
      </a:hlink>
      <a:folHlink>
        <a:srgbClr val="8A8A8A"/>
      </a:folHlink>
    </a:clrScheme>
    <a:fontScheme name="NodeCoi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NodeCoi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