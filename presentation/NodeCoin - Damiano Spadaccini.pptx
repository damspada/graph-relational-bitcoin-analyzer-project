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apienza_cover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a_graph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aling_chart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aling_neo4j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aling_queries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aling_load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r2"/>
          <p:cNvSpPr/>
          <p:nvPr/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rgbClr val="C0CED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pic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9144000" cy="4114800"/>
          </a:xfrm>
          <a:prstGeom prst="rect">
            <a:avLst/>
          </a:prstGeom>
        </p:spPr>
      </p:pic>
      <p:sp>
        <p:nvSpPr>
          <p:cNvPr id="4" name="sr4"/>
          <p:cNvSpPr/>
          <p:nvPr/>
        </p:nvSpPr>
        <p:spPr>
          <a:xfrm>
            <a:off x="9144000" y="2743200"/>
            <a:ext cx="3048000" cy="41148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b5"/>
          <p:cNvSpPr txBox="1"/>
          <p:nvPr/>
        </p:nvSpPr>
        <p:spPr>
          <a:xfrm>
            <a:off x="760000" y="560000"/>
            <a:ext cx="10672000" cy="9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4400" b="1" dirty="0">
                <a:solidFill>
                  <a:srgbClr val="822433"/>
                </a:solidFill>
                <a:latin typeface="Arial"/>
              </a:rPr>
              <a:t>NodeCoin</a:t>
            </a:r>
          </a:p>
        </p:txBody>
      </p:sp>
      <p:sp>
        <p:nvSpPr>
          <p:cNvPr id="6" name="tb6"/>
          <p:cNvSpPr txBox="1"/>
          <p:nvPr/>
        </p:nvSpPr>
        <p:spPr>
          <a:xfrm>
            <a:off x="760000" y="1450000"/>
            <a:ext cx="10672000" cy="5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200" b="1" dirty="0">
                <a:solidFill>
                  <a:srgbClr val="E07B00"/>
                </a:solidFill>
                <a:latin typeface="Arial"/>
              </a:rPr>
              <a:t>SQLite</a:t>
            </a:r>
            <a:r>
              <a:rPr lang="it-IT" sz="2200" b="0" dirty="0">
                <a:solidFill>
                  <a:srgbClr val="4A4A4A"/>
                </a:solidFill>
                <a:latin typeface="Arial"/>
              </a:rPr>
              <a:t>  vs  </a:t>
            </a:r>
            <a:r>
              <a:rPr lang="it-IT" sz="2200" b="1" dirty="0">
                <a:solidFill>
                  <a:srgbClr val="00838F"/>
                </a:solidFill>
                <a:latin typeface="Arial"/>
              </a:rPr>
              <a:t>Neo4j</a:t>
            </a:r>
            <a:r>
              <a:rPr lang="it-IT" sz="2200" b="0" dirty="0">
                <a:solidFill>
                  <a:srgbClr val="1F1F1F"/>
                </a:solidFill>
                <a:latin typeface="Arial"/>
              </a:rPr>
              <a:t>  on real Bitcoin data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60000" y="200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400" b="0" dirty="0">
                <a:solidFill>
                  <a:srgbClr val="4A4A4A"/>
                </a:solidFill>
                <a:latin typeface="Arial"/>
              </a:rPr>
              <a:t>A relational and a graph database, compared on 977 blocks</a:t>
            </a:r>
          </a:p>
        </p:txBody>
      </p:sp>
      <p:sp>
        <p:nvSpPr>
          <p:cNvPr id="8" name="tb8"/>
          <p:cNvSpPr txBox="1"/>
          <p:nvPr/>
        </p:nvSpPr>
        <p:spPr>
          <a:xfrm>
            <a:off x="2347000" y="5000000"/>
            <a:ext cx="6500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600" b="1" dirty="0">
                <a:solidFill>
                  <a:srgbClr val="FFFFFF"/>
                </a:solidFill>
                <a:latin typeface="Arial"/>
              </a:rPr>
              <a:t>Damiano Spadaccini  ·  1986173</a:t>
            </a:r>
          </a:p>
        </p:txBody>
      </p:sp>
      <p:sp>
        <p:nvSpPr>
          <p:cNvPr id="9" name="tb9"/>
          <p:cNvSpPr txBox="1"/>
          <p:nvPr/>
        </p:nvSpPr>
        <p:spPr>
          <a:xfrm>
            <a:off x="2347000" y="5450000"/>
            <a:ext cx="6500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3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What this project is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2</a:t>
            </a:r>
          </a:p>
        </p:txBody>
      </p:sp>
      <p:sp>
        <p:nvSpPr>
          <p:cNvPr id="10" name="rc10"/>
          <p:cNvSpPr/>
          <p:nvPr/>
        </p:nvSpPr>
        <p:spPr>
          <a:xfrm>
            <a:off x="760000" y="1300000"/>
            <a:ext cx="10672000" cy="750000"/>
          </a:xfrm>
          <a:prstGeom prst="roundRect">
            <a:avLst>
              <a:gd name="adj" fmla="val 6000"/>
            </a:avLst>
          </a:prstGeom>
          <a:solidFill>
            <a:srgbClr val="822433">
              <a:alpha val="9000"/>
            </a:srgbClr>
          </a:solidFill>
          <a:ln w="12700">
            <a:solidFill>
              <a:srgbClr val="822433"/>
            </a:solidFill>
          </a:ln>
        </p:spPr>
        <p:txBody>
          <a:bodyPr/>
          <a:lstStyle/>
          <a:p/>
        </p:txBody>
      </p:sp>
      <p:sp>
        <p:nvSpPr>
          <p:cNvPr id="11" name="tb11"/>
          <p:cNvSpPr txBox="1"/>
          <p:nvPr/>
        </p:nvSpPr>
        <p:spPr>
          <a:xfrm>
            <a:off x="1010000" y="1470000"/>
            <a:ext cx="10172000" cy="4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700" b="1" dirty="0">
                <a:solidFill>
                  <a:srgbClr val="1F1F1F"/>
                </a:solidFill>
                <a:latin typeface="Arial"/>
              </a:rPr>
              <a:t>Which queries, and at what scale, does a graph DB handle better than a relational DB?</a:t>
            </a:r>
          </a:p>
        </p:txBody>
      </p:sp>
      <p:sp>
        <p:nvSpPr>
          <p:cNvPr id="20" name="rc20"/>
          <p:cNvSpPr/>
          <p:nvPr/>
        </p:nvSpPr>
        <p:spPr>
          <a:xfrm>
            <a:off x="760000" y="2350000"/>
            <a:ext cx="2500000" cy="16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760000" y="2480000"/>
            <a:ext cx="2500000" cy="7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dirty="0">
                <a:solidFill>
                  <a:srgbClr val="E07B00"/>
                </a:solidFill>
                <a:latin typeface="Arial"/>
              </a:rPr>
              <a:t>1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760000" y="3250000"/>
            <a:ext cx="2500000" cy="3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600" b="1" dirty="0">
                <a:solidFill>
                  <a:srgbClr val="1F1F1F"/>
                </a:solidFill>
                <a:latin typeface="Arial"/>
              </a:rPr>
              <a:t>dataset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760000" y="3620000"/>
            <a:ext cx="25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977 real blocks</a:t>
            </a:r>
          </a:p>
        </p:txBody>
      </p:sp>
      <p:sp>
        <p:nvSpPr>
          <p:cNvPr id="24" name="rc24"/>
          <p:cNvSpPr/>
          <p:nvPr/>
        </p:nvSpPr>
        <p:spPr>
          <a:xfrm>
            <a:off x="3484000" y="2350000"/>
            <a:ext cx="2500000" cy="16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3484000" y="2480000"/>
            <a:ext cx="2500000" cy="7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dirty="0">
                <a:solidFill>
                  <a:srgbClr val="E07B00"/>
                </a:solidFill>
                <a:latin typeface="Arial"/>
              </a:rPr>
              <a:t>2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3484000" y="3250000"/>
            <a:ext cx="2500000" cy="3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600" b="1" dirty="0">
                <a:solidFill>
                  <a:srgbClr val="1F1F1F"/>
                </a:solidFill>
                <a:latin typeface="Arial"/>
              </a:rPr>
              <a:t>models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3484000" y="3620000"/>
            <a:ext cx="25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7 tables · 1 graph</a:t>
            </a:r>
          </a:p>
        </p:txBody>
      </p:sp>
      <p:sp>
        <p:nvSpPr>
          <p:cNvPr id="28" name="rc28"/>
          <p:cNvSpPr/>
          <p:nvPr/>
        </p:nvSpPr>
        <p:spPr>
          <a:xfrm>
            <a:off x="6208000" y="2350000"/>
            <a:ext cx="2500000" cy="16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9" name="tb29"/>
          <p:cNvSpPr txBox="1"/>
          <p:nvPr/>
        </p:nvSpPr>
        <p:spPr>
          <a:xfrm>
            <a:off x="6208000" y="2480000"/>
            <a:ext cx="2500000" cy="7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dirty="0">
                <a:solidFill>
                  <a:srgbClr val="00838F"/>
                </a:solidFill>
                <a:latin typeface="Arial"/>
              </a:rPr>
              <a:t>8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6208000" y="3250000"/>
            <a:ext cx="2500000" cy="3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600" b="1" dirty="0">
                <a:solidFill>
                  <a:srgbClr val="1F1F1F"/>
                </a:solidFill>
                <a:latin typeface="Arial"/>
              </a:rPr>
              <a:t>queries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6208000" y="3620000"/>
            <a:ext cx="25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SQL + Cypher</a:t>
            </a:r>
          </a:p>
        </p:txBody>
      </p:sp>
      <p:sp>
        <p:nvSpPr>
          <p:cNvPr id="32" name="rc32"/>
          <p:cNvSpPr/>
          <p:nvPr/>
        </p:nvSpPr>
        <p:spPr>
          <a:xfrm>
            <a:off x="8932000" y="2350000"/>
            <a:ext cx="2500000" cy="16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3" name="tb33"/>
          <p:cNvSpPr txBox="1"/>
          <p:nvPr/>
        </p:nvSpPr>
        <p:spPr>
          <a:xfrm>
            <a:off x="8932000" y="2480000"/>
            <a:ext cx="2500000" cy="7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dirty="0">
                <a:solidFill>
                  <a:srgbClr val="00838F"/>
                </a:solidFill>
                <a:latin typeface="Arial"/>
              </a:rPr>
              <a:t>4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8932000" y="3250000"/>
            <a:ext cx="2500000" cy="3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600" b="1" dirty="0">
                <a:solidFill>
                  <a:srgbClr val="1F1F1F"/>
                </a:solidFill>
                <a:latin typeface="Arial"/>
              </a:rPr>
              <a:t>sizes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8932000" y="3620000"/>
            <a:ext cx="25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same protocol</a:t>
            </a:r>
          </a:p>
        </p:txBody>
      </p:sp>
      <p:cxnSp>
        <p:nvCxnSpPr>
          <p:cNvPr id="40" name="ar40"/>
          <p:cNvCxnSpPr/>
          <p:nvPr/>
        </p:nvCxnSpPr>
        <p:spPr>
          <a:xfrm>
            <a:off x="6096000" y="4100000"/>
            <a:ext cx="0" cy="330000"/>
          </a:xfrm>
          <a:prstGeom prst="straightConnector1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41" name="rc41"/>
          <p:cNvSpPr/>
          <p:nvPr/>
        </p:nvSpPr>
        <p:spPr>
          <a:xfrm>
            <a:off x="2960000" y="4520000"/>
            <a:ext cx="6272000" cy="850000"/>
          </a:xfrm>
          <a:prstGeom prst="roundRect">
            <a:avLst>
              <a:gd name="adj" fmla="val 6000"/>
            </a:avLst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42" name="tb42"/>
          <p:cNvSpPr txBox="1"/>
          <p:nvPr/>
        </p:nvSpPr>
        <p:spPr>
          <a:xfrm>
            <a:off x="2960000" y="4700000"/>
            <a:ext cx="6272000" cy="5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1F1F1F"/>
                </a:solidFill>
                <a:latin typeface="Arial"/>
              </a:rPr>
              <a:t>Neither model wins everywhere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How the data gets there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3</a:t>
            </a:r>
          </a:p>
        </p:txBody>
      </p:sp>
      <p:sp>
        <p:nvSpPr>
          <p:cNvPr id="10" name="sr10"/>
          <p:cNvSpPr/>
          <p:nvPr/>
        </p:nvSpPr>
        <p:spPr>
          <a:xfrm>
            <a:off x="760000" y="1300000"/>
            <a:ext cx="1878400" cy="8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1" name="tb11"/>
          <p:cNvSpPr txBox="1"/>
          <p:nvPr/>
        </p:nvSpPr>
        <p:spPr>
          <a:xfrm>
            <a:off x="760000" y="1400000"/>
            <a:ext cx="18784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E07B00"/>
                </a:solidFill>
                <a:latin typeface="Arial"/>
              </a:rPr>
              <a:t>1  PARSE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760000" y="1720000"/>
            <a:ext cx="18784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1F1F1F"/>
                </a:solidFill>
                <a:latin typeface="Arial"/>
              </a:rPr>
              <a:t>.blk → JSONL</a:t>
            </a:r>
          </a:p>
        </p:txBody>
      </p:sp>
      <p:cxnSp>
        <p:nvCxnSpPr>
          <p:cNvPr id="13" name="ar13"/>
          <p:cNvCxnSpPr/>
          <p:nvPr/>
        </p:nvCxnSpPr>
        <p:spPr>
          <a:xfrm>
            <a:off x="2688400" y="1725000"/>
            <a:ext cx="220000" cy="0"/>
          </a:xfrm>
          <a:prstGeom prst="straightConnector1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14" name="sr14"/>
          <p:cNvSpPr/>
          <p:nvPr/>
        </p:nvSpPr>
        <p:spPr>
          <a:xfrm>
            <a:off x="2958400" y="1300000"/>
            <a:ext cx="1878400" cy="8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2958400" y="1400000"/>
            <a:ext cx="18784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E07B00"/>
                </a:solidFill>
                <a:latin typeface="Arial"/>
              </a:rPr>
              <a:t>2  LOAD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2958400" y="1720000"/>
            <a:ext cx="18784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1F1F1F"/>
                </a:solidFill>
                <a:latin typeface="Arial"/>
              </a:rPr>
              <a:t>1 file → 2 DBs</a:t>
            </a:r>
          </a:p>
        </p:txBody>
      </p:sp>
      <p:cxnSp>
        <p:nvCxnSpPr>
          <p:cNvPr id="17" name="ar17"/>
          <p:cNvCxnSpPr/>
          <p:nvPr/>
        </p:nvCxnSpPr>
        <p:spPr>
          <a:xfrm>
            <a:off x="4886800" y="1725000"/>
            <a:ext cx="220000" cy="0"/>
          </a:xfrm>
          <a:prstGeom prst="straightConnector1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18" name="sr18"/>
          <p:cNvSpPr/>
          <p:nvPr/>
        </p:nvSpPr>
        <p:spPr>
          <a:xfrm>
            <a:off x="5156800" y="1300000"/>
            <a:ext cx="1878400" cy="8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7F8C8D"/>
            </a:solidFill>
          </a:ln>
        </p:spPr>
        <p:txBody>
          <a:bodyPr/>
          <a:lstStyle/>
          <a:p/>
        </p:txBody>
      </p:sp>
      <p:sp>
        <p:nvSpPr>
          <p:cNvPr id="19" name="tb19"/>
          <p:cNvSpPr txBox="1"/>
          <p:nvPr/>
        </p:nvSpPr>
        <p:spPr>
          <a:xfrm>
            <a:off x="5156800" y="1400000"/>
            <a:ext cx="18784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7F8C8D"/>
                </a:solidFill>
                <a:latin typeface="Arial"/>
              </a:rPr>
              <a:t>3  CHECK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5156800" y="1720000"/>
            <a:ext cx="18784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1F1F1F"/>
                </a:solidFill>
                <a:latin typeface="Arial"/>
              </a:rPr>
              <a:t>16 metrics match</a:t>
            </a:r>
          </a:p>
        </p:txBody>
      </p:sp>
      <p:cxnSp>
        <p:nvCxnSpPr>
          <p:cNvPr id="21" name="ar21"/>
          <p:cNvCxnSpPr/>
          <p:nvPr/>
        </p:nvCxnSpPr>
        <p:spPr>
          <a:xfrm>
            <a:off x="7085200" y="1725000"/>
            <a:ext cx="220000" cy="0"/>
          </a:xfrm>
          <a:prstGeom prst="straightConnector1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22" name="sr22"/>
          <p:cNvSpPr/>
          <p:nvPr/>
        </p:nvSpPr>
        <p:spPr>
          <a:xfrm>
            <a:off x="7355200" y="1300000"/>
            <a:ext cx="1878400" cy="8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23" name="tb23"/>
          <p:cNvSpPr txBox="1"/>
          <p:nvPr/>
        </p:nvSpPr>
        <p:spPr>
          <a:xfrm>
            <a:off x="7355200" y="1400000"/>
            <a:ext cx="18784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00838F"/>
                </a:solidFill>
                <a:latin typeface="Arial"/>
              </a:rPr>
              <a:t>4  CLUSTER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7355200" y="1720000"/>
            <a:ext cx="18784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1F1F1F"/>
                </a:solidFill>
                <a:latin typeface="Arial"/>
              </a:rPr>
              <a:t>addresses → wallets</a:t>
            </a:r>
          </a:p>
        </p:txBody>
      </p:sp>
      <p:cxnSp>
        <p:nvCxnSpPr>
          <p:cNvPr id="25" name="ar25"/>
          <p:cNvCxnSpPr/>
          <p:nvPr/>
        </p:nvCxnSpPr>
        <p:spPr>
          <a:xfrm>
            <a:off x="9283600" y="1725000"/>
            <a:ext cx="220000" cy="0"/>
          </a:xfrm>
          <a:prstGeom prst="straightConnector1">
            <a:avLst/>
          </a:prstGeom>
          <a:ln w="19050">
            <a:solidFill>
              <a:srgbClr val="8A8A8A"/>
            </a:solidFill>
            <a:tailEnd type="triangle" w="med" len="med"/>
          </a:ln>
        </p:spPr>
      </p:cxnSp>
      <p:sp>
        <p:nvSpPr>
          <p:cNvPr id="26" name="sr26"/>
          <p:cNvSpPr/>
          <p:nvPr/>
        </p:nvSpPr>
        <p:spPr>
          <a:xfrm>
            <a:off x="9553600" y="1300000"/>
            <a:ext cx="1878400" cy="8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9553600" y="1400000"/>
            <a:ext cx="18784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00838F"/>
                </a:solidFill>
                <a:latin typeface="Arial"/>
              </a:rPr>
              <a:t>5  MEASURE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9553600" y="1720000"/>
            <a:ext cx="18784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1F1F1F"/>
                </a:solidFill>
                <a:latin typeface="Arial"/>
              </a:rPr>
              <a:t>8 queries × 2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2400000"/>
            <a:ext cx="1067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8A8A8A"/>
                </a:solidFill>
                <a:latin typeface="Arial"/>
              </a:rPr>
              <a:t>THE DATASET   ·   one week of the real chain, 13-20 May 2026</a:t>
            </a:r>
          </a:p>
        </p:txBody>
      </p:sp>
      <p:sp>
        <p:nvSpPr>
          <p:cNvPr id="41" name="rc41"/>
          <p:cNvSpPr/>
          <p:nvPr/>
        </p:nvSpPr>
        <p:spPr>
          <a:xfrm>
            <a:off x="760000" y="2730000"/>
            <a:ext cx="2500000" cy="11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42" name="tb42"/>
          <p:cNvSpPr txBox="1"/>
          <p:nvPr/>
        </p:nvSpPr>
        <p:spPr>
          <a:xfrm>
            <a:off x="760000" y="2830000"/>
            <a:ext cx="2500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800" b="1" dirty="0">
                <a:solidFill>
                  <a:srgbClr val="822433"/>
                </a:solidFill>
                <a:latin typeface="Arial"/>
              </a:rPr>
              <a:t>977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760000" y="3400000"/>
            <a:ext cx="2500000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4A4A4A"/>
                </a:solidFill>
                <a:latin typeface="Arial"/>
              </a:rPr>
              <a:t>blocks</a:t>
            </a:r>
          </a:p>
        </p:txBody>
      </p:sp>
      <p:sp>
        <p:nvSpPr>
          <p:cNvPr id="44" name="rc44"/>
          <p:cNvSpPr/>
          <p:nvPr/>
        </p:nvSpPr>
        <p:spPr>
          <a:xfrm>
            <a:off x="3484000" y="2730000"/>
            <a:ext cx="2500000" cy="11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3484000" y="2830000"/>
            <a:ext cx="2500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800" b="1" dirty="0">
                <a:solidFill>
                  <a:srgbClr val="822433"/>
                </a:solidFill>
                <a:latin typeface="Arial"/>
              </a:rPr>
              <a:t>4.31 M</a:t>
            </a:r>
          </a:p>
        </p:txBody>
      </p:sp>
      <p:sp>
        <p:nvSpPr>
          <p:cNvPr id="46" name="tb46"/>
          <p:cNvSpPr txBox="1"/>
          <p:nvPr/>
        </p:nvSpPr>
        <p:spPr>
          <a:xfrm>
            <a:off x="3484000" y="3400000"/>
            <a:ext cx="2500000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4A4A4A"/>
                </a:solidFill>
                <a:latin typeface="Arial"/>
              </a:rPr>
              <a:t>transactions</a:t>
            </a:r>
          </a:p>
        </p:txBody>
      </p:sp>
      <p:sp>
        <p:nvSpPr>
          <p:cNvPr id="47" name="rc47"/>
          <p:cNvSpPr/>
          <p:nvPr/>
        </p:nvSpPr>
        <p:spPr>
          <a:xfrm>
            <a:off x="6208000" y="2730000"/>
            <a:ext cx="2500000" cy="11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48" name="tb48"/>
          <p:cNvSpPr txBox="1"/>
          <p:nvPr/>
        </p:nvSpPr>
        <p:spPr>
          <a:xfrm>
            <a:off x="6208000" y="2830000"/>
            <a:ext cx="2500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800" b="1" dirty="0">
                <a:solidFill>
                  <a:srgbClr val="822433"/>
                </a:solidFill>
                <a:latin typeface="Arial"/>
              </a:rPr>
              <a:t>9.89 M</a:t>
            </a:r>
          </a:p>
        </p:txBody>
      </p:sp>
      <p:sp>
        <p:nvSpPr>
          <p:cNvPr id="49" name="tb49"/>
          <p:cNvSpPr txBox="1"/>
          <p:nvPr/>
        </p:nvSpPr>
        <p:spPr>
          <a:xfrm>
            <a:off x="6208000" y="3400000"/>
            <a:ext cx="2500000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4A4A4A"/>
                </a:solidFill>
                <a:latin typeface="Arial"/>
              </a:rPr>
              <a:t>outputs</a:t>
            </a:r>
          </a:p>
        </p:txBody>
      </p:sp>
      <p:sp>
        <p:nvSpPr>
          <p:cNvPr id="50" name="rc50"/>
          <p:cNvSpPr/>
          <p:nvPr/>
        </p:nvSpPr>
        <p:spPr>
          <a:xfrm>
            <a:off x="8932000" y="2730000"/>
            <a:ext cx="2500000" cy="11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51" name="tb51"/>
          <p:cNvSpPr txBox="1"/>
          <p:nvPr/>
        </p:nvSpPr>
        <p:spPr>
          <a:xfrm>
            <a:off x="8932000" y="2830000"/>
            <a:ext cx="2500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800" b="1" dirty="0">
                <a:solidFill>
                  <a:srgbClr val="822433"/>
                </a:solidFill>
                <a:latin typeface="Arial"/>
              </a:rPr>
              <a:t>2.55 M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8932000" y="3400000"/>
            <a:ext cx="2500000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0" dirty="0">
                <a:solidFill>
                  <a:srgbClr val="4A4A4A"/>
                </a:solidFill>
                <a:latin typeface="Arial"/>
              </a:rPr>
              <a:t>addresses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60000" y="4050000"/>
            <a:ext cx="1067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8A8A8A"/>
                </a:solidFill>
                <a:latin typeface="Arial"/>
              </a:rPr>
              <a:t>THE JSONL FILE   ·   one line = one block</a:t>
            </a:r>
          </a:p>
        </p:txBody>
      </p:sp>
      <p:sp>
        <p:nvSpPr>
          <p:cNvPr id="61" name="sr61"/>
          <p:cNvSpPr/>
          <p:nvPr/>
        </p:nvSpPr>
        <p:spPr>
          <a:xfrm>
            <a:off x="760000" y="4350000"/>
            <a:ext cx="10672000" cy="14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62" name="tb62"/>
          <p:cNvSpPr txBox="1"/>
          <p:nvPr/>
        </p:nvSpPr>
        <p:spPr>
          <a:xfrm>
            <a:off x="960000" y="4450000"/>
            <a:ext cx="7372000" cy="1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950" b="0" dirty="0">
                <a:solidFill>
                  <a:srgbClr val="4A4A4A"/>
                </a:solidFill>
                <a:latin typeface="Consolas"/>
              </a:rPr>
              <a:t>{"hash": "0000…12c3", "prev_hash": "0000…e871", "timestamp": 1778693452,</a:t>
            </a:r>
          </a:p>
          <a:p>
            <a:pPr algn="l">
              <a:lnSpc>
                <a:spcPct val="115000"/>
              </a:lnSpc>
            </a:pPr>
            <a:r>
              <a:rPr lang="it-IT" sz="950" b="0" dirty="0">
                <a:solidFill>
                  <a:srgbClr val="4A4A4A"/>
                </a:solidFill>
                <a:latin typeface="Consolas"/>
              </a:rPr>
              <a:t> "transactions": [</a:t>
            </a:r>
          </a:p>
          <a:p>
            <a:pPr algn="l">
              <a:lnSpc>
                <a:spcPct val="115000"/>
              </a:lnSpc>
            </a:pPr>
            <a:r>
              <a:rPr lang="it-IT" sz="950" b="0" dirty="0">
                <a:solidFill>
                  <a:srgbClr val="4A4A4A"/>
                </a:solidFill>
                <a:latin typeface="Consolas"/>
              </a:rPr>
              <a:t>   {"txid": "4013…0b01", "size": 315,</a:t>
            </a:r>
          </a:p>
          <a:p>
            <a:pPr algn="l">
              <a:lnSpc>
                <a:spcPct val="115000"/>
              </a:lnSpc>
            </a:pPr>
            <a:r>
              <a:rPr lang="it-IT" sz="950" b="1" dirty="0">
                <a:solidFill>
                  <a:srgbClr val="1F1F1F"/>
                </a:solidFill>
                <a:latin typeface="Consolas"/>
              </a:rPr>
              <a:t>    "inputs":  [{"prev_txid": "f6fd…8a61", "prev_index": 3}],</a:t>
            </a:r>
          </a:p>
          <a:p>
            <a:pPr algn="l">
              <a:lnSpc>
                <a:spcPct val="115000"/>
              </a:lnSpc>
            </a:pPr>
            <a:r>
              <a:rPr lang="it-IT" sz="950" b="0" dirty="0">
                <a:solidFill>
                  <a:srgbClr val="4A4A4A"/>
                </a:solidFill>
                <a:latin typeface="Consolas"/>
              </a:rPr>
              <a:t>    "outputs": [{"index": 0, "address": "bc1qs6e7…py4dy", "value": 133608}, …]},</a:t>
            </a:r>
          </a:p>
          <a:p>
            <a:pPr algn="l">
              <a:lnSpc>
                <a:spcPct val="115000"/>
              </a:lnSpc>
            </a:pPr>
            <a:r>
              <a:rPr lang="it-IT" sz="950" b="0" dirty="0">
                <a:solidFill>
                  <a:srgbClr val="4A4A4A"/>
                </a:solidFill>
                <a:latin typeface="Consolas"/>
              </a:rPr>
              <a:t>   … ]}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8532000" y="4700000"/>
            <a:ext cx="2700000" cy="8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050" b="1" dirty="0">
                <a:solidFill>
                  <a:srgbClr val="1F1F1F"/>
                </a:solidFill>
                <a:latin typeface="Arial"/>
              </a:rPr>
              <a:t>prev_txid + prev_index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the link to the spent output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→ SPENDS in the graph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Same domain, two models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4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60000" y="1230000"/>
            <a:ext cx="52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350" b="1" dirty="0">
                <a:solidFill>
                  <a:srgbClr val="E07B00"/>
                </a:solidFill>
                <a:latin typeface="Arial"/>
              </a:rPr>
              <a:t>SQLite</a:t>
            </a:r>
            <a:r>
              <a:rPr lang="it-IT" sz="1350" b="0" dirty="0">
                <a:solidFill>
                  <a:srgbClr val="4A4A4A"/>
                </a:solidFill>
                <a:latin typeface="Arial"/>
              </a:rPr>
              <a:t>  ·  7 tables      </a:t>
            </a:r>
            <a:r>
              <a:rPr lang="it-IT" sz="1350" b="1" dirty="0">
                <a:solidFill>
                  <a:srgbClr val="E07B00"/>
                </a:solidFill>
                <a:latin typeface="Arial"/>
              </a:rPr>
              <a:t>PK</a:t>
            </a:r>
            <a:r>
              <a:rPr lang="it-IT" sz="1350" b="0" dirty="0">
                <a:solidFill>
                  <a:srgbClr val="8A8A8A"/>
                </a:solidFill>
                <a:latin typeface="Arial"/>
              </a:rPr>
              <a:t> primary key   </a:t>
            </a:r>
            <a:r>
              <a:rPr lang="it-IT" sz="1350" b="1" dirty="0">
                <a:solidFill>
                  <a:srgbClr val="E07B00"/>
                </a:solidFill>
                <a:latin typeface="Arial"/>
              </a:rPr>
              <a:t>FK</a:t>
            </a:r>
            <a:r>
              <a:rPr lang="it-IT" sz="1350" b="0" dirty="0">
                <a:solidFill>
                  <a:srgbClr val="8A8A8A"/>
                </a:solidFill>
                <a:latin typeface="Arial"/>
              </a:rPr>
              <a:t> foreign key</a:t>
            </a:r>
          </a:p>
        </p:txBody>
      </p:sp>
      <p:sp>
        <p:nvSpPr>
          <p:cNvPr id="11" name="sr11"/>
          <p:cNvSpPr/>
          <p:nvPr/>
        </p:nvSpPr>
        <p:spPr>
          <a:xfrm>
            <a:off x="760000" y="1580000"/>
            <a:ext cx="1680000" cy="250000"/>
          </a:xfrm>
          <a:prstGeom prst="rect">
            <a:avLst/>
          </a:prstGeom>
          <a:solidFill>
            <a:srgbClr val="E07B00">
              <a:alpha val="22000"/>
            </a:srgbClr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820000" y="160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E07B00"/>
                </a:solidFill>
                <a:latin typeface="Consolas"/>
              </a:rPr>
              <a:t>blocks</a:t>
            </a:r>
          </a:p>
        </p:txBody>
      </p:sp>
      <p:sp>
        <p:nvSpPr>
          <p:cNvPr id="13" name="sr13"/>
          <p:cNvSpPr/>
          <p:nvPr/>
        </p:nvSpPr>
        <p:spPr>
          <a:xfrm>
            <a:off x="760000" y="1830000"/>
            <a:ext cx="1680000" cy="60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4" name="tb14"/>
          <p:cNvSpPr txBox="1"/>
          <p:nvPr/>
        </p:nvSpPr>
        <p:spPr>
          <a:xfrm>
            <a:off x="820000" y="1860000"/>
            <a:ext cx="1560000" cy="5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hash          PK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prev_hash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timestamp</a:t>
            </a:r>
          </a:p>
        </p:txBody>
      </p:sp>
      <p:sp>
        <p:nvSpPr>
          <p:cNvPr id="15" name="sr15"/>
          <p:cNvSpPr/>
          <p:nvPr/>
        </p:nvSpPr>
        <p:spPr>
          <a:xfrm>
            <a:off x="760000" y="2510000"/>
            <a:ext cx="1680000" cy="250000"/>
          </a:xfrm>
          <a:prstGeom prst="rect">
            <a:avLst/>
          </a:prstGeom>
          <a:solidFill>
            <a:srgbClr val="E07B00">
              <a:alpha val="22000"/>
            </a:srgbClr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820000" y="253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E07B00"/>
                </a:solidFill>
                <a:latin typeface="Consolas"/>
              </a:rPr>
              <a:t>addresses</a:t>
            </a:r>
          </a:p>
        </p:txBody>
      </p:sp>
      <p:sp>
        <p:nvSpPr>
          <p:cNvPr id="17" name="sr17"/>
          <p:cNvSpPr/>
          <p:nvPr/>
        </p:nvSpPr>
        <p:spPr>
          <a:xfrm>
            <a:off x="760000" y="2760000"/>
            <a:ext cx="1680000" cy="28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8" name="tb18"/>
          <p:cNvSpPr txBox="1"/>
          <p:nvPr/>
        </p:nvSpPr>
        <p:spPr>
          <a:xfrm>
            <a:off x="820000" y="2790000"/>
            <a:ext cx="1560000" cy="2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address       PK</a:t>
            </a:r>
          </a:p>
        </p:txBody>
      </p:sp>
      <p:sp>
        <p:nvSpPr>
          <p:cNvPr id="19" name="sr19"/>
          <p:cNvSpPr/>
          <p:nvPr/>
        </p:nvSpPr>
        <p:spPr>
          <a:xfrm>
            <a:off x="760000" y="3120000"/>
            <a:ext cx="1680000" cy="250000"/>
          </a:xfrm>
          <a:prstGeom prst="rect">
            <a:avLst/>
          </a:prstGeom>
          <a:solidFill>
            <a:srgbClr val="7F8C8D">
              <a:alpha val="22000"/>
            </a:srgbClr>
          </a:solidFill>
          <a:ln w="9525">
            <a:solidFill>
              <a:srgbClr val="7F8C8D"/>
            </a:solidFill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820000" y="314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7F8C8D"/>
                </a:solidFill>
                <a:latin typeface="Consolas"/>
              </a:rPr>
              <a:t>price_history</a:t>
            </a:r>
          </a:p>
        </p:txBody>
      </p:sp>
      <p:sp>
        <p:nvSpPr>
          <p:cNvPr id="21" name="sr21"/>
          <p:cNvSpPr/>
          <p:nvPr/>
        </p:nvSpPr>
        <p:spPr>
          <a:xfrm>
            <a:off x="760000" y="3370000"/>
            <a:ext cx="1680000" cy="44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820000" y="3400000"/>
            <a:ext cx="1560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date_unix     PK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price_usd</a:t>
            </a:r>
          </a:p>
        </p:txBody>
      </p:sp>
      <p:sp>
        <p:nvSpPr>
          <p:cNvPr id="23" name="sr23"/>
          <p:cNvSpPr/>
          <p:nvPr/>
        </p:nvSpPr>
        <p:spPr>
          <a:xfrm>
            <a:off x="2510000" y="1580000"/>
            <a:ext cx="1680000" cy="250000"/>
          </a:xfrm>
          <a:prstGeom prst="rect">
            <a:avLst/>
          </a:prstGeom>
          <a:solidFill>
            <a:srgbClr val="E07B00">
              <a:alpha val="22000"/>
            </a:srgbClr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2570000" y="160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E07B00"/>
                </a:solidFill>
                <a:latin typeface="Consolas"/>
              </a:rPr>
              <a:t>transactions</a:t>
            </a:r>
          </a:p>
        </p:txBody>
      </p:sp>
      <p:sp>
        <p:nvSpPr>
          <p:cNvPr id="25" name="sr25"/>
          <p:cNvSpPr/>
          <p:nvPr/>
        </p:nvSpPr>
        <p:spPr>
          <a:xfrm>
            <a:off x="2510000" y="1830000"/>
            <a:ext cx="1680000" cy="60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6" name="tb26"/>
          <p:cNvSpPr txBox="1"/>
          <p:nvPr/>
        </p:nvSpPr>
        <p:spPr>
          <a:xfrm>
            <a:off x="2570000" y="1860000"/>
            <a:ext cx="1560000" cy="5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txid          PK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block_hash    FK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size</a:t>
            </a:r>
          </a:p>
        </p:txBody>
      </p:sp>
      <p:sp>
        <p:nvSpPr>
          <p:cNvPr id="27" name="sr27"/>
          <p:cNvSpPr/>
          <p:nvPr/>
        </p:nvSpPr>
        <p:spPr>
          <a:xfrm>
            <a:off x="2510000" y="2510000"/>
            <a:ext cx="1680000" cy="250000"/>
          </a:xfrm>
          <a:prstGeom prst="rect">
            <a:avLst/>
          </a:prstGeom>
          <a:solidFill>
            <a:srgbClr val="E07B00">
              <a:alpha val="22000"/>
            </a:srgbClr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2570000" y="253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E07B00"/>
                </a:solidFill>
                <a:latin typeface="Consolas"/>
              </a:rPr>
              <a:t>tx_outputs</a:t>
            </a:r>
          </a:p>
        </p:txBody>
      </p:sp>
      <p:sp>
        <p:nvSpPr>
          <p:cNvPr id="29" name="sr29"/>
          <p:cNvSpPr/>
          <p:nvPr/>
        </p:nvSpPr>
        <p:spPr>
          <a:xfrm>
            <a:off x="2510000" y="2760000"/>
            <a:ext cx="168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2570000" y="2790000"/>
            <a:ext cx="1560000" cy="7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txid          PK FK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output_index  PK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address       FK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value</a:t>
            </a:r>
          </a:p>
        </p:txBody>
      </p:sp>
      <p:sp>
        <p:nvSpPr>
          <p:cNvPr id="31" name="sr31"/>
          <p:cNvSpPr/>
          <p:nvPr/>
        </p:nvSpPr>
        <p:spPr>
          <a:xfrm>
            <a:off x="4260000" y="1580000"/>
            <a:ext cx="1680000" cy="250000"/>
          </a:xfrm>
          <a:prstGeom prst="rect">
            <a:avLst/>
          </a:prstGeom>
          <a:solidFill>
            <a:srgbClr val="E07B00">
              <a:alpha val="22000"/>
            </a:srgbClr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32" name="tb32"/>
          <p:cNvSpPr txBox="1"/>
          <p:nvPr/>
        </p:nvSpPr>
        <p:spPr>
          <a:xfrm>
            <a:off x="4320000" y="160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E07B00"/>
                </a:solidFill>
                <a:latin typeface="Consolas"/>
              </a:rPr>
              <a:t>tx_inputs</a:t>
            </a:r>
          </a:p>
        </p:txBody>
      </p:sp>
      <p:sp>
        <p:nvSpPr>
          <p:cNvPr id="33" name="sr33"/>
          <p:cNvSpPr/>
          <p:nvPr/>
        </p:nvSpPr>
        <p:spPr>
          <a:xfrm>
            <a:off x="4260000" y="1830000"/>
            <a:ext cx="168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4320000" y="1860000"/>
            <a:ext cx="1560000" cy="7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txid          PK FK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input_index   PK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prev_txid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prev_output_index</a:t>
            </a:r>
          </a:p>
        </p:txBody>
      </p:sp>
      <p:sp>
        <p:nvSpPr>
          <p:cNvPr id="35" name="sr35"/>
          <p:cNvSpPr/>
          <p:nvPr/>
        </p:nvSpPr>
        <p:spPr>
          <a:xfrm>
            <a:off x="4260000" y="2670000"/>
            <a:ext cx="1680000" cy="250000"/>
          </a:xfrm>
          <a:prstGeom prst="rect">
            <a:avLst/>
          </a:prstGeom>
          <a:solidFill>
            <a:srgbClr val="7F8C8D">
              <a:alpha val="22000"/>
            </a:srgbClr>
          </a:solidFill>
          <a:ln w="9525">
            <a:solidFill>
              <a:srgbClr val="7F8C8D"/>
            </a:solidFill>
          </a:ln>
        </p:spPr>
        <p:txBody>
          <a:bodyPr/>
          <a:lstStyle/>
          <a:p/>
        </p:txBody>
      </p:sp>
      <p:sp>
        <p:nvSpPr>
          <p:cNvPr id="36" name="tb36"/>
          <p:cNvSpPr txBox="1"/>
          <p:nvPr/>
        </p:nvSpPr>
        <p:spPr>
          <a:xfrm>
            <a:off x="4320000" y="2692000"/>
            <a:ext cx="1560000" cy="21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50" b="1" dirty="0">
                <a:solidFill>
                  <a:srgbClr val="7F8C8D"/>
                </a:solidFill>
                <a:latin typeface="Consolas"/>
              </a:rPr>
              <a:t>address_clusters</a:t>
            </a:r>
          </a:p>
        </p:txBody>
      </p:sp>
      <p:sp>
        <p:nvSpPr>
          <p:cNvPr id="37" name="sr37"/>
          <p:cNvSpPr/>
          <p:nvPr/>
        </p:nvSpPr>
        <p:spPr>
          <a:xfrm>
            <a:off x="4260000" y="2920000"/>
            <a:ext cx="1680000" cy="44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8" name="tb38"/>
          <p:cNvSpPr txBox="1"/>
          <p:nvPr/>
        </p:nvSpPr>
        <p:spPr>
          <a:xfrm>
            <a:off x="4320000" y="2950000"/>
            <a:ext cx="1560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address    PK FK</a:t>
            </a:r>
          </a:p>
          <a:p>
            <a:pPr algn="l">
              <a:lnSpc>
                <a:spcPct val="115000"/>
              </a:lnSpc>
            </a:pPr>
            <a:r>
              <a:rPr lang="it-IT" sz="730" b="0" dirty="0">
                <a:solidFill>
                  <a:srgbClr val="4A4A4A"/>
                </a:solidFill>
                <a:latin typeface="Consolas"/>
              </a:rPr>
              <a:t>cluster_id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3930000"/>
            <a:ext cx="5200000" cy="5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it-IT" sz="1000" b="1" dirty="0">
                <a:solidFill>
                  <a:srgbClr val="1F1F1F"/>
                </a:solidFill>
                <a:latin typeface="Arial"/>
              </a:rPr>
              <a:t>address_clusters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  written by the clustering</a:t>
            </a:r>
          </a:p>
          <a:p>
            <a:pPr algn="l">
              <a:lnSpc>
                <a:spcPct val="130000"/>
              </a:lnSpc>
            </a:pPr>
            <a:r>
              <a:rPr lang="it-IT" sz="1000" b="1" dirty="0">
                <a:solidFill>
                  <a:srgbClr val="1F1F1F"/>
                </a:solidFill>
                <a:latin typeface="Arial"/>
              </a:rPr>
              <a:t>price_history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  external source, joined by date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6150000" y="1230000"/>
            <a:ext cx="528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350" b="1" dirty="0">
                <a:solidFill>
                  <a:srgbClr val="00838F"/>
                </a:solidFill>
                <a:latin typeface="Arial"/>
              </a:rPr>
              <a:t>Neo4j</a:t>
            </a:r>
            <a:r>
              <a:rPr lang="it-IT" sz="1350" b="0" dirty="0">
                <a:solidFill>
                  <a:srgbClr val="4A4A4A"/>
                </a:solidFill>
                <a:latin typeface="Arial"/>
              </a:rPr>
              <a:t>  ·  6 node types, 7 relationships</a:t>
            </a:r>
          </a:p>
        </p:txBody>
      </p:sp>
      <p:pic>
        <p:nvPicPr>
          <p:cNvPr id="51" name="pic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00" y="1580000"/>
            <a:ext cx="5280000" cy="2220000"/>
          </a:xfrm>
          <a:prstGeom prst="rect">
            <a:avLst/>
          </a:prstGeom>
        </p:spPr>
      </p:pic>
      <p:sp>
        <p:nvSpPr>
          <p:cNvPr id="52" name="tb52"/>
          <p:cNvSpPr txBox="1"/>
          <p:nvPr/>
        </p:nvSpPr>
        <p:spPr>
          <a:xfrm>
            <a:off x="6150000" y="3930000"/>
            <a:ext cx="5280000" cy="5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it-IT" sz="1000" b="1" dirty="0">
                <a:solidFill>
                  <a:srgbClr val="1F1F1F"/>
                </a:solidFill>
                <a:latin typeface="Arial"/>
              </a:rPr>
              <a:t>clusterId, COOWNED_WITH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  written by the clustering</a:t>
            </a:r>
          </a:p>
          <a:p>
            <a:pPr algn="l">
              <a:lnSpc>
                <a:spcPct val="130000"/>
              </a:lnSpc>
            </a:pPr>
            <a:r>
              <a:rPr lang="it-IT" sz="1000" b="1" dirty="0">
                <a:solidFill>
                  <a:srgbClr val="1F1F1F"/>
                </a:solidFill>
                <a:latin typeface="Arial"/>
              </a:rPr>
              <a:t>PREV_BLOCK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  older → newer, opposite of prev_hash</a:t>
            </a:r>
          </a:p>
        </p:txBody>
      </p:sp>
      <p:sp>
        <p:nvSpPr>
          <p:cNvPr id="60" name="rc60"/>
          <p:cNvSpPr/>
          <p:nvPr/>
        </p:nvSpPr>
        <p:spPr>
          <a:xfrm>
            <a:off x="760000" y="4600000"/>
            <a:ext cx="3457333" cy="12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61" name="tb61"/>
          <p:cNvSpPr txBox="1"/>
          <p:nvPr/>
        </p:nvSpPr>
        <p:spPr>
          <a:xfrm>
            <a:off x="920000" y="4700000"/>
            <a:ext cx="3137333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822433"/>
                </a:solidFill>
                <a:latin typeface="Arial"/>
              </a:rPr>
              <a:t>Outputs and inputs are entities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920000" y="5050000"/>
            <a:ext cx="3137333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key = (txid, index), no id of its own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money path  Tx → Output → Input → Tx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same path in SQL and in the graph</a:t>
            </a:r>
          </a:p>
        </p:txBody>
      </p:sp>
      <p:sp>
        <p:nvSpPr>
          <p:cNvPr id="63" name="rc63"/>
          <p:cNvSpPr/>
          <p:nvPr/>
        </p:nvSpPr>
        <p:spPr>
          <a:xfrm>
            <a:off x="4367333" y="4600000"/>
            <a:ext cx="3457333" cy="12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64" name="tb64"/>
          <p:cNvSpPr txBox="1"/>
          <p:nvPr/>
        </p:nvSpPr>
        <p:spPr>
          <a:xfrm>
            <a:off x="4527333" y="4700000"/>
            <a:ext cx="3137333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822433"/>
                </a:solidFill>
                <a:latin typeface="Arial"/>
              </a:rPr>
              <a:t>Nothing derived is stored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4527333" y="5050000"/>
            <a:ext cx="3137333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fee, spent, height, orphan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computed at query time</a:t>
            </a:r>
          </a:p>
        </p:txBody>
      </p:sp>
      <p:sp>
        <p:nvSpPr>
          <p:cNvPr id="66" name="rc66"/>
          <p:cNvSpPr/>
          <p:nvPr/>
        </p:nvSpPr>
        <p:spPr>
          <a:xfrm>
            <a:off x="7974666" y="4600000"/>
            <a:ext cx="3457333" cy="125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67" name="tb67"/>
          <p:cNvSpPr txBox="1"/>
          <p:nvPr/>
        </p:nvSpPr>
        <p:spPr>
          <a:xfrm>
            <a:off x="8134666" y="4700000"/>
            <a:ext cx="3137333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822433"/>
                </a:solidFill>
                <a:latin typeface="Arial"/>
              </a:rPr>
              <a:t>FK only where the data guarantees it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8134666" y="5050000"/>
            <a:ext cx="3137333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no FK input → output</a:t>
            </a:r>
          </a:p>
          <a:p>
            <a:pPr algn="l">
              <a:lnSpc>
                <a:spcPct val="115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coinbase, outputs before the window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Results on the full dataset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5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1250000"/>
            <a:ext cx="26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8A8A8A"/>
                </a:solidFill>
                <a:latin typeface="Arial"/>
              </a:rPr>
              <a:t>THE QUESTION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5460000" y="1250000"/>
            <a:ext cx="18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E07B00"/>
                </a:solidFill>
                <a:latin typeface="Arial"/>
              </a:rPr>
              <a:t>SQLITE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7260000" y="1250000"/>
            <a:ext cx="18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00838F"/>
                </a:solidFill>
                <a:latin typeface="Arial"/>
              </a:rPr>
              <a:t>NEO4J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9160000" y="125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8A8A8A"/>
                </a:solidFill>
                <a:latin typeface="Arial"/>
              </a:rPr>
              <a:t>FASTER</a:t>
            </a:r>
          </a:p>
        </p:txBody>
      </p:sp>
      <p:sp>
        <p:nvSpPr>
          <p:cNvPr id="44" name="sr44"/>
          <p:cNvSpPr/>
          <p:nvPr/>
        </p:nvSpPr>
        <p:spPr>
          <a:xfrm>
            <a:off x="760000" y="1580000"/>
            <a:ext cx="10672000" cy="90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r55"/>
          <p:cNvSpPr/>
          <p:nvPr/>
        </p:nvSpPr>
        <p:spPr>
          <a:xfrm>
            <a:off x="760000" y="1640000"/>
            <a:ext cx="10672000" cy="4200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b50"/>
          <p:cNvSpPr txBox="1"/>
          <p:nvPr/>
        </p:nvSpPr>
        <p:spPr>
          <a:xfrm>
            <a:off x="820000" y="170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460000" y="170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fee did each transaction pay?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5460000" y="170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61.5 s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260000" y="170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24.6 s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9160000" y="170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2.5x</a:t>
            </a:r>
          </a:p>
        </p:txBody>
      </p:sp>
      <p:sp>
        <p:nvSpPr>
          <p:cNvPr id="56" name="tb56"/>
          <p:cNvSpPr txBox="1"/>
          <p:nvPr/>
        </p:nvSpPr>
        <p:spPr>
          <a:xfrm>
            <a:off x="820000" y="212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Q2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460000" y="212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outputs are still unspent?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5460000" y="212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12.5 s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7260000" y="212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9.4 s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9160000" y="212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1.3x</a:t>
            </a:r>
          </a:p>
        </p:txBody>
      </p:sp>
      <p:sp>
        <p:nvSpPr>
          <p:cNvPr id="67" name="sr67"/>
          <p:cNvSpPr/>
          <p:nvPr/>
        </p:nvSpPr>
        <p:spPr>
          <a:xfrm>
            <a:off x="760000" y="2480000"/>
            <a:ext cx="10672000" cy="4200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b62"/>
          <p:cNvSpPr txBox="1"/>
          <p:nvPr/>
        </p:nvSpPr>
        <p:spPr>
          <a:xfrm>
            <a:off x="820000" y="254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Q3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460000" y="254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does each address hold?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5460000" y="254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40.3 s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7260000" y="254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10.8 s</a:t>
            </a:r>
          </a:p>
        </p:txBody>
      </p:sp>
      <p:sp>
        <p:nvSpPr>
          <p:cNvPr id="66" name="tb66"/>
          <p:cNvSpPr txBox="1"/>
          <p:nvPr/>
        </p:nvSpPr>
        <p:spPr>
          <a:xfrm>
            <a:off x="9160000" y="254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3.7x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820000" y="296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Q4</a:t>
            </a:r>
          </a:p>
        </p:txBody>
      </p:sp>
      <p:sp>
        <p:nvSpPr>
          <p:cNvPr id="69" name="tb69"/>
          <p:cNvSpPr txBox="1"/>
          <p:nvPr/>
        </p:nvSpPr>
        <p:spPr>
          <a:xfrm>
            <a:off x="1460000" y="296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Where did one address's money go?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5460000" y="296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9.7 s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7260000" y="296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13.8 s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9160000" y="296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SQLite 1.4x</a:t>
            </a:r>
          </a:p>
        </p:txBody>
      </p:sp>
      <p:sp>
        <p:nvSpPr>
          <p:cNvPr id="79" name="sr79"/>
          <p:cNvSpPr/>
          <p:nvPr/>
        </p:nvSpPr>
        <p:spPr>
          <a:xfrm>
            <a:off x="760000" y="3320000"/>
            <a:ext cx="10672000" cy="4200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b74"/>
          <p:cNvSpPr txBox="1"/>
          <p:nvPr/>
        </p:nvSpPr>
        <p:spPr>
          <a:xfrm>
            <a:off x="820000" y="338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Q5</a:t>
            </a:r>
          </a:p>
        </p:txBody>
      </p:sp>
      <p:sp>
        <p:nvSpPr>
          <p:cNvPr id="75" name="tb75"/>
          <p:cNvSpPr txBox="1"/>
          <p:nvPr/>
        </p:nvSpPr>
        <p:spPr>
          <a:xfrm>
            <a:off x="1460000" y="338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addresses receive the most?</a:t>
            </a:r>
          </a:p>
        </p:txBody>
      </p:sp>
      <p:sp>
        <p:nvSpPr>
          <p:cNvPr id="76" name="tb76"/>
          <p:cNvSpPr txBox="1"/>
          <p:nvPr/>
        </p:nvSpPr>
        <p:spPr>
          <a:xfrm>
            <a:off x="5460000" y="338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9.6 s</a:t>
            </a:r>
          </a:p>
        </p:txBody>
      </p:sp>
      <p:sp>
        <p:nvSpPr>
          <p:cNvPr id="77" name="tb77"/>
          <p:cNvSpPr txBox="1"/>
          <p:nvPr/>
        </p:nvSpPr>
        <p:spPr>
          <a:xfrm>
            <a:off x="7260000" y="338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9.0 s</a:t>
            </a:r>
          </a:p>
        </p:txBody>
      </p:sp>
      <p:sp>
        <p:nvSpPr>
          <p:cNvPr id="78" name="tb78"/>
          <p:cNvSpPr txBox="1"/>
          <p:nvPr/>
        </p:nvSpPr>
        <p:spPr>
          <a:xfrm>
            <a:off x="9160000" y="338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7F8C8D"/>
                </a:solidFill>
                <a:latin typeface="Arial"/>
              </a:rPr>
              <a:t>tie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820000" y="380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Q6</a:t>
            </a:r>
          </a:p>
        </p:txBody>
      </p:sp>
      <p:sp>
        <p:nvSpPr>
          <p:cNvPr id="81" name="tb81"/>
          <p:cNvSpPr txBox="1"/>
          <p:nvPr/>
        </p:nvSpPr>
        <p:spPr>
          <a:xfrm>
            <a:off x="1460000" y="380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blocks are on the main chain?</a:t>
            </a:r>
          </a:p>
        </p:txBody>
      </p:sp>
      <p:sp>
        <p:nvSpPr>
          <p:cNvPr id="82" name="tb82"/>
          <p:cNvSpPr txBox="1"/>
          <p:nvPr/>
        </p:nvSpPr>
        <p:spPr>
          <a:xfrm>
            <a:off x="5460000" y="380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2.1 ms</a:t>
            </a:r>
          </a:p>
        </p:txBody>
      </p:sp>
      <p:sp>
        <p:nvSpPr>
          <p:cNvPr id="83" name="tb83"/>
          <p:cNvSpPr txBox="1"/>
          <p:nvPr/>
        </p:nvSpPr>
        <p:spPr>
          <a:xfrm>
            <a:off x="7260000" y="380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17.7 ms</a:t>
            </a:r>
          </a:p>
        </p:txBody>
      </p:sp>
      <p:sp>
        <p:nvSpPr>
          <p:cNvPr id="84" name="tb84"/>
          <p:cNvSpPr txBox="1"/>
          <p:nvPr/>
        </p:nvSpPr>
        <p:spPr>
          <a:xfrm>
            <a:off x="9160000" y="380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SQLite 8.4x</a:t>
            </a:r>
          </a:p>
        </p:txBody>
      </p:sp>
      <p:sp>
        <p:nvSpPr>
          <p:cNvPr id="91" name="sr91"/>
          <p:cNvSpPr/>
          <p:nvPr/>
        </p:nvSpPr>
        <p:spPr>
          <a:xfrm>
            <a:off x="760000" y="4160000"/>
            <a:ext cx="10672000" cy="42000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b86"/>
          <p:cNvSpPr txBox="1"/>
          <p:nvPr/>
        </p:nvSpPr>
        <p:spPr>
          <a:xfrm>
            <a:off x="820000" y="422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Q7</a:t>
            </a:r>
          </a:p>
        </p:txBody>
      </p:sp>
      <p:sp>
        <p:nvSpPr>
          <p:cNvPr id="87" name="tb87"/>
          <p:cNvSpPr txBox="1"/>
          <p:nvPr/>
        </p:nvSpPr>
        <p:spPr>
          <a:xfrm>
            <a:off x="1460000" y="422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does each wallet hold?</a:t>
            </a:r>
          </a:p>
        </p:txBody>
      </p:sp>
      <p:sp>
        <p:nvSpPr>
          <p:cNvPr id="88" name="tb88"/>
          <p:cNvSpPr txBox="1"/>
          <p:nvPr/>
        </p:nvSpPr>
        <p:spPr>
          <a:xfrm>
            <a:off x="5460000" y="422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B3261E"/>
                </a:solidFill>
                <a:latin typeface="Arial"/>
              </a:rPr>
              <a:t>not available</a:t>
            </a:r>
          </a:p>
        </p:txBody>
      </p:sp>
      <p:sp>
        <p:nvSpPr>
          <p:cNvPr id="89" name="tb89"/>
          <p:cNvSpPr txBox="1"/>
          <p:nvPr/>
        </p:nvSpPr>
        <p:spPr>
          <a:xfrm>
            <a:off x="7260000" y="422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12.3 s</a:t>
            </a:r>
          </a:p>
        </p:txBody>
      </p:sp>
      <p:sp>
        <p:nvSpPr>
          <p:cNvPr id="90" name="tb90"/>
          <p:cNvSpPr txBox="1"/>
          <p:nvPr/>
        </p:nvSpPr>
        <p:spPr>
          <a:xfrm>
            <a:off x="9160000" y="422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only</a:t>
            </a:r>
          </a:p>
        </p:txBody>
      </p:sp>
      <p:sp>
        <p:nvSpPr>
          <p:cNvPr id="92" name="tb92"/>
          <p:cNvSpPr txBox="1"/>
          <p:nvPr/>
        </p:nvSpPr>
        <p:spPr>
          <a:xfrm>
            <a:off x="820000" y="4640000"/>
            <a:ext cx="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Q8</a:t>
            </a:r>
          </a:p>
        </p:txBody>
      </p:sp>
      <p:sp>
        <p:nvSpPr>
          <p:cNvPr id="93" name="tb93"/>
          <p:cNvSpPr txBox="1"/>
          <p:nvPr/>
        </p:nvSpPr>
        <p:spPr>
          <a:xfrm>
            <a:off x="1460000" y="464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What is each transaction worth in USD?</a:t>
            </a:r>
          </a:p>
        </p:txBody>
      </p:sp>
      <p:sp>
        <p:nvSpPr>
          <p:cNvPr id="94" name="tb94"/>
          <p:cNvSpPr txBox="1"/>
          <p:nvPr/>
        </p:nvSpPr>
        <p:spPr>
          <a:xfrm>
            <a:off x="5460000" y="464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16.7 s</a:t>
            </a:r>
          </a:p>
        </p:txBody>
      </p:sp>
      <p:sp>
        <p:nvSpPr>
          <p:cNvPr id="95" name="tb95"/>
          <p:cNvSpPr txBox="1"/>
          <p:nvPr/>
        </p:nvSpPr>
        <p:spPr>
          <a:xfrm>
            <a:off x="7260000" y="4640000"/>
            <a:ext cx="17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0" dirty="0">
                <a:solidFill>
                  <a:srgbClr val="1F1F1F"/>
                </a:solidFill>
                <a:latin typeface="Arial"/>
              </a:rPr>
              <a:t>12.4 s</a:t>
            </a:r>
          </a:p>
        </p:txBody>
      </p:sp>
      <p:sp>
        <p:nvSpPr>
          <p:cNvPr id="96" name="tb96"/>
          <p:cNvSpPr txBox="1"/>
          <p:nvPr/>
        </p:nvSpPr>
        <p:spPr>
          <a:xfrm>
            <a:off x="9160000" y="4640000"/>
            <a:ext cx="22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1.3x</a:t>
            </a:r>
          </a:p>
        </p:txBody>
      </p:sp>
      <p:sp>
        <p:nvSpPr>
          <p:cNvPr id="100" name="rc100"/>
          <p:cNvSpPr/>
          <p:nvPr/>
        </p:nvSpPr>
        <p:spPr>
          <a:xfrm>
            <a:off x="1646000" y="5300000"/>
            <a:ext cx="2000000" cy="460000"/>
          </a:xfrm>
          <a:prstGeom prst="roundRect">
            <a:avLst>
              <a:gd name="adj" fmla="val 6000"/>
            </a:avLst>
          </a:prstGeom>
          <a:solidFill>
            <a:srgbClr val="00838F">
              <a:alpha val="14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101" name="tb101"/>
          <p:cNvSpPr txBox="1"/>
          <p:nvPr/>
        </p:nvSpPr>
        <p:spPr>
          <a:xfrm>
            <a:off x="1646000" y="5380000"/>
            <a:ext cx="20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1" dirty="0">
                <a:solidFill>
                  <a:srgbClr val="00838F"/>
                </a:solidFill>
                <a:latin typeface="Arial"/>
              </a:rPr>
              <a:t>Neo4j wins 5</a:t>
            </a:r>
          </a:p>
        </p:txBody>
      </p:sp>
      <p:sp>
        <p:nvSpPr>
          <p:cNvPr id="102" name="rc102"/>
          <p:cNvSpPr/>
          <p:nvPr/>
        </p:nvSpPr>
        <p:spPr>
          <a:xfrm>
            <a:off x="3846000" y="5300000"/>
            <a:ext cx="2000000" cy="460000"/>
          </a:xfrm>
          <a:prstGeom prst="roundRect">
            <a:avLst>
              <a:gd name="adj" fmla="val 6000"/>
            </a:avLst>
          </a:prstGeom>
          <a:solidFill>
            <a:srgbClr val="E07B00">
              <a:alpha val="14000"/>
            </a:srgbClr>
          </a:solidFill>
          <a:ln w="12700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03" name="tb103"/>
          <p:cNvSpPr txBox="1"/>
          <p:nvPr/>
        </p:nvSpPr>
        <p:spPr>
          <a:xfrm>
            <a:off x="3846000" y="5380000"/>
            <a:ext cx="20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1" dirty="0">
                <a:solidFill>
                  <a:srgbClr val="E07B00"/>
                </a:solidFill>
                <a:latin typeface="Arial"/>
              </a:rPr>
              <a:t>SQLite wins 2</a:t>
            </a:r>
          </a:p>
        </p:txBody>
      </p:sp>
      <p:sp>
        <p:nvSpPr>
          <p:cNvPr id="104" name="rc104"/>
          <p:cNvSpPr/>
          <p:nvPr/>
        </p:nvSpPr>
        <p:spPr>
          <a:xfrm>
            <a:off x="6046000" y="5300000"/>
            <a:ext cx="1300000" cy="460000"/>
          </a:xfrm>
          <a:prstGeom prst="roundRect">
            <a:avLst>
              <a:gd name="adj" fmla="val 6000"/>
            </a:avLst>
          </a:prstGeom>
          <a:solidFill>
            <a:srgbClr val="7F8C8D">
              <a:alpha val="14000"/>
            </a:srgbClr>
          </a:solidFill>
          <a:ln w="12700">
            <a:solidFill>
              <a:srgbClr val="7F8C8D"/>
            </a:solidFill>
          </a:ln>
        </p:spPr>
        <p:txBody>
          <a:bodyPr/>
          <a:lstStyle/>
          <a:p/>
        </p:txBody>
      </p:sp>
      <p:sp>
        <p:nvSpPr>
          <p:cNvPr id="105" name="tb105"/>
          <p:cNvSpPr txBox="1"/>
          <p:nvPr/>
        </p:nvSpPr>
        <p:spPr>
          <a:xfrm>
            <a:off x="6046000" y="5380000"/>
            <a:ext cx="13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1" dirty="0">
                <a:solidFill>
                  <a:srgbClr val="7F8C8D"/>
                </a:solidFill>
                <a:latin typeface="Arial"/>
              </a:rPr>
              <a:t>tie 1</a:t>
            </a:r>
          </a:p>
        </p:txBody>
      </p:sp>
      <p:sp>
        <p:nvSpPr>
          <p:cNvPr id="106" name="rc106"/>
          <p:cNvSpPr/>
          <p:nvPr/>
        </p:nvSpPr>
        <p:spPr>
          <a:xfrm>
            <a:off x="7546000" y="5300000"/>
            <a:ext cx="3000000" cy="460000"/>
          </a:xfrm>
          <a:prstGeom prst="roundRect">
            <a:avLst>
              <a:gd name="adj" fmla="val 6000"/>
            </a:avLst>
          </a:prstGeom>
          <a:solidFill>
            <a:srgbClr val="B3261E">
              <a:alpha val="14000"/>
            </a:srgbClr>
          </a:solidFill>
          <a:ln w="12700">
            <a:solidFill>
              <a:srgbClr val="B3261E"/>
            </a:solidFill>
          </a:ln>
        </p:spPr>
        <p:txBody>
          <a:bodyPr/>
          <a:lstStyle/>
          <a:p/>
        </p:txBody>
      </p:sp>
      <p:sp>
        <p:nvSpPr>
          <p:cNvPr id="107" name="tb107"/>
          <p:cNvSpPr txBox="1"/>
          <p:nvPr/>
        </p:nvSpPr>
        <p:spPr>
          <a:xfrm>
            <a:off x="7546000" y="5380000"/>
            <a:ext cx="30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1" dirty="0">
                <a:solidFill>
                  <a:srgbClr val="B3261E"/>
                </a:solidFill>
                <a:latin typeface="Arial"/>
              </a:rPr>
              <a:t>only Neo4j answers Q7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How I measured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6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60000" y="1150000"/>
            <a:ext cx="10672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50" b="1" dirty="0">
                <a:solidFill>
                  <a:srgbClr val="8A8A8A"/>
                </a:solidFill>
                <a:latin typeface="Arial"/>
              </a:rPr>
              <a:t>EVERY QUERY, ON BOTH ENGINES</a:t>
            </a:r>
          </a:p>
        </p:txBody>
      </p:sp>
      <p:sp>
        <p:nvSpPr>
          <p:cNvPr id="11" name="sr11"/>
          <p:cNvSpPr/>
          <p:nvPr/>
        </p:nvSpPr>
        <p:spPr>
          <a:xfrm>
            <a:off x="760000" y="1500000"/>
            <a:ext cx="200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8A8A8A"/>
            </a:solidFill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760000" y="159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8A8A8A"/>
                </a:solidFill>
                <a:latin typeface="Arial"/>
              </a:rPr>
              <a:t>run 0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760000" y="1910000"/>
            <a:ext cx="2000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0" dirty="0">
                <a:solidFill>
                  <a:srgbClr val="8A8A8A"/>
                </a:solidFill>
                <a:latin typeface="Arial"/>
              </a:rPr>
              <a:t>warm-up, thrown away</a:t>
            </a:r>
          </a:p>
        </p:txBody>
      </p:sp>
      <p:cxnSp>
        <p:nvCxnSpPr>
          <p:cNvPr id="14" name="ar14"/>
          <p:cNvCxnSpPr/>
          <p:nvPr/>
        </p:nvCxnSpPr>
        <p:spPr>
          <a:xfrm>
            <a:off x="2810000" y="1880000"/>
            <a:ext cx="330000" cy="0"/>
          </a:xfrm>
          <a:prstGeom prst="straightConnector1">
            <a:avLst/>
          </a:prstGeom>
          <a:ln w="12700">
            <a:solidFill>
              <a:srgbClr val="8A8A8A"/>
            </a:solidFill>
            <a:tailEnd type="triangle" w="med" len="med"/>
          </a:ln>
        </p:spPr>
      </p:cxnSp>
      <p:sp>
        <p:nvSpPr>
          <p:cNvPr id="15" name="sr15"/>
          <p:cNvSpPr/>
          <p:nvPr/>
        </p:nvSpPr>
        <p:spPr>
          <a:xfrm>
            <a:off x="3190000" y="1500000"/>
            <a:ext cx="145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3190000" y="1590000"/>
            <a:ext cx="145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run 1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3190000" y="1910000"/>
            <a:ext cx="1450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timed</a:t>
            </a:r>
          </a:p>
        </p:txBody>
      </p:sp>
      <p:sp>
        <p:nvSpPr>
          <p:cNvPr id="18" name="sr18"/>
          <p:cNvSpPr/>
          <p:nvPr/>
        </p:nvSpPr>
        <p:spPr>
          <a:xfrm>
            <a:off x="4740000" y="1500000"/>
            <a:ext cx="145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9" name="tb19"/>
          <p:cNvSpPr txBox="1"/>
          <p:nvPr/>
        </p:nvSpPr>
        <p:spPr>
          <a:xfrm>
            <a:off x="4740000" y="1590000"/>
            <a:ext cx="145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run 2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4740000" y="1910000"/>
            <a:ext cx="1450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timed</a:t>
            </a:r>
          </a:p>
        </p:txBody>
      </p:sp>
      <p:sp>
        <p:nvSpPr>
          <p:cNvPr id="21" name="sr21"/>
          <p:cNvSpPr/>
          <p:nvPr/>
        </p:nvSpPr>
        <p:spPr>
          <a:xfrm>
            <a:off x="6290000" y="1500000"/>
            <a:ext cx="1450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6290000" y="1590000"/>
            <a:ext cx="145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run 3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6290000" y="1910000"/>
            <a:ext cx="1450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timed</a:t>
            </a:r>
          </a:p>
        </p:txBody>
      </p:sp>
      <p:cxnSp>
        <p:nvCxnSpPr>
          <p:cNvPr id="24" name="ar24"/>
          <p:cNvCxnSpPr/>
          <p:nvPr/>
        </p:nvCxnSpPr>
        <p:spPr>
          <a:xfrm>
            <a:off x="7840000" y="1880000"/>
            <a:ext cx="330000" cy="0"/>
          </a:xfrm>
          <a:prstGeom prst="straightConnector1">
            <a:avLst/>
          </a:prstGeom>
          <a:ln w="12700">
            <a:solidFill>
              <a:srgbClr val="8A8A8A"/>
            </a:solidFill>
            <a:tailEnd type="triangle" w="med" len="med"/>
          </a:ln>
        </p:spPr>
      </p:cxnSp>
      <p:sp>
        <p:nvSpPr>
          <p:cNvPr id="25" name="sr25"/>
          <p:cNvSpPr/>
          <p:nvPr/>
        </p:nvSpPr>
        <p:spPr>
          <a:xfrm>
            <a:off x="8220000" y="1500000"/>
            <a:ext cx="3212000" cy="760000"/>
          </a:xfrm>
          <a:prstGeom prst="rect">
            <a:avLst/>
          </a:prstGeom>
          <a:solidFill>
            <a:srgbClr val="F3F6F8"/>
          </a:solidFill>
          <a:ln w="9525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26" name="tb26"/>
          <p:cNvSpPr txBox="1"/>
          <p:nvPr/>
        </p:nvSpPr>
        <p:spPr>
          <a:xfrm>
            <a:off x="8220000" y="1590000"/>
            <a:ext cx="321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00838F"/>
                </a:solidFill>
                <a:latin typeface="Arial"/>
              </a:rPr>
              <a:t>median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8220000" y="1910000"/>
            <a:ext cx="3212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0" dirty="0">
                <a:solidFill>
                  <a:srgbClr val="4A4A4A"/>
                </a:solidFill>
                <a:latin typeface="Arial"/>
              </a:rPr>
              <a:t>the number in the table</a:t>
            </a:r>
          </a:p>
        </p:txBody>
      </p:sp>
      <p:sp>
        <p:nvSpPr>
          <p:cNvPr id="30" name="rc30"/>
          <p:cNvSpPr/>
          <p:nvPr/>
        </p:nvSpPr>
        <p:spPr>
          <a:xfrm>
            <a:off x="760000" y="2650000"/>
            <a:ext cx="3457333" cy="15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760000" y="2800000"/>
            <a:ext cx="3457333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500" b="1" dirty="0">
                <a:solidFill>
                  <a:srgbClr val="822433"/>
                </a:solidFill>
                <a:latin typeface="Arial"/>
              </a:rPr>
              <a:t>Timeout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0000" y="3300000"/>
            <a:ext cx="3457333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120 s SQLite  ·  90 s Neo4j</a:t>
            </a:r>
          </a:p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too slow → recorded as timeout</a:t>
            </a:r>
          </a:p>
        </p:txBody>
      </p:sp>
      <p:sp>
        <p:nvSpPr>
          <p:cNvPr id="33" name="rc33"/>
          <p:cNvSpPr/>
          <p:nvPr/>
        </p:nvSpPr>
        <p:spPr>
          <a:xfrm>
            <a:off x="4367333" y="2650000"/>
            <a:ext cx="3457333" cy="15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4367333" y="2800000"/>
            <a:ext cx="3457333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500" b="1" dirty="0">
                <a:solidFill>
                  <a:srgbClr val="822433"/>
                </a:solidFill>
                <a:latin typeface="Arial"/>
              </a:rPr>
              <a:t>Scalability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4367333" y="3300000"/>
            <a:ext cx="3457333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4 sizes</a:t>
            </a:r>
          </a:p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50  ·  200  ·  500  ·  977 blocks</a:t>
            </a:r>
          </a:p>
        </p:txBody>
      </p:sp>
      <p:sp>
        <p:nvSpPr>
          <p:cNvPr id="36" name="rc36"/>
          <p:cNvSpPr/>
          <p:nvPr/>
        </p:nvSpPr>
        <p:spPr>
          <a:xfrm>
            <a:off x="7974666" y="2650000"/>
            <a:ext cx="3457333" cy="150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7974666" y="2800000"/>
            <a:ext cx="3457333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500" b="1" dirty="0">
                <a:solidFill>
                  <a:srgbClr val="822433"/>
                </a:solidFill>
                <a:latin typeface="Arial"/>
              </a:rPr>
              <a:t>Timer covers all rows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8154666" y="3250000"/>
            <a:ext cx="3157333" cy="8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850" b="0" dirty="0">
                <a:solidFill>
                  <a:srgbClr val="4A4A4A"/>
                </a:solidFill>
                <a:latin typeface="Consolas"/>
              </a:rPr>
              <a:t>t0 = time.perf_counter()</a:t>
            </a:r>
          </a:p>
          <a:p>
            <a:pPr algn="l">
              <a:lnSpc>
                <a:spcPct val="115000"/>
              </a:lnSpc>
            </a:pPr>
            <a:r>
              <a:rPr lang="it-IT" sz="850" b="0" dirty="0">
                <a:solidFill>
                  <a:srgbClr val="4A4A4A"/>
                </a:solidFill>
                <a:latin typeface="Consolas"/>
              </a:rPr>
              <a:t>cur = conn.execute(sql)</a:t>
            </a:r>
          </a:p>
          <a:p>
            <a:pPr algn="l">
              <a:lnSpc>
                <a:spcPct val="115000"/>
              </a:lnSpc>
            </a:pPr>
            <a:r>
              <a:rPr lang="it-IT" sz="850" b="1" dirty="0">
                <a:solidFill>
                  <a:srgbClr val="1F1F1F"/>
                </a:solidFill>
                <a:latin typeface="Consolas"/>
              </a:rPr>
              <a:t>cur.fetchall()  # every row</a:t>
            </a:r>
          </a:p>
          <a:p>
            <a:pPr algn="l">
              <a:lnSpc>
                <a:spcPct val="115000"/>
              </a:lnSpc>
            </a:pPr>
            <a:r>
              <a:rPr lang="it-IT" sz="850" b="0" dirty="0">
                <a:solidFill>
                  <a:srgbClr val="4A4A4A"/>
                </a:solidFill>
                <a:latin typeface="Consolas"/>
              </a:rPr>
              <a:t>t = time.perf_counter() - t0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7974666" y="3920000"/>
            <a:ext cx="3457333" cy="2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900" b="0" dirty="0">
                <a:solidFill>
                  <a:srgbClr val="8A8A8A"/>
                </a:solidFill>
                <a:latin typeface="Arial"/>
              </a:rPr>
              <a:t>Neo4j  ·  result.consume()</a:t>
            </a:r>
          </a:p>
        </p:txBody>
      </p:sp>
      <p:sp>
        <p:nvSpPr>
          <p:cNvPr id="40" name="rc40"/>
          <p:cNvSpPr/>
          <p:nvPr/>
        </p:nvSpPr>
        <p:spPr>
          <a:xfrm>
            <a:off x="760000" y="4450000"/>
            <a:ext cx="10672000" cy="800000"/>
          </a:xfrm>
          <a:prstGeom prst="roundRect">
            <a:avLst>
              <a:gd name="adj" fmla="val 6000"/>
            </a:avLst>
          </a:prstGeom>
          <a:solidFill>
            <a:srgbClr val="B3261E">
              <a:alpha val="8000"/>
            </a:srgbClr>
          </a:solidFill>
          <a:ln w="12700">
            <a:solidFill>
              <a:srgbClr val="B3261E"/>
            </a:solidFill>
          </a:ln>
        </p:spPr>
        <p:txBody>
          <a:bodyPr/>
          <a:lstStyle/>
          <a:p/>
        </p:txBody>
      </p:sp>
      <p:sp>
        <p:nvSpPr>
          <p:cNvPr id="41" name="tb41"/>
          <p:cNvSpPr txBox="1"/>
          <p:nvPr/>
        </p:nvSpPr>
        <p:spPr>
          <a:xfrm>
            <a:off x="1010000" y="4660000"/>
            <a:ext cx="101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00" b="1" dirty="0">
                <a:solidFill>
                  <a:srgbClr val="B3261E"/>
                </a:solidFill>
                <a:latin typeface="Arial"/>
              </a:rPr>
              <a:t>Limits   </a:t>
            </a:r>
            <a:r>
              <a:rPr lang="it-IT" sz="1200" b="0" dirty="0">
                <a:solidFill>
                  <a:srgbClr val="4A4A4A"/>
                </a:solidFill>
                <a:latin typeface="Arial"/>
              </a:rPr>
              <a:t>1 laptop  ·  15 GiB RAM  ·  8 GB heap for Neo4j  ·  SQLite in-process, Neo4j server (+1.3 ms per query)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Where the graph wins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7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880000" y="1320000"/>
            <a:ext cx="310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8A8A8A"/>
                </a:solidFill>
                <a:latin typeface="Arial"/>
              </a:rPr>
              <a:t>THE QUESTION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3980000" y="1320000"/>
            <a:ext cx="115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8A8A8A"/>
                </a:solidFill>
                <a:latin typeface="Arial"/>
              </a:rPr>
              <a:t>GAP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5130000" y="1320000"/>
            <a:ext cx="320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E07B00"/>
                </a:solidFill>
                <a:latin typeface="Arial"/>
              </a:rPr>
              <a:t>SQLITE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8330000" y="1320000"/>
            <a:ext cx="3222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00838F"/>
                </a:solidFill>
                <a:latin typeface="Arial"/>
              </a:rPr>
              <a:t>NEO4J</a:t>
            </a:r>
          </a:p>
        </p:txBody>
      </p:sp>
      <p:sp>
        <p:nvSpPr>
          <p:cNvPr id="14" name="sr14"/>
          <p:cNvSpPr/>
          <p:nvPr/>
        </p:nvSpPr>
        <p:spPr>
          <a:xfrm>
            <a:off x="760000" y="1650000"/>
            <a:ext cx="10672000" cy="59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5" name="sr15"/>
          <p:cNvSpPr/>
          <p:nvPr/>
        </p:nvSpPr>
        <p:spPr>
          <a:xfrm>
            <a:off x="760000" y="1650000"/>
            <a:ext cx="50000" cy="5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880000" y="1735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Q3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does each address hold?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3860000" y="1705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00838F"/>
                </a:solidFill>
                <a:latin typeface="Arial"/>
              </a:rPr>
              <a:t>3.7x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5130000" y="1735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2 GROUP BY + 1 JOIN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over millions of rows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8330000" y="1735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1 pass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, checks SPENDS on each output</a:t>
            </a:r>
          </a:p>
        </p:txBody>
      </p:sp>
      <p:sp>
        <p:nvSpPr>
          <p:cNvPr id="20" name="sr20"/>
          <p:cNvSpPr/>
          <p:nvPr/>
        </p:nvSpPr>
        <p:spPr>
          <a:xfrm>
            <a:off x="760000" y="2310000"/>
            <a:ext cx="10672000" cy="59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1" name="sr21"/>
          <p:cNvSpPr/>
          <p:nvPr/>
        </p:nvSpPr>
        <p:spPr>
          <a:xfrm>
            <a:off x="760000" y="2310000"/>
            <a:ext cx="50000" cy="5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880000" y="2395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Q1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fee did each transaction pay?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3860000" y="2365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00838F"/>
                </a:solidFill>
                <a:latin typeface="Arial"/>
              </a:rPr>
              <a:t>2.5x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130000" y="2395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JOIN on 2 columns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to find each input's value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330000" y="2395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follows SPENDS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to the output</a:t>
            </a:r>
          </a:p>
        </p:txBody>
      </p:sp>
      <p:sp>
        <p:nvSpPr>
          <p:cNvPr id="26" name="sr26"/>
          <p:cNvSpPr/>
          <p:nvPr/>
        </p:nvSpPr>
        <p:spPr>
          <a:xfrm>
            <a:off x="760000" y="2970000"/>
            <a:ext cx="10672000" cy="59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7" name="sr27"/>
          <p:cNvSpPr/>
          <p:nvPr/>
        </p:nvSpPr>
        <p:spPr>
          <a:xfrm>
            <a:off x="760000" y="2970000"/>
            <a:ext cx="50000" cy="5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880000" y="3055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Q2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outputs are still unspent?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3860000" y="3025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00838F"/>
                </a:solidFill>
                <a:latin typeface="Arial"/>
              </a:rPr>
              <a:t>1.3x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130000" y="3055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looks for an input row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that is not there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8330000" y="3055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checks that no SPENDS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edge arrives</a:t>
            </a:r>
          </a:p>
        </p:txBody>
      </p:sp>
      <p:sp>
        <p:nvSpPr>
          <p:cNvPr id="32" name="sr32"/>
          <p:cNvSpPr/>
          <p:nvPr/>
        </p:nvSpPr>
        <p:spPr>
          <a:xfrm>
            <a:off x="760000" y="3630000"/>
            <a:ext cx="10672000" cy="59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3" name="sr33"/>
          <p:cNvSpPr/>
          <p:nvPr/>
        </p:nvSpPr>
        <p:spPr>
          <a:xfrm>
            <a:off x="760000" y="3630000"/>
            <a:ext cx="50000" cy="5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b34"/>
          <p:cNvSpPr txBox="1"/>
          <p:nvPr/>
        </p:nvSpPr>
        <p:spPr>
          <a:xfrm>
            <a:off x="880000" y="3715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Q8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What is each transaction worth in USD?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3860000" y="3685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00838F"/>
                </a:solidFill>
                <a:latin typeface="Arial"/>
              </a:rPr>
              <a:t>1.3x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130000" y="3715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price lookup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per transaction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8330000" y="3715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same lookup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, prices have no edges</a:t>
            </a:r>
          </a:p>
        </p:txBody>
      </p:sp>
      <p:sp>
        <p:nvSpPr>
          <p:cNvPr id="38" name="sr38"/>
          <p:cNvSpPr/>
          <p:nvPr/>
        </p:nvSpPr>
        <p:spPr>
          <a:xfrm>
            <a:off x="760000" y="4290000"/>
            <a:ext cx="10672000" cy="59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39" name="sr39"/>
          <p:cNvSpPr/>
          <p:nvPr/>
        </p:nvSpPr>
        <p:spPr>
          <a:xfrm>
            <a:off x="760000" y="4290000"/>
            <a:ext cx="50000" cy="59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b40"/>
          <p:cNvSpPr txBox="1"/>
          <p:nvPr/>
        </p:nvSpPr>
        <p:spPr>
          <a:xfrm>
            <a:off x="880000" y="4375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Q7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How much does each wallet hold?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3860000" y="4375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250" b="1" dirty="0">
                <a:solidFill>
                  <a:srgbClr val="00838F"/>
                </a:solidFill>
                <a:latin typeface="Arial"/>
              </a:rPr>
              <a:t>only Neo4j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5130000" y="4375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clustering never finishes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8330000" y="4375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84 min once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, then 12.3 s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60000" y="5100000"/>
            <a:ext cx="10672000" cy="5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0" dirty="0">
                <a:solidFill>
                  <a:srgbClr val="4A4A4A"/>
                </a:solidFill>
                <a:latin typeface="Arial"/>
              </a:rPr>
              <a:t>Relationship rebuilt over the whole dataset   →   </a:t>
            </a:r>
            <a:r>
              <a:rPr lang="it-IT" sz="1300" b="1" dirty="0">
                <a:solidFill>
                  <a:srgbClr val="1F1F1F"/>
                </a:solidFill>
                <a:latin typeface="Arial"/>
              </a:rPr>
              <a:t>SQL needs a JOIN, the graph already has the edge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Where the relational model wins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8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880000" y="1320000"/>
            <a:ext cx="310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8A8A8A"/>
                </a:solidFill>
                <a:latin typeface="Arial"/>
              </a:rPr>
              <a:t>THE QUESTION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3980000" y="1320000"/>
            <a:ext cx="115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8A8A8A"/>
                </a:solidFill>
                <a:latin typeface="Arial"/>
              </a:rPr>
              <a:t>GAP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5130000" y="1320000"/>
            <a:ext cx="3200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E07B00"/>
                </a:solidFill>
                <a:latin typeface="Arial"/>
              </a:rPr>
              <a:t>SQLITE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8330000" y="1320000"/>
            <a:ext cx="3222000" cy="26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00" b="1" dirty="0">
                <a:solidFill>
                  <a:srgbClr val="00838F"/>
                </a:solidFill>
                <a:latin typeface="Arial"/>
              </a:rPr>
              <a:t>NEO4J</a:t>
            </a:r>
          </a:p>
        </p:txBody>
      </p:sp>
      <p:sp>
        <p:nvSpPr>
          <p:cNvPr id="14" name="sr14"/>
          <p:cNvSpPr/>
          <p:nvPr/>
        </p:nvSpPr>
        <p:spPr>
          <a:xfrm>
            <a:off x="760000" y="1650000"/>
            <a:ext cx="10672000" cy="88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5" name="sr15"/>
          <p:cNvSpPr/>
          <p:nvPr/>
        </p:nvSpPr>
        <p:spPr>
          <a:xfrm>
            <a:off x="760000" y="1650000"/>
            <a:ext cx="50000" cy="88000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880000" y="1880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Q6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blocks are on the main chain?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3860000" y="1850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E07B00"/>
                </a:solidFill>
                <a:latin typeface="Arial"/>
              </a:rPr>
              <a:t>8.4x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5130000" y="1880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reads 977 rows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of one table, no join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8330000" y="1880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visits 977 nodes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one by one</a:t>
            </a:r>
          </a:p>
        </p:txBody>
      </p:sp>
      <p:sp>
        <p:nvSpPr>
          <p:cNvPr id="20" name="sr20"/>
          <p:cNvSpPr/>
          <p:nvPr/>
        </p:nvSpPr>
        <p:spPr>
          <a:xfrm>
            <a:off x="760000" y="2600000"/>
            <a:ext cx="10672000" cy="88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1" name="sr21"/>
          <p:cNvSpPr/>
          <p:nvPr/>
        </p:nvSpPr>
        <p:spPr>
          <a:xfrm>
            <a:off x="760000" y="2600000"/>
            <a:ext cx="50000" cy="88000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880000" y="2830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Q4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Where did one address's money go?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3860000" y="2800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E07B00"/>
                </a:solidFill>
                <a:latin typeface="Arial"/>
              </a:rPr>
              <a:t>1.4x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130000" y="2830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recursive CTE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, follows the spent outputs · 9.7 s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330000" y="2830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the same walk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, output by output · 13.8 s</a:t>
            </a:r>
          </a:p>
        </p:txBody>
      </p:sp>
      <p:sp>
        <p:nvSpPr>
          <p:cNvPr id="26" name="sr26"/>
          <p:cNvSpPr/>
          <p:nvPr/>
        </p:nvSpPr>
        <p:spPr>
          <a:xfrm>
            <a:off x="760000" y="3550000"/>
            <a:ext cx="10672000" cy="880000"/>
          </a:xfrm>
          <a:prstGeom prst="rect">
            <a:avLst/>
          </a:prstGeom>
          <a:solidFill>
            <a:srgbClr val="F3F6F8"/>
          </a:solidFill>
          <a:ln w="9525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7" name="sr27"/>
          <p:cNvSpPr/>
          <p:nvPr/>
        </p:nvSpPr>
        <p:spPr>
          <a:xfrm>
            <a:off x="760000" y="3550000"/>
            <a:ext cx="50000" cy="880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880000" y="3780000"/>
            <a:ext cx="310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7F8C8D"/>
                </a:solidFill>
                <a:latin typeface="Arial"/>
              </a:rPr>
              <a:t>Q5</a:t>
            </a:r>
          </a:p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Which addresses receive the most?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3860000" y="3750000"/>
            <a:ext cx="11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000" b="1" dirty="0">
                <a:solidFill>
                  <a:srgbClr val="7F8C8D"/>
                </a:solidFill>
                <a:latin typeface="Arial"/>
              </a:rPr>
              <a:t>tie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130000" y="3780000"/>
            <a:ext cx="3050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counts every output row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8330000" y="3780000"/>
            <a:ext cx="307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counts every output node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60000" y="4700000"/>
            <a:ext cx="10672000" cy="5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0" dirty="0">
                <a:solidFill>
                  <a:srgbClr val="4A4A4A"/>
                </a:solidFill>
                <a:latin typeface="Arial"/>
              </a:rPr>
              <a:t>Local query  →  8.4x     same walk on both  →  1.4x     </a:t>
            </a:r>
            <a:r>
              <a:rPr lang="it-IT" sz="1300" b="1" dirty="0">
                <a:solidFill>
                  <a:srgbClr val="1F1F1F"/>
                </a:solidFill>
                <a:latin typeface="Arial"/>
              </a:rPr>
              <a:t>SQLite wins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Same question, two languages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9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60000" y="1150000"/>
            <a:ext cx="10672000" cy="3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250" b="1" dirty="0">
                <a:solidFill>
                  <a:srgbClr val="1F1F1F"/>
                </a:solidFill>
                <a:latin typeface="Arial"/>
              </a:rPr>
              <a:t>Q3   How much does each address hold?</a:t>
            </a:r>
            <a:r>
              <a:rPr lang="it-IT" sz="1250" b="0" dirty="0">
                <a:solidFill>
                  <a:srgbClr val="4A4A4A"/>
                </a:solidFill>
                <a:latin typeface="Arial"/>
              </a:rPr>
              <a:t>      Neo4j 3.7x faster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760000" y="1550000"/>
            <a:ext cx="5186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E07B00"/>
                </a:solidFill>
                <a:latin typeface="Arial"/>
              </a:rPr>
              <a:t>SQL   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22 lines  ·  2 subqueries  ·  2 joins</a:t>
            </a:r>
          </a:p>
        </p:txBody>
      </p:sp>
      <p:sp>
        <p:nvSpPr>
          <p:cNvPr id="12" name="sr12"/>
          <p:cNvSpPr/>
          <p:nvPr/>
        </p:nvSpPr>
        <p:spPr>
          <a:xfrm>
            <a:off x="760000" y="1860000"/>
            <a:ext cx="5186000" cy="30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3" name="tb13"/>
          <p:cNvSpPr txBox="1"/>
          <p:nvPr/>
        </p:nvSpPr>
        <p:spPr>
          <a:xfrm>
            <a:off x="880000" y="1930000"/>
            <a:ext cx="4986000" cy="29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WITH received AS (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SELECT address, SUM(value) AS total_received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FROM tx_outputs WHERE address IS NOT NULL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GROUP BY address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),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spent AS (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SELECT o.address, SUM(o.value) AS total_spent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FROM tx_outputs o</a:t>
            </a:r>
          </a:p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  JOIN tx_inputs i</a:t>
            </a:r>
          </a:p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    ON i.prev_txid = o.txid</a:t>
            </a:r>
          </a:p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   AND i.prev_output_index = o.output_index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WHERE o.address IS NOT NULL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GROUP BY o.address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SELECT r.address, r.total_received,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  COALESCE(s.total_spent, 0) AS total_spent,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  r.total_received - COALESCE(s.total_spent, 0) AS balance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FROM received r</a:t>
            </a:r>
          </a:p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LEFT JOIN spent s ON r.address = s.address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WHERE r.total_received - COALESCE(s.total_spent, 0) &gt; 0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ORDER BY balance DESC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LIMIT 100;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6246000" y="1550000"/>
            <a:ext cx="5186000" cy="28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1" dirty="0">
                <a:solidFill>
                  <a:srgbClr val="00838F"/>
                </a:solidFill>
                <a:latin typeface="Arial"/>
              </a:rPr>
              <a:t>CYPHER   </a:t>
            </a:r>
            <a:r>
              <a:rPr lang="it-IT" sz="1000" b="0" dirty="0">
                <a:solidFill>
                  <a:srgbClr val="4A4A4A"/>
                </a:solidFill>
                <a:latin typeface="Arial"/>
              </a:rPr>
              <a:t>13 lines  ·  1 pattern  ·  no joins</a:t>
            </a:r>
          </a:p>
        </p:txBody>
      </p:sp>
      <p:sp>
        <p:nvSpPr>
          <p:cNvPr id="15" name="sr15"/>
          <p:cNvSpPr/>
          <p:nvPr/>
        </p:nvSpPr>
        <p:spPr>
          <a:xfrm>
            <a:off x="6246000" y="1860000"/>
            <a:ext cx="5186000" cy="3050000"/>
          </a:xfrm>
          <a:prstGeom prst="rect">
            <a:avLst/>
          </a:prstGeom>
          <a:solidFill>
            <a:srgbClr val="F3F6F8"/>
          </a:solidFill>
          <a:ln w="9525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16" name="tb16"/>
          <p:cNvSpPr txBox="1"/>
          <p:nvPr/>
        </p:nvSpPr>
        <p:spPr>
          <a:xfrm>
            <a:off x="6366000" y="1930000"/>
            <a:ext cx="4986000" cy="29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MATCH (a:Address)&lt;-[:LOCKED_TO]-(o:Output)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WITH a, o,</a:t>
            </a:r>
          </a:p>
          <a:p>
            <a:pPr algn="l">
              <a:lnSpc>
                <a:spcPct val="100000"/>
              </a:lnSpc>
            </a:pPr>
            <a:r>
              <a:rPr lang="it-IT" sz="820" b="1" dirty="0">
                <a:solidFill>
                  <a:srgbClr val="1F1F1F"/>
                </a:solidFill>
                <a:latin typeface="Consolas"/>
              </a:rPr>
              <a:t>     EXISTS { (o)&lt;-[:SPENDS]-(:Input) } AS is_spent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WITH a,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SUM(o.value) AS total_received,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SUM(CASE WHEN is_spent THEN o.value ELSE 0 END)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  AS total_spent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WITH a, total_received, total_spent,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     total_received - total_spent AS balance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WHERE balance &gt; 0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RETURN a.address, total_received, total_spent, balance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ORDER BY balance DESC</a:t>
            </a:r>
          </a:p>
          <a:p>
            <a:pPr algn="l">
              <a:lnSpc>
                <a:spcPct val="100000"/>
              </a:lnSpc>
            </a:pPr>
            <a:r>
              <a:rPr lang="it-IT" sz="820" b="0" dirty="0">
                <a:solidFill>
                  <a:srgbClr val="8A8A8A"/>
                </a:solidFill>
                <a:latin typeface="Consolas"/>
              </a:rPr>
              <a:t>LIMIT 100;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760000" y="5100000"/>
            <a:ext cx="5186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SQL   </a:t>
            </a:r>
            <a:r>
              <a:rPr lang="it-IT" sz="1150" b="1" dirty="0">
                <a:solidFill>
                  <a:srgbClr val="1F1F1F"/>
                </a:solidFill>
                <a:latin typeface="Arial"/>
              </a:rPr>
              <a:t>JOIN on 2 columns</a:t>
            </a:r>
          </a:p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matches every input to its output, at every query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5696000" y="5170000"/>
            <a:ext cx="800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400" b="1" dirty="0">
                <a:solidFill>
                  <a:srgbClr val="8A8A8A"/>
                </a:solidFill>
                <a:latin typeface="Arial"/>
              </a:rPr>
              <a:t>vs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6246000" y="5100000"/>
            <a:ext cx="5186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15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CYPHER   </a:t>
            </a:r>
            <a:r>
              <a:rPr lang="it-IT" sz="1150" b="1" dirty="0">
                <a:solidFill>
                  <a:srgbClr val="1F1F1F"/>
                </a:solidFill>
                <a:latin typeface="Arial"/>
              </a:rPr>
              <a:t>follows the SPENDS edge</a:t>
            </a:r>
          </a:p>
          <a:p>
            <a:pPr algn="ctr">
              <a:lnSpc>
                <a:spcPct val="115000"/>
              </a:lnSpc>
            </a:pPr>
            <a:r>
              <a:rPr lang="it-IT" sz="1150" b="0" dirty="0">
                <a:solidFill>
                  <a:srgbClr val="4A4A4A"/>
                </a:solidFill>
                <a:latin typeface="Arial"/>
              </a:rPr>
              <a:t>the link is already stored, built once at load time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Scalability · SQLite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10</a:t>
            </a:r>
          </a:p>
        </p:txBody>
      </p:sp>
      <p:pic>
        <p:nvPicPr>
          <p:cNvPr id="10" name="pic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" y="1180000"/>
            <a:ext cx="7550000" cy="4127333"/>
          </a:xfrm>
          <a:prstGeom prst="rect">
            <a:avLst/>
          </a:prstGeom>
        </p:spPr>
      </p:pic>
      <p:sp>
        <p:nvSpPr>
          <p:cNvPr id="20" name="sr20"/>
          <p:cNvSpPr/>
          <p:nvPr/>
        </p:nvSpPr>
        <p:spPr>
          <a:xfrm>
            <a:off x="8510000" y="1300000"/>
            <a:ext cx="45000" cy="580000"/>
          </a:xfrm>
          <a:prstGeom prst="rect">
            <a:avLst/>
          </a:prstGeom>
          <a:solidFill>
            <a:srgbClr val="C9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8640000" y="128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C98A00"/>
                </a:solidFill>
                <a:latin typeface="Arial"/>
              </a:rPr>
              <a:t>Q1 fee · Q3 balance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8640000" y="155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1-2 s → 40-60 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30x the time for 19x the data</a:t>
            </a:r>
          </a:p>
        </p:txBody>
      </p:sp>
      <p:sp>
        <p:nvSpPr>
          <p:cNvPr id="23" name="sr23"/>
          <p:cNvSpPr/>
          <p:nvPr/>
        </p:nvSpPr>
        <p:spPr>
          <a:xfrm>
            <a:off x="8510000" y="2060000"/>
            <a:ext cx="45000" cy="58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8640000" y="204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Q2 · Q5 · Q8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640000" y="231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0.3-0.5 s → 9-15 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grow with the data, stay usable</a:t>
            </a:r>
          </a:p>
        </p:txBody>
      </p:sp>
      <p:sp>
        <p:nvSpPr>
          <p:cNvPr id="26" name="sr26"/>
          <p:cNvSpPr/>
          <p:nvPr/>
        </p:nvSpPr>
        <p:spPr>
          <a:xfrm>
            <a:off x="8510000" y="2820000"/>
            <a:ext cx="45000" cy="580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8640000" y="280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B3261E"/>
                </a:solidFill>
                <a:latin typeface="Arial"/>
              </a:rPr>
              <a:t>Q4 fund tracing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8640000" y="307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0.1 s → 9 s, in jumps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depends on how connected the start is</a:t>
            </a:r>
          </a:p>
        </p:txBody>
      </p:sp>
      <p:sp>
        <p:nvSpPr>
          <p:cNvPr id="29" name="sr29"/>
          <p:cNvSpPr/>
          <p:nvPr/>
        </p:nvSpPr>
        <p:spPr>
          <a:xfrm>
            <a:off x="8510000" y="3580000"/>
            <a:ext cx="45000" cy="580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8640000" y="356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7F8C8D"/>
                </a:solidFill>
                <a:latin typeface="Arial"/>
              </a:rPr>
              <a:t>Q6 main chain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8640000" y="383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0.07 ms → 1.8 ms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reads only the blocks table, ≤ 977 rows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545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Which query degrades, and from what size?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Scalability · Neo4j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11</a:t>
            </a:r>
          </a:p>
        </p:txBody>
      </p:sp>
      <p:pic>
        <p:nvPicPr>
          <p:cNvPr id="10" name="pic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" y="1180000"/>
            <a:ext cx="7550000" cy="4127333"/>
          </a:xfrm>
          <a:prstGeom prst="rect">
            <a:avLst/>
          </a:prstGeom>
        </p:spPr>
      </p:pic>
      <p:sp>
        <p:nvSpPr>
          <p:cNvPr id="20" name="sr20"/>
          <p:cNvSpPr/>
          <p:nvPr/>
        </p:nvSpPr>
        <p:spPr>
          <a:xfrm>
            <a:off x="8510000" y="1300000"/>
            <a:ext cx="45000" cy="770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8640000" y="128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B3261E"/>
                </a:solidFill>
                <a:latin typeface="Arial"/>
              </a:rPr>
              <a:t>Q4 · follows the start address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8640000" y="1550000"/>
            <a:ext cx="2792000" cy="6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0.14 s → 13.8 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start address 2.5k → 56k outputs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the same walk as the SQL query</a:t>
            </a:r>
          </a:p>
        </p:txBody>
      </p:sp>
      <p:sp>
        <p:nvSpPr>
          <p:cNvPr id="23" name="sr23"/>
          <p:cNvSpPr/>
          <p:nvPr/>
        </p:nvSpPr>
        <p:spPr>
          <a:xfrm>
            <a:off x="8510000" y="2250000"/>
            <a:ext cx="45000" cy="580000"/>
          </a:xfrm>
          <a:prstGeom prst="rect">
            <a:avLst/>
          </a:prstGeom>
          <a:solidFill>
            <a:srgbClr val="C9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8640000" y="223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C98A00"/>
                </a:solidFill>
                <a:latin typeface="Arial"/>
              </a:rPr>
              <a:t>Q1 · Q2 · Q3 · Q5 · Q8 grow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640000" y="250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they touch every output or transaction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20-40x the time for 19x the data</a:t>
            </a:r>
          </a:p>
        </p:txBody>
      </p:sp>
      <p:sp>
        <p:nvSpPr>
          <p:cNvPr id="26" name="sr26"/>
          <p:cNvSpPr/>
          <p:nvPr/>
        </p:nvSpPr>
        <p:spPr>
          <a:xfrm>
            <a:off x="8510000" y="3010000"/>
            <a:ext cx="45000" cy="770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8640000" y="299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7F8C8D"/>
                </a:solidFill>
                <a:latin typeface="Arial"/>
              </a:rPr>
              <a:t>Q6 · stays flat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8640000" y="3260000"/>
            <a:ext cx="2792000" cy="63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8 ms → 17 ms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walks only the block nodes, ≤ 977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never touches the millions of outputs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545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Same shape as SQLite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The two engines together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12</a:t>
            </a:r>
          </a:p>
        </p:txBody>
      </p:sp>
      <p:pic>
        <p:nvPicPr>
          <p:cNvPr id="10" name="pic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" y="1180000"/>
            <a:ext cx="7550000" cy="4127333"/>
          </a:xfrm>
          <a:prstGeom prst="rect">
            <a:avLst/>
          </a:prstGeom>
        </p:spPr>
      </p:pic>
      <p:sp>
        <p:nvSpPr>
          <p:cNvPr id="20" name="sr20"/>
          <p:cNvSpPr/>
          <p:nvPr/>
        </p:nvSpPr>
        <p:spPr>
          <a:xfrm>
            <a:off x="8510000" y="1300000"/>
            <a:ext cx="45000" cy="580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8640000" y="128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 side · Q3 · Q1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8640000" y="155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2-3x faster at every size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the JOIN never gets cheaper</a:t>
            </a:r>
          </a:p>
        </p:txBody>
      </p:sp>
      <p:sp>
        <p:nvSpPr>
          <p:cNvPr id="23" name="sr23"/>
          <p:cNvSpPr/>
          <p:nvPr/>
        </p:nvSpPr>
        <p:spPr>
          <a:xfrm>
            <a:off x="8510000" y="2060000"/>
            <a:ext cx="45000" cy="580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b24"/>
          <p:cNvSpPr txBox="1"/>
          <p:nvPr/>
        </p:nvSpPr>
        <p:spPr>
          <a:xfrm>
            <a:off x="8640000" y="204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7F8C8D"/>
                </a:solidFill>
                <a:latin typeface="Arial"/>
              </a:rPr>
              <a:t>about equal · Q2 · Q5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8640000" y="231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within 1.5x either way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both scan every output</a:t>
            </a:r>
          </a:p>
        </p:txBody>
      </p:sp>
      <p:sp>
        <p:nvSpPr>
          <p:cNvPr id="26" name="sr26"/>
          <p:cNvSpPr/>
          <p:nvPr/>
        </p:nvSpPr>
        <p:spPr>
          <a:xfrm>
            <a:off x="8510000" y="2820000"/>
            <a:ext cx="45000" cy="580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b27"/>
          <p:cNvSpPr txBox="1"/>
          <p:nvPr/>
        </p:nvSpPr>
        <p:spPr>
          <a:xfrm>
            <a:off x="8640000" y="280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B3261E"/>
                </a:solidFill>
                <a:latin typeface="Arial"/>
              </a:rPr>
              <a:t>SQLite side · Q4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8640000" y="307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1.2x → 1.5x, equal at 500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same walk, SQLite a bit faster</a:t>
            </a:r>
          </a:p>
        </p:txBody>
      </p:sp>
      <p:sp>
        <p:nvSpPr>
          <p:cNvPr id="29" name="sr29"/>
          <p:cNvSpPr/>
          <p:nvPr/>
        </p:nvSpPr>
        <p:spPr>
          <a:xfrm>
            <a:off x="8510000" y="3580000"/>
            <a:ext cx="45000" cy="580000"/>
          </a:xfrm>
          <a:prstGeom prst="rect">
            <a:avLst/>
          </a:prstGeom>
          <a:solidFill>
            <a:srgbClr val="C9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8640000" y="356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C98A00"/>
                </a:solidFill>
                <a:latin typeface="Arial"/>
              </a:rPr>
              <a:t>SQLite side · Q8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8640000" y="383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3x → 4x for SQLite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Cypher sorts the prices per transaction</a:t>
            </a:r>
          </a:p>
        </p:txBody>
      </p:sp>
      <p:sp>
        <p:nvSpPr>
          <p:cNvPr id="32" name="sr32"/>
          <p:cNvSpPr/>
          <p:nvPr/>
        </p:nvSpPr>
        <p:spPr>
          <a:xfrm>
            <a:off x="8510000" y="4340000"/>
            <a:ext cx="45000" cy="58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b33"/>
          <p:cNvSpPr txBox="1"/>
          <p:nvPr/>
        </p:nvSpPr>
        <p:spPr>
          <a:xfrm>
            <a:off x="8640000" y="4320000"/>
            <a:ext cx="2792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D35400"/>
                </a:solidFill>
                <a:latin typeface="Arial"/>
              </a:rPr>
              <a:t>SQLite side · Q6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8640000" y="4590000"/>
            <a:ext cx="2792000" cy="44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117x → 9x, always SQLite</a:t>
            </a:r>
          </a:p>
          <a:p>
            <a:pPr algn="l">
              <a:lnSpc>
                <a:spcPct val="110000"/>
              </a:lnSpc>
            </a:pPr>
            <a:r>
              <a:rPr lang="it-IT" sz="1000" b="0" dirty="0">
                <a:solidFill>
                  <a:srgbClr val="4A4A4A"/>
                </a:solidFill>
                <a:latin typeface="Arial"/>
              </a:rPr>
              <a:t>Neo4j fixed cost per query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760000" y="545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300" b="1" dirty="0">
                <a:solidFill>
                  <a:srgbClr val="1F1F1F"/>
                </a:solidFill>
                <a:latin typeface="Arial"/>
              </a:rPr>
              <a:t>The query decides the winner, not the size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The cost you don't see in query timings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13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60000" y="1150000"/>
            <a:ext cx="45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50" b="1" dirty="0">
                <a:solidFill>
                  <a:srgbClr val="8A8A8A"/>
                </a:solidFill>
                <a:latin typeface="Arial"/>
              </a:rPr>
              <a:t>LOADING, PAID ONCE</a:t>
            </a:r>
          </a:p>
        </p:txBody>
      </p:sp>
      <p:sp>
        <p:nvSpPr>
          <p:cNvPr id="11" name="rc11"/>
          <p:cNvSpPr/>
          <p:nvPr/>
        </p:nvSpPr>
        <p:spPr>
          <a:xfrm>
            <a:off x="760000" y="1450000"/>
            <a:ext cx="4500000" cy="560000"/>
          </a:xfrm>
          <a:prstGeom prst="roundRect">
            <a:avLst>
              <a:gd name="adj" fmla="val 6000"/>
            </a:avLst>
          </a:prstGeom>
          <a:solidFill>
            <a:srgbClr val="E07B00">
              <a:alpha val="10000"/>
            </a:srgbClr>
          </a:solidFill>
          <a:ln w="12700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12" name="tb12"/>
          <p:cNvSpPr txBox="1"/>
          <p:nvPr/>
        </p:nvSpPr>
        <p:spPr>
          <a:xfrm>
            <a:off x="940000" y="1580000"/>
            <a:ext cx="11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E07B00"/>
                </a:solidFill>
                <a:latin typeface="Arial"/>
              </a:rPr>
              <a:t>SQLite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2010000" y="1580000"/>
            <a:ext cx="32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1F1F1F"/>
                </a:solidFill>
                <a:latin typeface="Arial"/>
              </a:rPr>
              <a:t>9.4 min  ·  6.2 GB</a:t>
            </a:r>
          </a:p>
        </p:txBody>
      </p:sp>
      <p:sp>
        <p:nvSpPr>
          <p:cNvPr id="14" name="rc14"/>
          <p:cNvSpPr/>
          <p:nvPr/>
        </p:nvSpPr>
        <p:spPr>
          <a:xfrm>
            <a:off x="760000" y="2090000"/>
            <a:ext cx="4500000" cy="560000"/>
          </a:xfrm>
          <a:prstGeom prst="roundRect">
            <a:avLst>
              <a:gd name="adj" fmla="val 6000"/>
            </a:avLst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15" name="tb15"/>
          <p:cNvSpPr txBox="1"/>
          <p:nvPr/>
        </p:nvSpPr>
        <p:spPr>
          <a:xfrm>
            <a:off x="940000" y="2220000"/>
            <a:ext cx="11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2010000" y="2220000"/>
            <a:ext cx="32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1F1F1F"/>
                </a:solidFill>
                <a:latin typeface="Arial"/>
              </a:rPr>
              <a:t>40.2 min  ·  16.3 GB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760000" y="2720000"/>
            <a:ext cx="4500000" cy="3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4.3x slower, 2.6x disk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 →  fast traversals later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760000" y="3250000"/>
            <a:ext cx="45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950" b="1" dirty="0">
                <a:solidFill>
                  <a:srgbClr val="8A8A8A"/>
                </a:solidFill>
                <a:latin typeface="Arial"/>
              </a:rPr>
              <a:t>WALLETS FOR Q7, BUILT BEFORE THE QUERY</a:t>
            </a:r>
          </a:p>
        </p:txBody>
      </p:sp>
      <p:sp>
        <p:nvSpPr>
          <p:cNvPr id="21" name="rc21"/>
          <p:cNvSpPr/>
          <p:nvPr/>
        </p:nvSpPr>
        <p:spPr>
          <a:xfrm>
            <a:off x="760000" y="3550000"/>
            <a:ext cx="4500000" cy="560000"/>
          </a:xfrm>
          <a:prstGeom prst="roundRect">
            <a:avLst>
              <a:gd name="adj" fmla="val 6000"/>
            </a:avLst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22" name="tb22"/>
          <p:cNvSpPr txBox="1"/>
          <p:nvPr/>
        </p:nvSpPr>
        <p:spPr>
          <a:xfrm>
            <a:off x="940000" y="3680000"/>
            <a:ext cx="11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00838F"/>
                </a:solidFill>
                <a:latin typeface="Arial"/>
              </a:rPr>
              <a:t>Neo4j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2010000" y="3680000"/>
            <a:ext cx="32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1F1F1F"/>
                </a:solidFill>
                <a:latin typeface="Arial"/>
              </a:rPr>
              <a:t>84 min once  ·  then 12.3 s</a:t>
            </a:r>
          </a:p>
        </p:txBody>
      </p:sp>
      <p:sp>
        <p:nvSpPr>
          <p:cNvPr id="24" name="rc24"/>
          <p:cNvSpPr/>
          <p:nvPr/>
        </p:nvSpPr>
        <p:spPr>
          <a:xfrm>
            <a:off x="760000" y="4190000"/>
            <a:ext cx="4500000" cy="560000"/>
          </a:xfrm>
          <a:prstGeom prst="roundRect">
            <a:avLst>
              <a:gd name="adj" fmla="val 6000"/>
            </a:avLst>
          </a:prstGeom>
          <a:solidFill>
            <a:srgbClr val="B3261E">
              <a:alpha val="10000"/>
            </a:srgbClr>
          </a:solidFill>
          <a:ln w="12700">
            <a:solidFill>
              <a:srgbClr val="B3261E"/>
            </a:solidFill>
          </a:ln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940000" y="4320000"/>
            <a:ext cx="11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1" dirty="0">
                <a:solidFill>
                  <a:srgbClr val="B3261E"/>
                </a:solidFill>
                <a:latin typeface="Arial"/>
              </a:rPr>
              <a:t>SQLite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2010000" y="4320000"/>
            <a:ext cx="3200000" cy="32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50" b="0" dirty="0">
                <a:solidFill>
                  <a:srgbClr val="1F1F1F"/>
                </a:solidFill>
                <a:latin typeface="Arial"/>
              </a:rPr>
              <a:t>never finishes at 977 blocks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60000" y="4820000"/>
            <a:ext cx="4500000" cy="6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100" b="1" dirty="0">
                <a:solidFill>
                  <a:srgbClr val="1F1F1F"/>
                </a:solidFill>
                <a:latin typeface="Arial"/>
              </a:rPr>
              <a:t>each round rereads 276 M rows</a:t>
            </a:r>
            <a:r>
              <a:rPr lang="it-IT" sz="1100" b="0" dirty="0">
                <a:solidFill>
                  <a:srgbClr val="4A4A4A"/>
                </a:solidFill>
                <a:latin typeface="Arial"/>
              </a:rPr>
              <a:t>  from disk</a:t>
            </a:r>
          </a:p>
        </p:txBody>
      </p:sp>
      <p:pic>
        <p:nvPicPr>
          <p:cNvPr id="30" name="pic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000" y="1250000"/>
            <a:ext cx="5950000" cy="3252666"/>
          </a:xfrm>
          <a:prstGeom prst="rect">
            <a:avLst/>
          </a:prstGeom>
        </p:spPr>
      </p:pic>
      <p:sp>
        <p:nvSpPr>
          <p:cNvPr id="31" name="tb31"/>
          <p:cNvSpPr txBox="1"/>
          <p:nvPr/>
        </p:nvSpPr>
        <p:spPr>
          <a:xfrm>
            <a:off x="5482000" y="4602666"/>
            <a:ext cx="5950000" cy="7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50" b="1" dirty="0">
                <a:solidFill>
                  <a:srgbClr val="1F1F1F"/>
                </a:solidFill>
                <a:latin typeface="Arial"/>
              </a:rPr>
              <a:t>load gap ≈ 4x at every size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What I take away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14</a:t>
            </a:r>
          </a:p>
        </p:txBody>
      </p:sp>
      <p:sp>
        <p:nvSpPr>
          <p:cNvPr id="10" name="rc10"/>
          <p:cNvSpPr/>
          <p:nvPr/>
        </p:nvSpPr>
        <p:spPr>
          <a:xfrm>
            <a:off x="760000" y="1250000"/>
            <a:ext cx="5236000" cy="118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1" name="tb11"/>
          <p:cNvSpPr txBox="1"/>
          <p:nvPr/>
        </p:nvSpPr>
        <p:spPr>
          <a:xfrm>
            <a:off x="960000" y="1380000"/>
            <a:ext cx="4836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50" b="1" dirty="0">
                <a:solidFill>
                  <a:srgbClr val="822433"/>
                </a:solidFill>
                <a:latin typeface="Arial"/>
              </a:rPr>
              <a:t>PERFORMANCE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960000" y="1720000"/>
            <a:ext cx="4836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depends on the query</a:t>
            </a:r>
          </a:p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Neo4j up to 3.7x  ·  SQLite up to 8.4x</a:t>
            </a:r>
          </a:p>
        </p:txBody>
      </p:sp>
      <p:sp>
        <p:nvSpPr>
          <p:cNvPr id="13" name="rc13"/>
          <p:cNvSpPr/>
          <p:nvPr/>
        </p:nvSpPr>
        <p:spPr>
          <a:xfrm>
            <a:off x="6196000" y="1250000"/>
            <a:ext cx="5236000" cy="118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4" name="tb14"/>
          <p:cNvSpPr txBox="1"/>
          <p:nvPr/>
        </p:nvSpPr>
        <p:spPr>
          <a:xfrm>
            <a:off x="6396000" y="1380000"/>
            <a:ext cx="4836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50" b="1" dirty="0">
                <a:solidFill>
                  <a:srgbClr val="822433"/>
                </a:solidFill>
                <a:latin typeface="Arial"/>
              </a:rPr>
              <a:t>SCALABILITY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6396000" y="1720000"/>
            <a:ext cx="4836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the ratios stay flat</a:t>
            </a:r>
          </a:p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size does not change the winner</a:t>
            </a:r>
          </a:p>
        </p:txBody>
      </p:sp>
      <p:sp>
        <p:nvSpPr>
          <p:cNvPr id="16" name="rc16"/>
          <p:cNvSpPr/>
          <p:nvPr/>
        </p:nvSpPr>
        <p:spPr>
          <a:xfrm>
            <a:off x="760000" y="2550000"/>
            <a:ext cx="5236000" cy="118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17" name="tb17"/>
          <p:cNvSpPr txBox="1"/>
          <p:nvPr/>
        </p:nvSpPr>
        <p:spPr>
          <a:xfrm>
            <a:off x="960000" y="2680000"/>
            <a:ext cx="4836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50" b="1" dirty="0">
                <a:solidFill>
                  <a:srgbClr val="822433"/>
                </a:solidFill>
                <a:latin typeface="Arial"/>
              </a:rPr>
              <a:t>QUERY LANGUAGE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960000" y="3020000"/>
            <a:ext cx="4836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Cypher = patterns, SQL = JOINs</a:t>
            </a:r>
          </a:p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relationships easier to write in Cypher</a:t>
            </a:r>
          </a:p>
        </p:txBody>
      </p:sp>
      <p:sp>
        <p:nvSpPr>
          <p:cNvPr id="19" name="rc19"/>
          <p:cNvSpPr/>
          <p:nvPr/>
        </p:nvSpPr>
        <p:spPr>
          <a:xfrm>
            <a:off x="6196000" y="2550000"/>
            <a:ext cx="5236000" cy="11800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 w="12700">
            <a:solidFill>
              <a:srgbClr val="D5DCE2"/>
            </a:solidFill>
          </a:ln>
        </p:spPr>
        <p:txBody>
          <a:bodyPr/>
          <a:lstStyle/>
          <a:p/>
        </p:txBody>
      </p:sp>
      <p:sp>
        <p:nvSpPr>
          <p:cNvPr id="20" name="tb20"/>
          <p:cNvSpPr txBox="1"/>
          <p:nvPr/>
        </p:nvSpPr>
        <p:spPr>
          <a:xfrm>
            <a:off x="6396000" y="2680000"/>
            <a:ext cx="4836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50" b="1" dirty="0">
                <a:solidFill>
                  <a:srgbClr val="822433"/>
                </a:solidFill>
                <a:latin typeface="Arial"/>
              </a:rPr>
              <a:t>EASE OF USE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6396000" y="3020000"/>
            <a:ext cx="4836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SQLite = 1 file, 9 min to load</a:t>
            </a:r>
          </a:p>
          <a:p>
            <a:pPr algn="l">
              <a:lnSpc>
                <a:spcPct val="115000"/>
              </a:lnSpc>
            </a:pPr>
            <a:r>
              <a:rPr lang="it-IT" sz="1250" b="0" dirty="0">
                <a:solidFill>
                  <a:srgbClr val="4A4A4A"/>
                </a:solidFill>
                <a:latin typeface="Arial"/>
              </a:rPr>
              <a:t>Neo4j = server, 8 GB heap, 40 min</a:t>
            </a:r>
          </a:p>
        </p:txBody>
      </p:sp>
      <p:sp>
        <p:nvSpPr>
          <p:cNvPr id="30" name="rc30"/>
          <p:cNvSpPr/>
          <p:nvPr/>
        </p:nvSpPr>
        <p:spPr>
          <a:xfrm>
            <a:off x="760000" y="3950000"/>
            <a:ext cx="10672000" cy="800000"/>
          </a:xfrm>
          <a:prstGeom prst="roundRect">
            <a:avLst>
              <a:gd name="adj" fmla="val 6000"/>
            </a:avLst>
          </a:prstGeom>
          <a:solidFill>
            <a:srgbClr val="00838F">
              <a:alpha val="12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1010000" y="4140000"/>
            <a:ext cx="10172000" cy="4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700" b="1" dirty="0">
                <a:solidFill>
                  <a:srgbClr val="00838F"/>
                </a:solidFill>
                <a:latin typeface="Arial"/>
              </a:rPr>
              <a:t>Pay up front</a:t>
            </a:r>
            <a:r>
              <a:rPr lang="it-IT" sz="1700" b="0" dirty="0">
                <a:solidFill>
                  <a:srgbClr val="4A4A4A"/>
                </a:solidFill>
                <a:latin typeface="Arial"/>
              </a:rPr>
              <a:t> (graph)   or   </a:t>
            </a:r>
            <a:r>
              <a:rPr lang="it-IT" sz="1700" b="1" dirty="0">
                <a:solidFill>
                  <a:srgbClr val="E07B00"/>
                </a:solidFill>
                <a:latin typeface="Arial"/>
              </a:rPr>
              <a:t>pay at query time</a:t>
            </a:r>
            <a:r>
              <a:rPr lang="it-IT" sz="1700" b="0" dirty="0">
                <a:solidFill>
                  <a:srgbClr val="4A4A4A"/>
                </a:solidFill>
                <a:latin typeface="Arial"/>
              </a:rPr>
              <a:t> (relational)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60000" y="505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150" b="1" dirty="0">
                <a:solidFill>
                  <a:srgbClr val="8A8A8A"/>
                </a:solidFill>
                <a:latin typeface="Arial"/>
              </a:rPr>
              <a:t>Limits   </a:t>
            </a:r>
            <a:r>
              <a:rPr lang="it-IT" sz="1150" b="0" dirty="0">
                <a:solidFill>
                  <a:srgbClr val="4A4A4A"/>
                </a:solidFill>
                <a:latin typeface="Arial"/>
              </a:rPr>
              <a:t>1 laptop  ·  1 week of data  ·  clustering is a heuristic  ·  embedded vs server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b4"/>
          <p:cNvSpPr txBox="1"/>
          <p:nvPr/>
        </p:nvSpPr>
        <p:spPr>
          <a:xfrm>
            <a:off x="760000" y="420000"/>
            <a:ext cx="10672000" cy="65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2600" b="0" dirty="0">
                <a:solidFill>
                  <a:srgbClr val="822433"/>
                </a:solidFill>
                <a:latin typeface="Arial"/>
              </a:rPr>
              <a:t>Live demo</a:t>
            </a:r>
          </a:p>
        </p:txBody>
      </p:sp>
      <p:sp>
        <p:nvSpPr>
          <p:cNvPr id="6" name="sr6"/>
          <p:cNvSpPr/>
          <p:nvPr/>
        </p:nvSpPr>
        <p:spPr>
          <a:xfrm>
            <a:off x="0" y="6324480"/>
            <a:ext cx="12192000" cy="5335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r7"/>
          <p:cNvSpPr/>
          <p:nvPr/>
        </p:nvSpPr>
        <p:spPr>
          <a:xfrm>
            <a:off x="640000" y="6095880"/>
            <a:ext cx="11552000" cy="76212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b8"/>
          <p:cNvSpPr txBox="1"/>
          <p:nvPr/>
        </p:nvSpPr>
        <p:spPr>
          <a:xfrm>
            <a:off x="760000" y="6150000"/>
            <a:ext cx="4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NodeCoin · SQLite vs Neo4j</a:t>
            </a:r>
          </a:p>
        </p:txBody>
      </p:sp>
      <p:sp>
        <p:nvSpPr>
          <p:cNvPr id="9" name="tb9"/>
          <p:cNvSpPr txBox="1"/>
          <p:nvPr/>
        </p:nvSpPr>
        <p:spPr>
          <a:xfrm>
            <a:off x="4600000" y="6150000"/>
            <a:ext cx="3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Data Management 2025/2026</a:t>
            </a:r>
          </a:p>
        </p:txBody>
      </p:sp>
      <p:sp>
        <p:nvSpPr>
          <p:cNvPr id="5" name="tb5"/>
          <p:cNvSpPr txBox="1"/>
          <p:nvPr/>
        </p:nvSpPr>
        <p:spPr>
          <a:xfrm>
            <a:off x="9432000" y="6150000"/>
            <a:ext cx="2000000" cy="3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it-IT" sz="1000" b="0" dirty="0">
                <a:solidFill>
                  <a:srgbClr val="FFFFFF"/>
                </a:solidFill>
                <a:latin typeface="Arial"/>
              </a:rPr>
              <a:t>Pagina 15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760000" y="1200000"/>
            <a:ext cx="10672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1400" b="1" dirty="0">
                <a:solidFill>
                  <a:srgbClr val="1F1F1F"/>
                </a:solidFill>
                <a:latin typeface="Arial"/>
              </a:rPr>
              <a:t>50 transactions</a:t>
            </a:r>
            <a:r>
              <a:rPr lang="it-IT" sz="1400" b="0" dirty="0">
                <a:solidFill>
                  <a:srgbClr val="4A4A4A"/>
                </a:solidFill>
                <a:latin typeface="Arial"/>
              </a:rPr>
              <a:t>   of the same data   ·   loads in 2 s instead of 40 min</a:t>
            </a:r>
          </a:p>
        </p:txBody>
      </p:sp>
      <p:sp>
        <p:nvSpPr>
          <p:cNvPr id="20" name="rc20"/>
          <p:cNvSpPr/>
          <p:nvPr/>
        </p:nvSpPr>
        <p:spPr>
          <a:xfrm>
            <a:off x="760000" y="1850000"/>
            <a:ext cx="5186000" cy="2600000"/>
          </a:xfrm>
          <a:prstGeom prst="roundRect">
            <a:avLst>
              <a:gd name="adj" fmla="val 6000"/>
            </a:avLst>
          </a:prstGeom>
          <a:solidFill>
            <a:srgbClr val="E07B00">
              <a:alpha val="10000"/>
            </a:srgbClr>
          </a:solidFill>
          <a:ln w="12700">
            <a:solidFill>
              <a:srgbClr val="E07B00"/>
            </a:solidFill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1010000" y="2050000"/>
            <a:ext cx="4686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600" b="1" dirty="0">
                <a:solidFill>
                  <a:srgbClr val="E07B00"/>
                </a:solidFill>
                <a:latin typeface="Arial"/>
              </a:rPr>
              <a:t>SQLite</a:t>
            </a:r>
          </a:p>
        </p:txBody>
      </p:sp>
      <p:sp>
        <p:nvSpPr>
          <p:cNvPr id="24" name="bl24"/>
          <p:cNvSpPr txBox="1"/>
          <p:nvPr/>
        </p:nvSpPr>
        <p:spPr>
          <a:xfrm>
            <a:off x="1010000" y="2600000"/>
            <a:ext cx="4686000" cy="1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the tables, with real rows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Q1 to Q8 with one click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free SQL editor</a:t>
            </a:r>
          </a:p>
        </p:txBody>
      </p:sp>
      <p:sp>
        <p:nvSpPr>
          <p:cNvPr id="30" name="rc30"/>
          <p:cNvSpPr/>
          <p:nvPr/>
        </p:nvSpPr>
        <p:spPr>
          <a:xfrm>
            <a:off x="6246000" y="1850000"/>
            <a:ext cx="5186000" cy="2600000"/>
          </a:xfrm>
          <a:prstGeom prst="roundRect">
            <a:avLst>
              <a:gd name="adj" fmla="val 6000"/>
            </a:avLst>
          </a:prstGeom>
          <a:solidFill>
            <a:srgbClr val="00838F">
              <a:alpha val="10000"/>
            </a:srgbClr>
          </a:solidFill>
          <a:ln w="12700">
            <a:solidFill>
              <a:srgbClr val="00838F"/>
            </a:solidFill>
          </a:ln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6496000" y="2050000"/>
            <a:ext cx="4686000" cy="4000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it-IT" sz="1600" b="1" dirty="0">
                <a:solidFill>
                  <a:srgbClr val="00838F"/>
                </a:solidFill>
                <a:latin typeface="Arial"/>
              </a:rPr>
              <a:t>Neo4j Browser</a:t>
            </a:r>
          </a:p>
        </p:txBody>
      </p:sp>
      <p:sp>
        <p:nvSpPr>
          <p:cNvPr id="34" name="bl34"/>
          <p:cNvSpPr txBox="1"/>
          <p:nvPr/>
        </p:nvSpPr>
        <p:spPr>
          <a:xfrm>
            <a:off x="6496000" y="2600000"/>
            <a:ext cx="4686000" cy="16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the graph, visual and clickable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fund tracing as a traversal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har char="–"/>
            </a:pPr>
            <a:r>
              <a:rPr lang="it-IT" sz="1350" b="0" dirty="0">
                <a:solidFill>
                  <a:srgbClr val="4A4A4A"/>
                </a:solidFill>
                <a:latin typeface="Arial"/>
              </a:rPr>
              <a:t>the clustering on the graph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deCoin">
  <a:themeElements>
    <a:clrScheme name="NodeCoin">
      <a:dk1>
        <a:srgbClr val="FFFFFF"/>
      </a:dk1>
      <a:lt1>
        <a:srgbClr val="1F1F1F"/>
      </a:lt1>
      <a:dk2>
        <a:srgbClr val="F3F6F8"/>
      </a:dk2>
      <a:lt2>
        <a:srgbClr val="4A4A4A"/>
      </a:lt2>
      <a:accent1>
        <a:srgbClr val="00838F"/>
      </a:accent1>
      <a:accent2>
        <a:srgbClr val="E07B00"/>
      </a:accent2>
      <a:accent3>
        <a:srgbClr val="7F8C8D"/>
      </a:accent3>
      <a:accent4>
        <a:srgbClr val="B3261E"/>
      </a:accent4>
      <a:accent5>
        <a:srgbClr val="8A8A8A"/>
      </a:accent5>
      <a:accent6>
        <a:srgbClr val="D5DCE2"/>
      </a:accent6>
      <a:hlink>
        <a:srgbClr val="00838F"/>
      </a:hlink>
      <a:folHlink>
        <a:srgbClr val="8A8A8A"/>
      </a:folHlink>
    </a:clrScheme>
    <a:fontScheme name="NodeCo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odeCo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